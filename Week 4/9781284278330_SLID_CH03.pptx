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6079" r:id="rId1"/>
  </p:sldMasterIdLst>
  <p:notesMasterIdLst>
    <p:notesMasterId r:id="rId73"/>
  </p:notesMasterIdLst>
  <p:handoutMasterIdLst>
    <p:handoutMasterId r:id="rId74"/>
  </p:handoutMasterIdLst>
  <p:sldIdLst>
    <p:sldId id="439" r:id="rId2"/>
    <p:sldId id="335" r:id="rId3"/>
    <p:sldId id="440" r:id="rId4"/>
    <p:sldId id="436" r:id="rId5"/>
    <p:sldId id="360" r:id="rId6"/>
    <p:sldId id="441" r:id="rId7"/>
    <p:sldId id="338" r:id="rId8"/>
    <p:sldId id="426" r:id="rId9"/>
    <p:sldId id="362" r:id="rId10"/>
    <p:sldId id="361" r:id="rId11"/>
    <p:sldId id="363" r:id="rId12"/>
    <p:sldId id="339" r:id="rId13"/>
    <p:sldId id="427" r:id="rId14"/>
    <p:sldId id="369" r:id="rId15"/>
    <p:sldId id="370" r:id="rId16"/>
    <p:sldId id="420" r:id="rId17"/>
    <p:sldId id="367" r:id="rId18"/>
    <p:sldId id="368" r:id="rId19"/>
    <p:sldId id="373" r:id="rId20"/>
    <p:sldId id="442" r:id="rId21"/>
    <p:sldId id="371" r:id="rId22"/>
    <p:sldId id="428" r:id="rId23"/>
    <p:sldId id="372" r:id="rId24"/>
    <p:sldId id="377" r:id="rId25"/>
    <p:sldId id="378" r:id="rId26"/>
    <p:sldId id="345" r:id="rId27"/>
    <p:sldId id="379" r:id="rId28"/>
    <p:sldId id="346" r:id="rId29"/>
    <p:sldId id="385" r:id="rId30"/>
    <p:sldId id="429" r:id="rId31"/>
    <p:sldId id="431" r:id="rId32"/>
    <p:sldId id="430" r:id="rId33"/>
    <p:sldId id="390" r:id="rId34"/>
    <p:sldId id="443" r:id="rId35"/>
    <p:sldId id="434" r:id="rId36"/>
    <p:sldId id="391" r:id="rId37"/>
    <p:sldId id="435" r:id="rId38"/>
    <p:sldId id="444" r:id="rId39"/>
    <p:sldId id="393" r:id="rId40"/>
    <p:sldId id="422" r:id="rId41"/>
    <p:sldId id="418" r:id="rId42"/>
    <p:sldId id="415" r:id="rId43"/>
    <p:sldId id="416" r:id="rId44"/>
    <p:sldId id="445" r:id="rId45"/>
    <p:sldId id="424" r:id="rId46"/>
    <p:sldId id="402" r:id="rId47"/>
    <p:sldId id="446" r:id="rId48"/>
    <p:sldId id="417" r:id="rId49"/>
    <p:sldId id="404" r:id="rId50"/>
    <p:sldId id="394" r:id="rId51"/>
    <p:sldId id="447" r:id="rId52"/>
    <p:sldId id="432" r:id="rId53"/>
    <p:sldId id="448" r:id="rId54"/>
    <p:sldId id="419" r:id="rId55"/>
    <p:sldId id="425" r:id="rId56"/>
    <p:sldId id="400" r:id="rId57"/>
    <p:sldId id="408" r:id="rId58"/>
    <p:sldId id="409" r:id="rId59"/>
    <p:sldId id="347" r:id="rId60"/>
    <p:sldId id="410" r:id="rId61"/>
    <p:sldId id="433" r:id="rId62"/>
    <p:sldId id="449" r:id="rId63"/>
    <p:sldId id="411" r:id="rId64"/>
    <p:sldId id="348" r:id="rId65"/>
    <p:sldId id="421" r:id="rId66"/>
    <p:sldId id="412" r:id="rId67"/>
    <p:sldId id="350" r:id="rId68"/>
    <p:sldId id="413" r:id="rId69"/>
    <p:sldId id="450" r:id="rId70"/>
    <p:sldId id="437" r:id="rId71"/>
    <p:sldId id="438" r:id="rId72"/>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4"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29"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F0"/>
    <a:srgbClr val="9F9FDF"/>
    <a:srgbClr val="DF9FB6"/>
    <a:srgbClr val="4040BE"/>
    <a:srgbClr val="BE406D"/>
    <a:srgbClr val="BE4040"/>
    <a:srgbClr val="DF9F9F"/>
    <a:srgbClr val="FE00FF"/>
    <a:srgbClr val="AA7FBF"/>
    <a:srgbClr val="0055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508" autoAdjust="0"/>
    <p:restoredTop sz="96591" autoAdjust="0"/>
  </p:normalViewPr>
  <p:slideViewPr>
    <p:cSldViewPr>
      <p:cViewPr varScale="1">
        <p:scale>
          <a:sx n="113" d="100"/>
          <a:sy n="113" d="100"/>
        </p:scale>
        <p:origin x="184" y="488"/>
      </p:cViewPr>
      <p:guideLst>
        <p:guide orient="horz" pos="2304"/>
        <p:guide pos="3840"/>
      </p:guideLst>
    </p:cSldViewPr>
  </p:slideViewPr>
  <p:outlineViewPr>
    <p:cViewPr>
      <p:scale>
        <a:sx n="33" d="100"/>
        <a:sy n="33" d="100"/>
      </p:scale>
      <p:origin x="0" y="44582"/>
    </p:cViewPr>
  </p:outlineViewPr>
  <p:notesTextViewPr>
    <p:cViewPr>
      <p:scale>
        <a:sx n="100" d="100"/>
        <a:sy n="100" d="100"/>
      </p:scale>
      <p:origin x="0" y="0"/>
    </p:cViewPr>
  </p:notesTextViewPr>
  <p:sorterViewPr>
    <p:cViewPr>
      <p:scale>
        <a:sx n="66" d="100"/>
        <a:sy n="66" d="100"/>
      </p:scale>
      <p:origin x="0" y="0"/>
    </p:cViewPr>
  </p:sorterViewPr>
  <p:notesViewPr>
    <p:cSldViewPr>
      <p:cViewPr>
        <p:scale>
          <a:sx n="40" d="100"/>
          <a:sy n="40" d="100"/>
        </p:scale>
        <p:origin x="3480" y="1068"/>
      </p:cViewPr>
      <p:guideLst>
        <p:guide orient="horz" pos="2929"/>
        <p:guide pos="220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303784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cs typeface="+mn-cs"/>
              </a:defRPr>
            </a:lvl1pPr>
          </a:lstStyle>
          <a:p>
            <a:pPr>
              <a:defRPr/>
            </a:pPr>
            <a:endParaRPr lang="en-US"/>
          </a:p>
        </p:txBody>
      </p:sp>
      <p:sp>
        <p:nvSpPr>
          <p:cNvPr id="10243" name="Rectangle 3"/>
          <p:cNvSpPr>
            <a:spLocks noGrp="1" noChangeArrowheads="1"/>
          </p:cNvSpPr>
          <p:nvPr>
            <p:ph type="dt" sz="quarter" idx="1"/>
          </p:nvPr>
        </p:nvSpPr>
        <p:spPr bwMode="auto">
          <a:xfrm>
            <a:off x="3972560" y="0"/>
            <a:ext cx="303784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cs typeface="+mn-cs"/>
              </a:defRPr>
            </a:lvl1pPr>
          </a:lstStyle>
          <a:p>
            <a:pPr>
              <a:defRPr/>
            </a:pPr>
            <a:endParaRPr lang="en-US"/>
          </a:p>
        </p:txBody>
      </p:sp>
      <p:sp>
        <p:nvSpPr>
          <p:cNvPr id="10244" name="Rectangle 4"/>
          <p:cNvSpPr>
            <a:spLocks noGrp="1" noChangeArrowheads="1"/>
          </p:cNvSpPr>
          <p:nvPr>
            <p:ph type="ftr" sz="quarter" idx="2"/>
          </p:nvPr>
        </p:nvSpPr>
        <p:spPr bwMode="auto">
          <a:xfrm>
            <a:off x="0" y="8831266"/>
            <a:ext cx="303784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cs typeface="+mn-cs"/>
              </a:defRPr>
            </a:lvl1pPr>
          </a:lstStyle>
          <a:p>
            <a:pPr>
              <a:defRPr/>
            </a:pPr>
            <a:endParaRPr lang="en-US"/>
          </a:p>
        </p:txBody>
      </p:sp>
      <p:sp>
        <p:nvSpPr>
          <p:cNvPr id="10245" name="Rectangle 5"/>
          <p:cNvSpPr>
            <a:spLocks noGrp="1" noChangeArrowheads="1"/>
          </p:cNvSpPr>
          <p:nvPr>
            <p:ph type="sldNum" sz="quarter" idx="3"/>
          </p:nvPr>
        </p:nvSpPr>
        <p:spPr bwMode="auto">
          <a:xfrm>
            <a:off x="3972560" y="8831266"/>
            <a:ext cx="303784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C6324662-3415-41E5-B7D8-928D715975F5}" type="slidenum">
              <a:rPr lang="en-US" altLang="en-US"/>
              <a:pPr>
                <a:defRPr/>
              </a:pPr>
              <a:t>‹#›</a:t>
            </a:fld>
            <a:endParaRPr lang="en-US" altLang="en-US"/>
          </a:p>
        </p:txBody>
      </p:sp>
    </p:spTree>
    <p:extLst>
      <p:ext uri="{BB962C8B-B14F-4D97-AF65-F5344CB8AC3E}">
        <p14:creationId xmlns:p14="http://schemas.microsoft.com/office/powerpoint/2010/main" val="37410461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03784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cs typeface="+mn-cs"/>
              </a:defRPr>
            </a:lvl1pPr>
          </a:lstStyle>
          <a:p>
            <a:pPr>
              <a:defRPr/>
            </a:pPr>
            <a:endParaRPr lang="en-US"/>
          </a:p>
        </p:txBody>
      </p:sp>
      <p:sp>
        <p:nvSpPr>
          <p:cNvPr id="5123" name="Rectangle 3"/>
          <p:cNvSpPr>
            <a:spLocks noGrp="1" noChangeArrowheads="1"/>
          </p:cNvSpPr>
          <p:nvPr>
            <p:ph type="dt" idx="1"/>
          </p:nvPr>
        </p:nvSpPr>
        <p:spPr bwMode="auto">
          <a:xfrm>
            <a:off x="3972560" y="0"/>
            <a:ext cx="303784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406400" y="696913"/>
            <a:ext cx="61976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934720" y="4416428"/>
            <a:ext cx="5140960" cy="41830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831266"/>
            <a:ext cx="303784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cs typeface="+mn-cs"/>
              </a:defRPr>
            </a:lvl1pPr>
          </a:lstStyle>
          <a:p>
            <a:pPr>
              <a:defRPr/>
            </a:pPr>
            <a:endParaRPr lang="en-US"/>
          </a:p>
        </p:txBody>
      </p:sp>
      <p:sp>
        <p:nvSpPr>
          <p:cNvPr id="5127" name="Rectangle 7"/>
          <p:cNvSpPr>
            <a:spLocks noGrp="1" noChangeArrowheads="1"/>
          </p:cNvSpPr>
          <p:nvPr>
            <p:ph type="sldNum" sz="quarter" idx="5"/>
          </p:nvPr>
        </p:nvSpPr>
        <p:spPr bwMode="auto">
          <a:xfrm>
            <a:off x="3972560" y="8831266"/>
            <a:ext cx="303784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B58C3124-3325-4DBE-A7D8-E91B9C4D7986}" type="slidenum">
              <a:rPr lang="en-US" altLang="en-US"/>
              <a:pPr>
                <a:defRPr/>
              </a:pPr>
              <a:t>‹#›</a:t>
            </a:fld>
            <a:endParaRPr lang="en-US" altLang="en-US"/>
          </a:p>
        </p:txBody>
      </p:sp>
    </p:spTree>
    <p:extLst>
      <p:ext uri="{BB962C8B-B14F-4D97-AF65-F5344CB8AC3E}">
        <p14:creationId xmlns:p14="http://schemas.microsoft.com/office/powerpoint/2010/main" val="20676936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E113702-632C-4371-916D-4DCE1ADB1D20}" type="slidenum">
              <a:rPr lang="en-US" altLang="en-US" smtClean="0">
                <a:latin typeface="Tahoma" panose="020B0604030504040204" pitchFamily="34" charset="0"/>
              </a:rPr>
              <a:pPr>
                <a:spcBef>
                  <a:spcPct val="0"/>
                </a:spcBef>
              </a:pPr>
              <a:t>2</a:t>
            </a:fld>
            <a:endParaRPr lang="en-US" altLang="en-US">
              <a:latin typeface="Tahoma" panose="020B0604030504040204" pitchFamily="34" charset="0"/>
            </a:endParaRPr>
          </a:p>
        </p:txBody>
      </p:sp>
      <p:sp>
        <p:nvSpPr>
          <p:cNvPr id="6147" name="Rectangle 2"/>
          <p:cNvSpPr>
            <a:spLocks noGrp="1" noRot="1" noChangeAspect="1" noChangeArrowheads="1" noTextEdit="1"/>
          </p:cNvSpPr>
          <p:nvPr>
            <p:ph type="sldImg"/>
          </p:nvPr>
        </p:nvSpPr>
        <p:spPr>
          <a:xfrm>
            <a:off x="523875" y="696913"/>
            <a:ext cx="6196013" cy="3486150"/>
          </a:xfrm>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In this chapter I demo these files:</a:t>
            </a:r>
          </a:p>
          <a:p>
            <a:pPr marL="228600" indent="-228600" eaLnBrk="1" hangingPunct="1"/>
            <a:r>
              <a:rPr lang="en-US" altLang="en-US" sz="1000" dirty="0"/>
              <a:t>treePoem.html</a:t>
            </a:r>
          </a:p>
          <a:p>
            <a:pPr marL="228600" indent="-228600" eaLnBrk="1" hangingPunct="1"/>
            <a:r>
              <a:rPr lang="en-US" altLang="en-US" sz="1000" dirty="0"/>
              <a:t>obamaQuotes.html</a:t>
            </a:r>
          </a:p>
          <a:p>
            <a:pPr marL="228600" indent="-228600" eaLnBrk="1" hangingPunct="1"/>
            <a:r>
              <a:rPr lang="en-US" altLang="en-US" sz="1000" dirty="0"/>
              <a:t>pumpkinPatch.html</a:t>
            </a:r>
          </a:p>
        </p:txBody>
      </p:sp>
    </p:spTree>
    <p:extLst>
      <p:ext uri="{BB962C8B-B14F-4D97-AF65-F5344CB8AC3E}">
        <p14:creationId xmlns:p14="http://schemas.microsoft.com/office/powerpoint/2010/main" val="988138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E113702-632C-4371-916D-4DCE1ADB1D20}" type="slidenum">
              <a:rPr lang="en-US" altLang="en-US" smtClean="0">
                <a:latin typeface="Tahoma" panose="020B0604030504040204" pitchFamily="34" charset="0"/>
              </a:rPr>
              <a:pPr>
                <a:spcBef>
                  <a:spcPct val="0"/>
                </a:spcBef>
              </a:pPr>
              <a:t>3</a:t>
            </a:fld>
            <a:endParaRPr lang="en-US" altLang="en-US">
              <a:latin typeface="Tahoma" panose="020B0604030504040204" pitchFamily="34" charset="0"/>
            </a:endParaRPr>
          </a:p>
        </p:txBody>
      </p:sp>
      <p:sp>
        <p:nvSpPr>
          <p:cNvPr id="6147" name="Rectangle 2"/>
          <p:cNvSpPr>
            <a:spLocks noGrp="1" noRot="1" noChangeAspect="1" noChangeArrowheads="1" noTextEdit="1"/>
          </p:cNvSpPr>
          <p:nvPr>
            <p:ph type="sldImg"/>
          </p:nvPr>
        </p:nvSpPr>
        <p:spPr>
          <a:xfrm>
            <a:off x="523875" y="696913"/>
            <a:ext cx="6196013" cy="3486150"/>
          </a:xfrm>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In this chapter I demo these files:</a:t>
            </a:r>
          </a:p>
          <a:p>
            <a:pPr marL="228600" indent="-228600" eaLnBrk="1" hangingPunct="1"/>
            <a:r>
              <a:rPr lang="en-US" altLang="en-US" sz="1000" dirty="0"/>
              <a:t>treePoem.html</a:t>
            </a:r>
          </a:p>
          <a:p>
            <a:pPr marL="228600" indent="-228600" eaLnBrk="1" hangingPunct="1"/>
            <a:r>
              <a:rPr lang="en-US" altLang="en-US" sz="1000" dirty="0"/>
              <a:t>obamaQuotes.html</a:t>
            </a:r>
          </a:p>
          <a:p>
            <a:pPr marL="228600" indent="-228600" eaLnBrk="1" hangingPunct="1"/>
            <a:r>
              <a:rPr lang="en-US" altLang="en-US" sz="1000" dirty="0"/>
              <a:t>pumpkinPatch.html</a:t>
            </a:r>
          </a:p>
        </p:txBody>
      </p:sp>
    </p:spTree>
    <p:extLst>
      <p:ext uri="{BB962C8B-B14F-4D97-AF65-F5344CB8AC3E}">
        <p14:creationId xmlns:p14="http://schemas.microsoft.com/office/powerpoint/2010/main" val="1599673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E113702-632C-4371-916D-4DCE1ADB1D20}" type="slidenum">
              <a:rPr lang="en-US" altLang="en-US" smtClean="0">
                <a:latin typeface="Tahoma" panose="020B0604030504040204" pitchFamily="34" charset="0"/>
              </a:rPr>
              <a:pPr>
                <a:spcBef>
                  <a:spcPct val="0"/>
                </a:spcBef>
              </a:pPr>
              <a:t>4</a:t>
            </a:fld>
            <a:endParaRPr lang="en-US" altLang="en-US">
              <a:latin typeface="Tahoma" panose="020B0604030504040204" pitchFamily="34" charset="0"/>
            </a:endParaRPr>
          </a:p>
        </p:txBody>
      </p:sp>
      <p:sp>
        <p:nvSpPr>
          <p:cNvPr id="6147" name="Rectangle 2"/>
          <p:cNvSpPr>
            <a:spLocks noGrp="1" noRot="1" noChangeAspect="1" noChangeArrowheads="1" noTextEdit="1"/>
          </p:cNvSpPr>
          <p:nvPr>
            <p:ph type="sldImg"/>
          </p:nvPr>
        </p:nvSpPr>
        <p:spPr>
          <a:xfrm>
            <a:off x="523875" y="696913"/>
            <a:ext cx="6196013" cy="3486150"/>
          </a:xfrm>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 </a:t>
            </a:r>
          </a:p>
        </p:txBody>
      </p:sp>
    </p:spTree>
    <p:extLst>
      <p:ext uri="{BB962C8B-B14F-4D97-AF65-F5344CB8AC3E}">
        <p14:creationId xmlns:p14="http://schemas.microsoft.com/office/powerpoint/2010/main" val="877710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95935E3-BCC5-41ED-8AF0-8BFFC7BD5D15}" type="slidenum">
              <a:rPr lang="en-US" altLang="en-US" smtClean="0">
                <a:latin typeface="Tahoma" panose="020B0604030504040204" pitchFamily="34" charset="0"/>
              </a:rPr>
              <a:pPr>
                <a:spcBef>
                  <a:spcPct val="0"/>
                </a:spcBef>
              </a:pPr>
              <a:t>5</a:t>
            </a:fld>
            <a:endParaRPr lang="en-US" altLang="en-US">
              <a:latin typeface="Tahoma" panose="020B0604030504040204" pitchFamily="34" charset="0"/>
            </a:endParaRPr>
          </a:p>
        </p:txBody>
      </p:sp>
      <p:sp>
        <p:nvSpPr>
          <p:cNvPr id="8195" name="Rectangle 2"/>
          <p:cNvSpPr>
            <a:spLocks noGrp="1" noRot="1" noChangeAspect="1" noChangeArrowheads="1" noTextEdit="1"/>
          </p:cNvSpPr>
          <p:nvPr>
            <p:ph type="sldImg"/>
          </p:nvPr>
        </p:nvSpPr>
        <p:spPr>
          <a:xfrm>
            <a:off x="406400" y="696913"/>
            <a:ext cx="6197600" cy="3486150"/>
          </a:xfrm>
          <a:ln/>
        </p:spPr>
      </p:sp>
      <p:sp>
        <p:nvSpPr>
          <p:cNvPr id="8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There are lots and lots of CSS properties that enable you to determine a web page’s appearance.</a:t>
            </a:r>
          </a:p>
          <a:p>
            <a:pPr marL="228600" indent="-228600" eaLnBrk="1" hangingPunct="1"/>
            <a:r>
              <a:rPr lang="en-US" altLang="en-US" sz="1000" dirty="0"/>
              <a:t>The</a:t>
            </a:r>
            <a:r>
              <a:rPr lang="en-US" altLang="en-US" sz="1000" baseline="0" dirty="0"/>
              <a:t> slides and book </a:t>
            </a:r>
            <a:r>
              <a:rPr lang="en-US" altLang="en-US" sz="1000" dirty="0"/>
              <a:t>cover about half of the them, but it’s up to you to look up others on the Internet as needs arise when you’re creating your own web pages.</a:t>
            </a:r>
          </a:p>
          <a:p>
            <a:pPr marL="228600" indent="-228600" eaLnBrk="1" hangingPunct="1"/>
            <a:endParaRPr lang="en-US" altLang="en-US" sz="1000" dirty="0"/>
          </a:p>
          <a:p>
            <a:pPr marL="228600" indent="-228600" eaLnBrk="1" hangingPunct="1"/>
            <a:r>
              <a:rPr lang="en-US" altLang="en-US" sz="1000" dirty="0"/>
              <a:t>2. Animate.</a:t>
            </a:r>
          </a:p>
          <a:p>
            <a:pPr marL="228600" indent="-228600" eaLnBrk="1" hangingPunct="1"/>
            <a:r>
              <a:rPr lang="en-US" altLang="en-US" sz="1000" dirty="0"/>
              <a:t>What concept is that similar to in regular programming languages?</a:t>
            </a:r>
          </a:p>
          <a:p>
            <a:pPr marL="228600" indent="-228600" eaLnBrk="1" hangingPunct="1"/>
            <a:r>
              <a:rPr lang="en-US" altLang="en-US" sz="1000" dirty="0"/>
              <a:t>Putting named constants at the top of the program!</a:t>
            </a:r>
          </a:p>
          <a:p>
            <a:pPr marL="228600" indent="-228600" eaLnBrk="1" hangingPunct="1"/>
            <a:endParaRPr lang="en-US" altLang="en-US" sz="1000" dirty="0"/>
          </a:p>
          <a:p>
            <a:pPr marL="228600" indent="-228600" eaLnBrk="1" hangingPunct="1"/>
            <a:r>
              <a:rPr lang="en-US" altLang="en-US" sz="1000" dirty="0"/>
              <a:t>[3. For example, flexbox and grid layout, which we describe in later chapters, were not part of CSS2 or the original CSS3 specification.</a:t>
            </a:r>
          </a:p>
          <a:p>
            <a:pPr marL="228600" indent="-228600" eaLnBrk="1" hangingPunct="1"/>
            <a:r>
              <a:rPr lang="en-US" altLang="en-US" sz="1000" dirty="0"/>
              <a:t>They’ve since been added, and they are their own separate modules in CSS3.]</a:t>
            </a:r>
          </a:p>
        </p:txBody>
      </p:sp>
    </p:spTree>
    <p:extLst>
      <p:ext uri="{BB962C8B-B14F-4D97-AF65-F5344CB8AC3E}">
        <p14:creationId xmlns:p14="http://schemas.microsoft.com/office/powerpoint/2010/main" val="18926518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95935E3-BCC5-41ED-8AF0-8BFFC7BD5D15}" type="slidenum">
              <a:rPr lang="en-US" altLang="en-US" smtClean="0">
                <a:latin typeface="Tahoma" panose="020B0604030504040204" pitchFamily="34" charset="0"/>
              </a:rPr>
              <a:pPr>
                <a:spcBef>
                  <a:spcPct val="0"/>
                </a:spcBef>
              </a:pPr>
              <a:t>6</a:t>
            </a:fld>
            <a:endParaRPr lang="en-US" altLang="en-US">
              <a:latin typeface="Tahoma" panose="020B0604030504040204" pitchFamily="34" charset="0"/>
            </a:endParaRPr>
          </a:p>
        </p:txBody>
      </p:sp>
      <p:sp>
        <p:nvSpPr>
          <p:cNvPr id="8195" name="Rectangle 2"/>
          <p:cNvSpPr>
            <a:spLocks noGrp="1" noRot="1" noChangeAspect="1" noChangeArrowheads="1" noTextEdit="1"/>
          </p:cNvSpPr>
          <p:nvPr>
            <p:ph type="sldImg"/>
          </p:nvPr>
        </p:nvSpPr>
        <p:spPr>
          <a:xfrm>
            <a:off x="406400" y="696913"/>
            <a:ext cx="6197600" cy="3486150"/>
          </a:xfrm>
          <a:ln/>
        </p:spPr>
      </p:sp>
      <p:sp>
        <p:nvSpPr>
          <p:cNvPr id="8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There are lots and lots of CSS properties that enable you to determine a web page’s appearance.</a:t>
            </a:r>
          </a:p>
          <a:p>
            <a:pPr marL="228600" indent="-228600" eaLnBrk="1" hangingPunct="1"/>
            <a:r>
              <a:rPr lang="en-US" altLang="en-US" sz="1000" dirty="0"/>
              <a:t>The</a:t>
            </a:r>
            <a:r>
              <a:rPr lang="en-US" altLang="en-US" sz="1000" baseline="0" dirty="0"/>
              <a:t> slides and book </a:t>
            </a:r>
            <a:r>
              <a:rPr lang="en-US" altLang="en-US" sz="1000" dirty="0"/>
              <a:t>cover about half of the them, but it’s up to you to look up others on the Internet as needs arise when you’re creating your own web pages.</a:t>
            </a:r>
          </a:p>
          <a:p>
            <a:pPr marL="228600" indent="-228600" eaLnBrk="1" hangingPunct="1"/>
            <a:endParaRPr lang="en-US" altLang="en-US" sz="1000" dirty="0"/>
          </a:p>
          <a:p>
            <a:pPr marL="228600" indent="-228600" eaLnBrk="1" hangingPunct="1"/>
            <a:r>
              <a:rPr lang="en-US" altLang="en-US" sz="1000" dirty="0"/>
              <a:t>2. Animate.</a:t>
            </a:r>
          </a:p>
          <a:p>
            <a:pPr marL="228600" indent="-228600" eaLnBrk="1" hangingPunct="1"/>
            <a:r>
              <a:rPr lang="en-US" altLang="en-US" sz="1000" dirty="0"/>
              <a:t>What concept is that similar to in regular programming languages?</a:t>
            </a:r>
          </a:p>
          <a:p>
            <a:pPr marL="228600" indent="-228600" eaLnBrk="1" hangingPunct="1"/>
            <a:r>
              <a:rPr lang="en-US" altLang="en-US" sz="1000" dirty="0"/>
              <a:t>Putting named constants at the top of the program!</a:t>
            </a:r>
          </a:p>
          <a:p>
            <a:pPr marL="228600" indent="-228600" eaLnBrk="1" hangingPunct="1"/>
            <a:endParaRPr lang="en-US" altLang="en-US" sz="1000" dirty="0"/>
          </a:p>
          <a:p>
            <a:pPr marL="228600" indent="-228600" eaLnBrk="1" hangingPunct="1"/>
            <a:r>
              <a:rPr lang="en-US" altLang="en-US" sz="1000" dirty="0"/>
              <a:t>[3. For example, flexbox and grid layout, which we describe in later chapters, were not part of CSS2 or the original CSS3 specification.</a:t>
            </a:r>
          </a:p>
          <a:p>
            <a:pPr marL="228600" indent="-228600" eaLnBrk="1" hangingPunct="1"/>
            <a:r>
              <a:rPr lang="en-US" altLang="en-US" sz="1000" dirty="0"/>
              <a:t>They’ve since been added, and they are their own separate modules in CSS3.]</a:t>
            </a:r>
          </a:p>
        </p:txBody>
      </p:sp>
    </p:spTree>
    <p:extLst>
      <p:ext uri="{BB962C8B-B14F-4D97-AF65-F5344CB8AC3E}">
        <p14:creationId xmlns:p14="http://schemas.microsoft.com/office/powerpoint/2010/main" val="42198678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075E1A1-00FB-4592-A999-10D5DB588B8E}" type="slidenum">
              <a:rPr lang="en-US" altLang="en-US" smtClean="0">
                <a:latin typeface="Tahoma" panose="020B0604030504040204" pitchFamily="34" charset="0"/>
              </a:rPr>
              <a:pPr>
                <a:spcBef>
                  <a:spcPct val="0"/>
                </a:spcBef>
              </a:pPr>
              <a:t>7</a:t>
            </a:fld>
            <a:endParaRPr lang="en-US" altLang="en-US">
              <a:latin typeface="Tahoma" panose="020B0604030504040204" pitchFamily="34" charset="0"/>
            </a:endParaRPr>
          </a:p>
        </p:txBody>
      </p:sp>
      <p:sp>
        <p:nvSpPr>
          <p:cNvPr id="10243" name="Rectangle 2"/>
          <p:cNvSpPr>
            <a:spLocks noGrp="1" noRot="1" noChangeAspect="1" noChangeArrowheads="1" noTextEdit="1"/>
          </p:cNvSpPr>
          <p:nvPr>
            <p:ph type="sldImg"/>
          </p:nvPr>
        </p:nvSpPr>
        <p:spPr>
          <a:xfrm>
            <a:off x="406400" y="696913"/>
            <a:ext cx="6197600" cy="3486150"/>
          </a:xfrm>
          <a:ln/>
        </p:spPr>
      </p:sp>
      <p:sp>
        <p:nvSpPr>
          <p:cNvPr id="102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A “width of 50%” means that for each </a:t>
            </a:r>
            <a:r>
              <a:rPr lang="en-US" altLang="en-US" sz="1000" dirty="0" err="1"/>
              <a:t>hr</a:t>
            </a:r>
            <a:r>
              <a:rPr lang="en-US" altLang="en-US" sz="1000" dirty="0"/>
              <a:t> element, its horizontal line will span 50% of the width of its enclosing container.</a:t>
            </a:r>
          </a:p>
          <a:p>
            <a:pPr marL="228600" indent="-228600" eaLnBrk="1" hangingPunct="1"/>
            <a:r>
              <a:rPr lang="en-US" altLang="en-US" sz="1000" dirty="0"/>
              <a:t>Usually, the enclosing container will be the web page’s body container.</a:t>
            </a:r>
          </a:p>
          <a:p>
            <a:pPr marL="228600" indent="-228600" eaLnBrk="1" hangingPunct="1"/>
            <a:endParaRPr lang="en-US" altLang="en-US" sz="1000" dirty="0"/>
          </a:p>
          <a:p>
            <a:pPr marL="228600" indent="-228600" eaLnBrk="1" hangingPunct="1"/>
            <a:r>
              <a:rPr lang="en-US" altLang="en-US" sz="1000" dirty="0"/>
              <a:t>[2. We'll talk about other types of selectors later in this chapter, but we'll skip attribute selectors.]</a:t>
            </a:r>
          </a:p>
        </p:txBody>
      </p:sp>
    </p:spTree>
    <p:extLst>
      <p:ext uri="{BB962C8B-B14F-4D97-AF65-F5344CB8AC3E}">
        <p14:creationId xmlns:p14="http://schemas.microsoft.com/office/powerpoint/2010/main" val="29899406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E588B82-EEA6-434B-AA95-914135CABB34}" type="slidenum">
              <a:rPr lang="en-US" altLang="en-US" smtClean="0">
                <a:latin typeface="Tahoma" panose="020B0604030504040204" pitchFamily="34" charset="0"/>
              </a:rPr>
              <a:pPr>
                <a:spcBef>
                  <a:spcPct val="0"/>
                </a:spcBef>
              </a:pPr>
              <a:t>8</a:t>
            </a:fld>
            <a:endParaRPr lang="en-US" altLang="en-US">
              <a:latin typeface="Tahoma" panose="020B0604030504040204" pitchFamily="34" charset="0"/>
            </a:endParaRPr>
          </a:p>
        </p:txBody>
      </p:sp>
      <p:sp>
        <p:nvSpPr>
          <p:cNvPr id="12291" name="Rectangle 2"/>
          <p:cNvSpPr>
            <a:spLocks noGrp="1" noRot="1" noChangeAspect="1" noChangeArrowheads="1" noTextEdit="1"/>
          </p:cNvSpPr>
          <p:nvPr>
            <p:ph type="sldImg"/>
          </p:nvPr>
        </p:nvSpPr>
        <p:spPr>
          <a:xfrm>
            <a:off x="406400" y="696913"/>
            <a:ext cx="6197600" cy="3486150"/>
          </a:xfrm>
          <a:ln/>
        </p:spPr>
      </p:sp>
      <p:sp>
        <p:nvSpPr>
          <p:cNvPr id="12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The rule matches every element, but it impacts only the elements that contain text.</a:t>
            </a:r>
          </a:p>
          <a:p>
            <a:pPr marL="228600" indent="-228600" eaLnBrk="1" hangingPunct="1"/>
            <a:endParaRPr lang="en-US" altLang="en-US" sz="1000" dirty="0"/>
          </a:p>
          <a:p>
            <a:pPr marL="228600" indent="-228600" eaLnBrk="1" hangingPunct="1"/>
            <a:r>
              <a:rPr lang="en-US" altLang="en-US" sz="1000" dirty="0"/>
              <a:t>2. Let's look at a complete web page where we put this CSS stuff into practice.</a:t>
            </a:r>
          </a:p>
        </p:txBody>
      </p:sp>
    </p:spTree>
    <p:extLst>
      <p:ext uri="{BB962C8B-B14F-4D97-AF65-F5344CB8AC3E}">
        <p14:creationId xmlns:p14="http://schemas.microsoft.com/office/powerpoint/2010/main" val="28958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85324AD-A823-4654-885C-26BF96159A8E}" type="slidenum">
              <a:rPr lang="en-US" altLang="en-US" smtClean="0">
                <a:solidFill>
                  <a:srgbClr val="000000"/>
                </a:solidFill>
                <a:latin typeface="Tahoma" panose="020B0604030504040204" pitchFamily="34" charset="0"/>
              </a:rPr>
              <a:pPr>
                <a:spcBef>
                  <a:spcPct val="0"/>
                </a:spcBef>
              </a:pPr>
              <a:t>9</a:t>
            </a:fld>
            <a:endParaRPr lang="en-US" altLang="en-US">
              <a:solidFill>
                <a:srgbClr val="000000"/>
              </a:solidFill>
              <a:latin typeface="Tahoma" panose="020B0604030504040204" pitchFamily="34" charset="0"/>
            </a:endParaRPr>
          </a:p>
        </p:txBody>
      </p:sp>
      <p:sp>
        <p:nvSpPr>
          <p:cNvPr id="14339" name="Rectangle 2"/>
          <p:cNvSpPr>
            <a:spLocks noGrp="1" noRot="1" noChangeAspect="1" noChangeArrowheads="1" noTextEdit="1"/>
          </p:cNvSpPr>
          <p:nvPr>
            <p:ph type="sldImg"/>
          </p:nvPr>
        </p:nvSpPr>
        <p:spPr>
          <a:xfrm>
            <a:off x="406400" y="619125"/>
            <a:ext cx="6197600" cy="3486150"/>
          </a:xfrm>
          <a:ln/>
        </p:spPr>
      </p:sp>
      <p:sp>
        <p:nvSpPr>
          <p:cNvPr id="14340" name="Rectangle 3"/>
          <p:cNvSpPr>
            <a:spLocks noGrp="1" noChangeArrowheads="1"/>
          </p:cNvSpPr>
          <p:nvPr>
            <p:ph type="body" idx="1"/>
          </p:nvPr>
        </p:nvSpPr>
        <p:spPr>
          <a:xfrm>
            <a:off x="701040" y="4338641"/>
            <a:ext cx="5686213" cy="43386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Notice the universal selector and the type selectors.</a:t>
            </a:r>
          </a:p>
          <a:p>
            <a:pPr marL="228600" indent="-228600" eaLnBrk="1" hangingPunct="1"/>
            <a:r>
              <a:rPr lang="en-US" altLang="en-US" sz="1000" dirty="0"/>
              <a:t>Notice how you can specify a list of element types by separating them with commas.</a:t>
            </a:r>
          </a:p>
          <a:p>
            <a:pPr marL="228600" indent="-228600" eaLnBrk="1" hangingPunct="1"/>
            <a:endParaRPr lang="en-US" altLang="en-US" sz="1000" dirty="0"/>
          </a:p>
          <a:p>
            <a:pPr marL="228600" indent="-228600" eaLnBrk="1" hangingPunct="1"/>
            <a:r>
              <a:rPr lang="en-US" altLang="en-US" sz="1000" dirty="0"/>
              <a:t>Notice the CSS properties and values.</a:t>
            </a:r>
          </a:p>
          <a:p>
            <a:pPr marL="228600" indent="-228600" eaLnBrk="1" hangingPunct="1"/>
            <a:r>
              <a:rPr lang="en-US" altLang="en-US" sz="1000" dirty="0"/>
              <a:t>I'll cover lots of CSS properties and CSS values later on, but for now, I'll just use a few of them to illustrate CSS concepts, like I'm doing on this slide.</a:t>
            </a:r>
          </a:p>
          <a:p>
            <a:pPr marL="228600" indent="-228600" eaLnBrk="1" hangingPunct="1"/>
            <a:endParaRPr lang="en-US" altLang="en-US" sz="1000" dirty="0"/>
          </a:p>
          <a:p>
            <a:pPr marL="228600" indent="-228600" eaLnBrk="1" hangingPunct="1"/>
            <a:r>
              <a:rPr lang="en-US" altLang="en-US" sz="1000" dirty="0"/>
              <a:t>2. What will this page display?</a:t>
            </a:r>
          </a:p>
          <a:p>
            <a:pPr marL="228600" indent="-228600" eaLnBrk="1" hangingPunct="1"/>
            <a:r>
              <a:rPr lang="en-US" altLang="en-US" sz="1000" dirty="0"/>
              <a:t>All the text will be centered.</a:t>
            </a:r>
          </a:p>
          <a:p>
            <a:pPr marL="228600" indent="-228600" eaLnBrk="1" hangingPunct="1"/>
            <a:r>
              <a:rPr lang="en-US" altLang="en-US" sz="1000" dirty="0"/>
              <a:t>The </a:t>
            </a:r>
            <a:r>
              <a:rPr lang="en-US" altLang="en-US" sz="1000" dirty="0" err="1"/>
              <a:t>hr</a:t>
            </a:r>
            <a:r>
              <a:rPr lang="en-US" altLang="en-US" sz="1000" dirty="0"/>
              <a:t> will render with 50% width.</a:t>
            </a:r>
          </a:p>
          <a:p>
            <a:pPr marL="228600" indent="-228600" eaLnBrk="1" hangingPunct="1"/>
            <a:r>
              <a:rPr lang="en-US" altLang="en-US" sz="1000" dirty="0"/>
              <a:t>The heading and paragraph will be italicized and blue.</a:t>
            </a:r>
          </a:p>
          <a:p>
            <a:pPr marL="228600" indent="-228600" eaLnBrk="1" hangingPunct="1"/>
            <a:endParaRPr lang="en-US" altLang="en-US" sz="1000" dirty="0"/>
          </a:p>
          <a:p>
            <a:pPr marL="228600" indent="-228600" eaLnBrk="1" hangingPunct="1"/>
            <a:r>
              <a:rPr lang="en-US" altLang="en-US" sz="1000" dirty="0"/>
              <a:t>3. I show treePoem.html in a browser.</a:t>
            </a:r>
          </a:p>
          <a:p>
            <a:pPr marL="228600" indent="-228600" eaLnBrk="1" hangingPunct="1"/>
            <a:r>
              <a:rPr lang="en-US" altLang="en-US" sz="1000" dirty="0"/>
              <a:t>Why is the </a:t>
            </a:r>
            <a:r>
              <a:rPr lang="en-US" altLang="en-US" sz="1000" dirty="0" err="1"/>
              <a:t>hr</a:t>
            </a:r>
            <a:r>
              <a:rPr lang="en-US" altLang="en-US" sz="1000" dirty="0"/>
              <a:t> centered?</a:t>
            </a:r>
          </a:p>
          <a:p>
            <a:pPr marL="228600" indent="-228600" eaLnBrk="1" hangingPunct="1"/>
            <a:r>
              <a:rPr lang="en-US" altLang="en-US" sz="1000" dirty="0"/>
              <a:t>The text-align property affects text only, not the </a:t>
            </a:r>
            <a:r>
              <a:rPr lang="en-US" altLang="en-US" sz="1000" dirty="0" err="1"/>
              <a:t>hr</a:t>
            </a:r>
            <a:r>
              <a:rPr lang="en-US" altLang="en-US" sz="1000" dirty="0"/>
              <a:t> line.</a:t>
            </a:r>
          </a:p>
          <a:p>
            <a:pPr marL="228600" indent="-228600" eaLnBrk="1" hangingPunct="1"/>
            <a:r>
              <a:rPr lang="en-US" altLang="en-US" sz="1000" dirty="0"/>
              <a:t>By default, browsers display </a:t>
            </a:r>
            <a:r>
              <a:rPr lang="en-US" altLang="en-US" sz="1000" dirty="0" err="1"/>
              <a:t>hr</a:t>
            </a:r>
            <a:r>
              <a:rPr lang="en-US" altLang="en-US" sz="1000" dirty="0"/>
              <a:t> lines using center alignment.</a:t>
            </a:r>
          </a:p>
        </p:txBody>
      </p:sp>
    </p:spTree>
    <p:extLst>
      <p:ext uri="{BB962C8B-B14F-4D97-AF65-F5344CB8AC3E}">
        <p14:creationId xmlns:p14="http://schemas.microsoft.com/office/powerpoint/2010/main" val="1817567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A86904E-27BB-4C01-8E37-282AF78E56E5}" type="slidenum">
              <a:rPr lang="en-US" altLang="en-US" smtClean="0">
                <a:latin typeface="Tahoma" panose="020B0604030504040204" pitchFamily="34" charset="0"/>
              </a:rPr>
              <a:pPr>
                <a:spcBef>
                  <a:spcPct val="0"/>
                </a:spcBef>
              </a:pPr>
              <a:t>10</a:t>
            </a:fld>
            <a:endParaRPr lang="en-US" altLang="en-US">
              <a:latin typeface="Tahoma" panose="020B0604030504040204" pitchFamily="34" charset="0"/>
            </a:endParaRPr>
          </a:p>
        </p:txBody>
      </p:sp>
      <p:sp>
        <p:nvSpPr>
          <p:cNvPr id="16387" name="Rectangle 2"/>
          <p:cNvSpPr>
            <a:spLocks noGrp="1" noRot="1" noChangeAspect="1" noChangeArrowheads="1" noTextEdit="1"/>
          </p:cNvSpPr>
          <p:nvPr>
            <p:ph type="sldImg"/>
          </p:nvPr>
        </p:nvSpPr>
        <p:spPr>
          <a:xfrm>
            <a:off x="406400" y="696913"/>
            <a:ext cx="6197600" cy="348615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See the style container in the previous slide.</a:t>
            </a:r>
          </a:p>
          <a:p>
            <a:pPr marL="228600" indent="-228600" eaLnBrk="1" hangingPunct="1"/>
            <a:r>
              <a:rPr lang="en-US" altLang="en-US" sz="1000" dirty="0"/>
              <a:t>[To avoid muddying the waters, don’t mention external CSS files here.]</a:t>
            </a:r>
          </a:p>
          <a:p>
            <a:pPr marL="228600" indent="-228600" eaLnBrk="1" hangingPunct="1"/>
            <a:endParaRPr lang="en-US" altLang="en-US" sz="1000" dirty="0"/>
          </a:p>
          <a:p>
            <a:pPr marL="228600" indent="-228600" eaLnBrk="1" hangingPunct="1"/>
            <a:r>
              <a:rPr lang="en-US" altLang="en-US" sz="1000" dirty="0"/>
              <a:t>2. In the previous slide, note the comma and space separating h2 and p.</a:t>
            </a:r>
          </a:p>
          <a:p>
            <a:pPr marL="228600" indent="-228600" eaLnBrk="1" hangingPunct="1"/>
            <a:endParaRPr lang="en-US" altLang="en-US" sz="1000" dirty="0"/>
          </a:p>
          <a:p>
            <a:pPr marL="228600" indent="-228600" eaLnBrk="1" hangingPunct="1"/>
            <a:r>
              <a:rPr lang="en-US" altLang="en-US" sz="1000" dirty="0"/>
              <a:t>3. We haven't had any CSS rules long enough to justify the block format, but you'll see some later on.</a:t>
            </a:r>
          </a:p>
          <a:p>
            <a:pPr marL="228600" indent="-228600" eaLnBrk="1" hangingPunct="1"/>
            <a:endParaRPr lang="en-US" altLang="en-US" sz="1000" dirty="0"/>
          </a:p>
          <a:p>
            <a:pPr marL="228600" indent="-228600" eaLnBrk="1" hangingPunct="1"/>
            <a:r>
              <a:rPr lang="en-US" altLang="en-US" sz="1000" dirty="0"/>
              <a:t>4. Although it’s legal to omit the semicolon after the last property-value pair, you should include it.</a:t>
            </a:r>
          </a:p>
          <a:p>
            <a:pPr marL="228600" indent="-228600" eaLnBrk="1" hangingPunct="1"/>
            <a:r>
              <a:rPr lang="en-US" altLang="en-US" sz="1000" dirty="0"/>
              <a:t>That way, if another property-value pair is added later on, there will be less likelihood of accidentally forgetting to add a semicolon in front of the new property-value pair.</a:t>
            </a:r>
          </a:p>
        </p:txBody>
      </p:sp>
    </p:spTree>
    <p:extLst>
      <p:ext uri="{BB962C8B-B14F-4D97-AF65-F5344CB8AC3E}">
        <p14:creationId xmlns:p14="http://schemas.microsoft.com/office/powerpoint/2010/main" val="3580365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170736D-2146-4E36-A10F-27FC8D39FCC1}" type="slidenum">
              <a:rPr lang="en-US" altLang="en-US" smtClean="0">
                <a:latin typeface="Tahoma" panose="020B0604030504040204" pitchFamily="34" charset="0"/>
              </a:rPr>
              <a:pPr>
                <a:spcBef>
                  <a:spcPct val="0"/>
                </a:spcBef>
              </a:pPr>
              <a:t>11</a:t>
            </a:fld>
            <a:endParaRPr lang="en-US" altLang="en-US">
              <a:latin typeface="Tahoma" panose="020B0604030504040204" pitchFamily="34" charset="0"/>
            </a:endParaRPr>
          </a:p>
        </p:txBody>
      </p:sp>
      <p:sp>
        <p:nvSpPr>
          <p:cNvPr id="18435" name="Rectangle 2"/>
          <p:cNvSpPr>
            <a:spLocks noGrp="1" noRot="1" noChangeAspect="1" noChangeArrowheads="1" noTextEdit="1"/>
          </p:cNvSpPr>
          <p:nvPr>
            <p:ph type="sldImg"/>
          </p:nvPr>
        </p:nvSpPr>
        <p:spPr>
          <a:xfrm>
            <a:off x="406400" y="696913"/>
            <a:ext cx="6197600" cy="3486150"/>
          </a:xfrm>
          <a:ln/>
        </p:spPr>
      </p:sp>
      <p:sp>
        <p:nvSpPr>
          <p:cNvPr id="18436" name="Rectangle 3"/>
          <p:cNvSpPr>
            <a:spLocks noGrp="1" noChangeArrowheads="1"/>
          </p:cNvSpPr>
          <p:nvPr>
            <p:ph type="body" idx="1"/>
          </p:nvPr>
        </p:nvSpPr>
        <p:spPr>
          <a:xfrm>
            <a:off x="934720" y="4572000"/>
            <a:ext cx="514096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So far, we've talked about type selectors and the universal selector.</a:t>
            </a:r>
          </a:p>
          <a:p>
            <a:pPr marL="228600" indent="-228600" eaLnBrk="1" hangingPunct="1"/>
            <a:r>
              <a:rPr lang="en-US" altLang="en-US" sz="1000" dirty="0"/>
              <a:t>We're now going to talk about a third type of selector - a class selector.</a:t>
            </a:r>
          </a:p>
          <a:p>
            <a:pPr marL="228600" indent="-228600" eaLnBrk="1" hangingPunct="1"/>
            <a:endParaRPr lang="en-US" altLang="en-US" sz="1000" dirty="0"/>
          </a:p>
          <a:p>
            <a:pPr marL="228600" indent="-228600" eaLnBrk="1" hangingPunct="1"/>
            <a:r>
              <a:rPr lang="en-US" altLang="en-US" sz="1000" dirty="0"/>
              <a:t>2. The .class-value thing is the class selector.</a:t>
            </a:r>
          </a:p>
          <a:p>
            <a:pPr marL="228600" indent="-228600" eaLnBrk="1" hangingPunct="1"/>
            <a:r>
              <a:rPr lang="en-US" altLang="en-US" sz="1000" dirty="0"/>
              <a:t>Note the example that uses .red for the class selector.</a:t>
            </a:r>
          </a:p>
          <a:p>
            <a:pPr marL="228600" indent="-228600" eaLnBrk="1" hangingPunct="1"/>
            <a:r>
              <a:rPr lang="en-US" altLang="en-US" sz="1000" dirty="0"/>
              <a:t>Class attribute values, like "red," are not reserved words.</a:t>
            </a:r>
          </a:p>
          <a:p>
            <a:pPr marL="228600" indent="-228600" eaLnBrk="1" hangingPunct="1"/>
            <a:r>
              <a:rPr lang="en-US" altLang="en-US" sz="1000" dirty="0"/>
              <a:t>As a web developer, you just make them up, but remember that you should use descriptive names</a:t>
            </a:r>
            <a:r>
              <a:rPr lang="en-US" altLang="en-US" sz="1000" baseline="0" dirty="0"/>
              <a:t> for your </a:t>
            </a:r>
            <a:r>
              <a:rPr lang="en-US" altLang="en-US" sz="1000" dirty="0"/>
              <a:t>class attribute values so your code is easier to understand.</a:t>
            </a:r>
          </a:p>
          <a:p>
            <a:pPr marL="228600" indent="-228600" eaLnBrk="1" hangingPunct="1"/>
            <a:endParaRPr lang="en-US" altLang="en-US" sz="1000" dirty="0"/>
          </a:p>
          <a:p>
            <a:pPr marL="228600" indent="-228600" eaLnBrk="1" hangingPunct="1"/>
            <a:r>
              <a:rPr lang="en-US" altLang="en-US" sz="1000" dirty="0"/>
              <a:t>3. After the class value comes one or more property-value pairs, separated by semicolons.</a:t>
            </a:r>
          </a:p>
          <a:p>
            <a:pPr marL="228600" indent="-228600" eaLnBrk="1" hangingPunct="1"/>
            <a:r>
              <a:rPr lang="en-US" altLang="en-US" sz="1000" dirty="0"/>
              <a:t>Note the background-color example.</a:t>
            </a:r>
          </a:p>
          <a:p>
            <a:pPr marL="228600" indent="-228600" eaLnBrk="1" hangingPunct="1"/>
            <a:r>
              <a:rPr lang="en-US" altLang="en-US" sz="1000" dirty="0"/>
              <a:t>Although you make up your own names for class attribute values, you use predefined CSS names for property-value pairs.</a:t>
            </a:r>
          </a:p>
          <a:p>
            <a:pPr marL="228600" indent="-228600" eaLnBrk="1" hangingPunct="1"/>
            <a:endParaRPr lang="en-US" altLang="en-US" sz="1000" dirty="0"/>
          </a:p>
          <a:p>
            <a:pPr marL="228600" indent="-228600" eaLnBrk="1" hangingPunct="1"/>
            <a:r>
              <a:rPr lang="en-US" altLang="en-US" sz="1000" dirty="0"/>
              <a:t>4. I point out the class attribute value "red".</a:t>
            </a:r>
          </a:p>
          <a:p>
            <a:pPr marL="228600" indent="-228600" eaLnBrk="1" hangingPunct="1"/>
            <a:r>
              <a:rPr lang="en-US" altLang="en-US" sz="1000" dirty="0"/>
              <a:t>It matches up with the red CSS rule above.</a:t>
            </a:r>
          </a:p>
          <a:p>
            <a:pPr marL="228600" indent="-228600" eaLnBrk="1" hangingPunct="1"/>
            <a:r>
              <a:rPr lang="en-US" altLang="en-US" sz="1000" dirty="0"/>
              <a:t>I'll show this example on the next slide in the context of a complete web page.</a:t>
            </a:r>
          </a:p>
          <a:p>
            <a:pPr marL="228600" indent="-228600" eaLnBrk="1" hangingPunct="1"/>
            <a:endParaRPr lang="en-US" altLang="en-US" sz="1000" dirty="0"/>
          </a:p>
          <a:p>
            <a:pPr marL="228600" indent="-228600" eaLnBrk="1" hangingPunct="1"/>
            <a:r>
              <a:rPr lang="en-US" altLang="en-US" sz="1000" dirty="0"/>
              <a:t>5. Note the indentation:</a:t>
            </a:r>
            <a:r>
              <a:rPr lang="en-US" altLang="en-US" sz="1000" baseline="0" dirty="0"/>
              <a:t> For phrasing elements that require more than one line, indent on the continuation line.</a:t>
            </a:r>
            <a:endParaRPr lang="en-US" altLang="en-US" sz="1000" dirty="0"/>
          </a:p>
        </p:txBody>
      </p:sp>
    </p:spTree>
    <p:extLst>
      <p:ext uri="{BB962C8B-B14F-4D97-AF65-F5344CB8AC3E}">
        <p14:creationId xmlns:p14="http://schemas.microsoft.com/office/powerpoint/2010/main" val="38913353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6496AC1-3926-40FF-AA61-522EB9B140F8}" type="slidenum">
              <a:rPr lang="en-US" altLang="en-US" smtClean="0">
                <a:latin typeface="Tahoma" panose="020B0604030504040204" pitchFamily="34" charset="0"/>
              </a:rPr>
              <a:pPr>
                <a:spcBef>
                  <a:spcPct val="0"/>
                </a:spcBef>
              </a:pPr>
              <a:t>12</a:t>
            </a:fld>
            <a:endParaRPr lang="en-US" altLang="en-US">
              <a:latin typeface="Tahoma" panose="020B0604030504040204" pitchFamily="34" charset="0"/>
            </a:endParaRPr>
          </a:p>
        </p:txBody>
      </p:sp>
      <p:sp>
        <p:nvSpPr>
          <p:cNvPr id="20483" name="Rectangle 2"/>
          <p:cNvSpPr>
            <a:spLocks noGrp="1" noRot="1" noChangeAspect="1" noChangeArrowheads="1" noTextEdit="1"/>
          </p:cNvSpPr>
          <p:nvPr>
            <p:ph type="sldImg"/>
          </p:nvPr>
        </p:nvSpPr>
        <p:spPr>
          <a:xfrm>
            <a:off x="406400" y="704850"/>
            <a:ext cx="6197600" cy="3486150"/>
          </a:xfrm>
          <a:ln/>
        </p:spPr>
      </p:sp>
      <p:sp>
        <p:nvSpPr>
          <p:cNvPr id="20484" name="Rectangle 3"/>
          <p:cNvSpPr>
            <a:spLocks noGrp="1" noChangeArrowheads="1"/>
          </p:cNvSpPr>
          <p:nvPr>
            <p:ph type="body" idx="1"/>
          </p:nvPr>
        </p:nvSpPr>
        <p:spPr>
          <a:xfrm>
            <a:off x="934720" y="4572000"/>
            <a:ext cx="514096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See the 3 CSS rules and note how they use class selectors.</a:t>
            </a:r>
          </a:p>
          <a:p>
            <a:pPr marL="228600" indent="-228600" eaLnBrk="1" hangingPunct="1"/>
            <a:endParaRPr lang="en-US" altLang="en-US" sz="1000" dirty="0"/>
          </a:p>
          <a:p>
            <a:pPr marL="228600" indent="-228600" eaLnBrk="1" hangingPunct="1"/>
            <a:r>
              <a:rPr lang="en-US" altLang="en-US" sz="1000" dirty="0"/>
              <a:t>2. Note the 3 quotes and their class attribute values.</a:t>
            </a:r>
          </a:p>
          <a:p>
            <a:pPr marL="228600" indent="-228600" eaLnBrk="1" hangingPunct="1"/>
            <a:r>
              <a:rPr lang="en-US" altLang="en-US" sz="1000" dirty="0"/>
              <a:t>Those values match the class attribute values in the above CSS rules.</a:t>
            </a:r>
          </a:p>
          <a:p>
            <a:pPr marL="228600" indent="-228600" eaLnBrk="1" hangingPunct="1"/>
            <a:endParaRPr lang="en-US" altLang="en-US" sz="1000" dirty="0"/>
          </a:p>
          <a:p>
            <a:pPr marL="228600" indent="-228600" eaLnBrk="1" hangingPunct="1"/>
            <a:r>
              <a:rPr lang="en-US" altLang="en-US" sz="1000" dirty="0"/>
              <a:t>3. What will this page display?</a:t>
            </a:r>
          </a:p>
          <a:p>
            <a:pPr marL="228600" indent="-228600" eaLnBrk="1" hangingPunct="1"/>
            <a:r>
              <a:rPr lang="en-US" altLang="en-US" sz="1000" dirty="0"/>
              <a:t>The first quote will have a background color of tomato red.</a:t>
            </a:r>
          </a:p>
          <a:p>
            <a:pPr marL="228600" indent="-228600" eaLnBrk="1" hangingPunct="1"/>
            <a:r>
              <a:rPr lang="en-US" altLang="en-US" sz="1000" dirty="0"/>
              <a:t>I used red initially, but found that the black text didn't show up very well, so I chose tomato red, since it's lighter, and I love tomatoes.</a:t>
            </a:r>
          </a:p>
          <a:p>
            <a:pPr marL="228600" indent="-228600" eaLnBrk="1" hangingPunct="1"/>
            <a:r>
              <a:rPr lang="en-US" altLang="en-US" sz="1000" dirty="0"/>
              <a:t>Get used to trying things out, viewing the result, and changing your code if appropriate.</a:t>
            </a:r>
          </a:p>
          <a:p>
            <a:pPr marL="228600" indent="-228600" eaLnBrk="1" hangingPunct="1"/>
            <a:endParaRPr lang="en-US" altLang="en-US" sz="1000" dirty="0"/>
          </a:p>
          <a:p>
            <a:pPr marL="228600" indent="-228600" eaLnBrk="1" hangingPunct="1"/>
            <a:r>
              <a:rPr lang="en-US" altLang="en-US" sz="1000" dirty="0"/>
              <a:t>The next 2 quotes will have background colors of white and </a:t>
            </a:r>
            <a:r>
              <a:rPr lang="en-US" altLang="en-US" sz="1000" dirty="0" err="1"/>
              <a:t>skyblue</a:t>
            </a:r>
            <a:r>
              <a:rPr lang="en-US" altLang="en-US" sz="1000" dirty="0"/>
              <a:t>.</a:t>
            </a:r>
          </a:p>
          <a:p>
            <a:pPr marL="228600" indent="-228600" eaLnBrk="1" hangingPunct="1"/>
            <a:endParaRPr lang="en-US" altLang="en-US" sz="1000" dirty="0"/>
          </a:p>
          <a:p>
            <a:pPr marL="228600" indent="-228600" eaLnBrk="1" hangingPunct="1"/>
            <a:r>
              <a:rPr lang="en-US" altLang="en-US" sz="1000" dirty="0"/>
              <a:t>In addition to the three class selector rules, there's also a type selector rule, q {font-family: Impact;}</a:t>
            </a:r>
          </a:p>
          <a:p>
            <a:pPr marL="228600" indent="-228600" eaLnBrk="1" hangingPunct="1"/>
            <a:endParaRPr lang="en-US" altLang="en-US" sz="1000" dirty="0"/>
          </a:p>
          <a:p>
            <a:pPr marL="228600" indent="-228600" eaLnBrk="1" hangingPunct="1"/>
            <a:r>
              <a:rPr lang="en-US" altLang="en-US" sz="1000" dirty="0"/>
              <a:t>Let's look at how the browser renders the quotes with an Impact font.</a:t>
            </a:r>
          </a:p>
          <a:p>
            <a:pPr marL="228600" indent="-228600" eaLnBrk="1" hangingPunct="1"/>
            <a:endParaRPr lang="en-US" altLang="en-US" sz="1000" dirty="0"/>
          </a:p>
          <a:p>
            <a:pPr marL="228600" indent="-228600" eaLnBrk="1" hangingPunct="1"/>
            <a:r>
              <a:rPr lang="en-US" altLang="en-US" sz="1000" dirty="0"/>
              <a:t>4. I show obamaQuotes.html in a browser.</a:t>
            </a:r>
          </a:p>
        </p:txBody>
      </p:sp>
    </p:spTree>
    <p:extLst>
      <p:ext uri="{BB962C8B-B14F-4D97-AF65-F5344CB8AC3E}">
        <p14:creationId xmlns:p14="http://schemas.microsoft.com/office/powerpoint/2010/main" val="24681994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E78E699-DE3D-4F45-86B0-210FF4D34C7C}" type="slidenum">
              <a:rPr lang="en-US" altLang="en-US" smtClean="0">
                <a:latin typeface="Tahoma" panose="020B0604030504040204" pitchFamily="34" charset="0"/>
              </a:rPr>
              <a:pPr>
                <a:spcBef>
                  <a:spcPct val="0"/>
                </a:spcBef>
              </a:pPr>
              <a:t>13</a:t>
            </a:fld>
            <a:endParaRPr lang="en-US" altLang="en-US">
              <a:latin typeface="Tahoma" panose="020B0604030504040204" pitchFamily="34" charset="0"/>
            </a:endParaRPr>
          </a:p>
        </p:txBody>
      </p:sp>
      <p:sp>
        <p:nvSpPr>
          <p:cNvPr id="22531" name="Rectangle 2"/>
          <p:cNvSpPr>
            <a:spLocks noGrp="1" noRot="1" noChangeAspect="1" noChangeArrowheads="1" noTextEdit="1"/>
          </p:cNvSpPr>
          <p:nvPr>
            <p:ph type="sldImg"/>
          </p:nvPr>
        </p:nvSpPr>
        <p:spPr>
          <a:xfrm>
            <a:off x="406400" y="704850"/>
            <a:ext cx="6197600" cy="3486150"/>
          </a:xfrm>
          <a:ln/>
        </p:spPr>
      </p:sp>
      <p:sp>
        <p:nvSpPr>
          <p:cNvPr id="22532" name="Rectangle 3"/>
          <p:cNvSpPr>
            <a:spLocks noGrp="1" noChangeArrowheads="1"/>
          </p:cNvSpPr>
          <p:nvPr>
            <p:ph type="body" idx="1"/>
          </p:nvPr>
        </p:nvSpPr>
        <p:spPr>
          <a:xfrm>
            <a:off x="934720" y="4568828"/>
            <a:ext cx="5140960" cy="4194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Usually, browsers use a default background color of white, so why did I specify white for the 2</a:t>
            </a:r>
            <a:r>
              <a:rPr lang="en-US" altLang="en-US" sz="1000" baseline="30000" dirty="0"/>
              <a:t>nd</a:t>
            </a:r>
            <a:r>
              <a:rPr lang="en-US" altLang="en-US" sz="1000" dirty="0"/>
              <a:t> quote's background color?</a:t>
            </a:r>
          </a:p>
          <a:p>
            <a:pPr marL="228600" indent="-228600" eaLnBrk="1" hangingPunct="1"/>
            <a:r>
              <a:rPr lang="en-US" altLang="en-US" sz="1000" dirty="0"/>
              <a:t>Because I wanted to be sure.</a:t>
            </a:r>
          </a:p>
          <a:p>
            <a:pPr marL="228600" indent="-228600" eaLnBrk="1" hangingPunct="1"/>
            <a:r>
              <a:rPr lang="en-US" altLang="en-US" sz="1000" dirty="0"/>
              <a:t>If a rogue browser uses a non-white default background color, then the user won't see the patriotic red, white, and blue color combination.</a:t>
            </a:r>
          </a:p>
          <a:p>
            <a:pPr marL="228600" indent="-228600" eaLnBrk="1" hangingPunct="1"/>
            <a:endParaRPr lang="en-US" altLang="en-US" sz="1000" dirty="0"/>
          </a:p>
          <a:p>
            <a:pPr marL="228600" indent="-228600" eaLnBrk="1" hangingPunct="1"/>
            <a:r>
              <a:rPr lang="en-US" altLang="en-US" sz="1000" dirty="0"/>
              <a:t>2. For this web page, and many future web pages, in the interest of reducing clutter on the slides, I am omitting the meta and  title elements in the head.</a:t>
            </a:r>
          </a:p>
          <a:p>
            <a:pPr marL="228600" indent="-228600" eaLnBrk="1" hangingPunct="1"/>
            <a:r>
              <a:rPr lang="en-US" altLang="en-US" sz="1000" dirty="0"/>
              <a:t>But for full credit on the homework, I require the meta and title elements in your head container.</a:t>
            </a:r>
          </a:p>
        </p:txBody>
      </p:sp>
    </p:spTree>
    <p:extLst>
      <p:ext uri="{BB962C8B-B14F-4D97-AF65-F5344CB8AC3E}">
        <p14:creationId xmlns:p14="http://schemas.microsoft.com/office/powerpoint/2010/main" val="9005662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7AFAE8A-F34C-4FEC-B7C6-D00EFA874A55}" type="slidenum">
              <a:rPr lang="en-US" altLang="en-US" smtClean="0">
                <a:latin typeface="Tahoma" panose="020B0604030504040204" pitchFamily="34" charset="0"/>
              </a:rPr>
              <a:pPr>
                <a:spcBef>
                  <a:spcPct val="0"/>
                </a:spcBef>
              </a:pPr>
              <a:t>14</a:t>
            </a:fld>
            <a:endParaRPr lang="en-US" altLang="en-US">
              <a:latin typeface="Tahoma" panose="020B0604030504040204" pitchFamily="34" charset="0"/>
            </a:endParaRPr>
          </a:p>
        </p:txBody>
      </p:sp>
      <p:sp>
        <p:nvSpPr>
          <p:cNvPr id="24579" name="Rectangle 2"/>
          <p:cNvSpPr>
            <a:spLocks noGrp="1" noRot="1" noChangeAspect="1" noChangeArrowheads="1" noTextEdit="1"/>
          </p:cNvSpPr>
          <p:nvPr>
            <p:ph type="sldImg"/>
          </p:nvPr>
        </p:nvSpPr>
        <p:spPr>
          <a:xfrm>
            <a:off x="406400" y="696913"/>
            <a:ext cx="6197600" cy="3486150"/>
          </a:xfrm>
          <a:ln/>
        </p:spPr>
      </p:sp>
      <p:sp>
        <p:nvSpPr>
          <p:cNvPr id="24580" name="Rectangle 3"/>
          <p:cNvSpPr>
            <a:spLocks noGrp="1" noChangeArrowheads="1"/>
          </p:cNvSpPr>
          <p:nvPr>
            <p:ph type="body" idx="1"/>
          </p:nvPr>
        </p:nvSpPr>
        <p:spPr>
          <a:xfrm>
            <a:off x="934720" y="4579938"/>
            <a:ext cx="5140960"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The element-</a:t>
            </a:r>
            <a:r>
              <a:rPr lang="en-US" altLang="en-US" sz="1000" dirty="0" err="1"/>
              <a:t>type.class</a:t>
            </a:r>
            <a:r>
              <a:rPr lang="en-US" altLang="en-US" sz="1000" dirty="0"/>
              <a:t>-value thing is the class selector prefaced by an element type.</a:t>
            </a:r>
          </a:p>
          <a:p>
            <a:pPr marL="228600" indent="-228600" eaLnBrk="1" hangingPunct="1"/>
            <a:r>
              <a:rPr lang="en-US" altLang="en-US" sz="1000" dirty="0"/>
              <a:t>The rest of the CSS rule should look familiar.</a:t>
            </a:r>
          </a:p>
          <a:p>
            <a:pPr marL="228600" indent="-228600" eaLnBrk="1" hangingPunct="1"/>
            <a:endParaRPr lang="en-US" altLang="en-US" sz="1000" dirty="0"/>
          </a:p>
          <a:p>
            <a:pPr marL="228600" indent="-228600" eaLnBrk="1" hangingPunct="1"/>
            <a:r>
              <a:rPr lang="en-US" altLang="en-US" sz="1000" dirty="0"/>
              <a:t>2. See the examples on the next slide.</a:t>
            </a:r>
          </a:p>
        </p:txBody>
      </p:sp>
    </p:spTree>
    <p:extLst>
      <p:ext uri="{BB962C8B-B14F-4D97-AF65-F5344CB8AC3E}">
        <p14:creationId xmlns:p14="http://schemas.microsoft.com/office/powerpoint/2010/main" val="4494557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33515E3-BA11-4B24-BC31-8CBFBF9F8959}" type="slidenum">
              <a:rPr lang="en-US" altLang="en-US" smtClean="0">
                <a:latin typeface="Tahoma" panose="020B0604030504040204" pitchFamily="34" charset="0"/>
              </a:rPr>
              <a:pPr>
                <a:spcBef>
                  <a:spcPct val="0"/>
                </a:spcBef>
              </a:pPr>
              <a:t>15</a:t>
            </a:fld>
            <a:endParaRPr lang="en-US" altLang="en-US">
              <a:latin typeface="Tahoma" panose="020B0604030504040204" pitchFamily="34" charset="0"/>
            </a:endParaRPr>
          </a:p>
        </p:txBody>
      </p:sp>
      <p:sp>
        <p:nvSpPr>
          <p:cNvPr id="26627" name="Rectangle 2"/>
          <p:cNvSpPr>
            <a:spLocks noGrp="1" noRot="1" noChangeAspect="1" noChangeArrowheads="1" noTextEdit="1"/>
          </p:cNvSpPr>
          <p:nvPr>
            <p:ph type="sldImg"/>
          </p:nvPr>
        </p:nvSpPr>
        <p:spPr>
          <a:xfrm>
            <a:off x="406400" y="696913"/>
            <a:ext cx="6197600" cy="3486150"/>
          </a:xfrm>
          <a:ln/>
        </p:spPr>
      </p:sp>
      <p:sp>
        <p:nvSpPr>
          <p:cNvPr id="26628" name="Rectangle 3"/>
          <p:cNvSpPr>
            <a:spLocks noGrp="1" noChangeArrowheads="1"/>
          </p:cNvSpPr>
          <p:nvPr>
            <p:ph type="body" idx="1"/>
          </p:nvPr>
        </p:nvSpPr>
        <p:spPr>
          <a:xfrm>
            <a:off x="934720" y="4495803"/>
            <a:ext cx="514096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Note that the class selectors match the syntax pattern on the previous slide.</a:t>
            </a:r>
          </a:p>
          <a:p>
            <a:pPr marL="228600" indent="-228600" eaLnBrk="1" hangingPunct="1"/>
            <a:endParaRPr lang="en-US" altLang="en-US" sz="1000" dirty="0"/>
          </a:p>
          <a:p>
            <a:pPr marL="228600" indent="-228600" eaLnBrk="1" hangingPunct="1"/>
            <a:r>
              <a:rPr lang="en-US" altLang="en-US" sz="1000" dirty="0"/>
              <a:t>2. The heading text will be blue (due to the h1.blue rule and the h1 element's class=“blue” attribute-value pair).</a:t>
            </a:r>
          </a:p>
          <a:p>
            <a:pPr marL="228600" indent="-228600" eaLnBrk="1" hangingPunct="1"/>
            <a:endParaRPr lang="en-US" altLang="en-US" sz="1000" dirty="0"/>
          </a:p>
          <a:p>
            <a:pPr marL="228600" indent="-228600" eaLnBrk="1" hangingPunct="1"/>
            <a:r>
              <a:rPr lang="en-US" altLang="en-US" sz="1000" dirty="0"/>
              <a:t>3. Is there any need to use element type prefixes for this page?</a:t>
            </a:r>
          </a:p>
          <a:p>
            <a:pPr marL="228600" indent="-228600" eaLnBrk="1" hangingPunct="1"/>
            <a:r>
              <a:rPr lang="en-US" altLang="en-US" sz="1000" dirty="0"/>
              <a:t>The prefixes for h1.blue and </a:t>
            </a:r>
            <a:r>
              <a:rPr lang="en-US" altLang="en-US" sz="1000" dirty="0" err="1"/>
              <a:t>q.blue</a:t>
            </a:r>
            <a:r>
              <a:rPr lang="en-US" altLang="en-US" sz="1000" dirty="0"/>
              <a:t> provide the ability to distinguish between the two different blue class selector rules.</a:t>
            </a:r>
          </a:p>
          <a:p>
            <a:pPr marL="228600" indent="-228600" eaLnBrk="1" hangingPunct="1"/>
            <a:r>
              <a:rPr lang="en-US" altLang="en-US" sz="1000" dirty="0"/>
              <a:t>However, the q prefix is unnecessary for the red and white class selectors.</a:t>
            </a:r>
          </a:p>
        </p:txBody>
      </p:sp>
    </p:spTree>
    <p:extLst>
      <p:ext uri="{BB962C8B-B14F-4D97-AF65-F5344CB8AC3E}">
        <p14:creationId xmlns:p14="http://schemas.microsoft.com/office/powerpoint/2010/main" val="2781363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E6BD055-49F1-4495-A687-F327705BCB98}" type="slidenum">
              <a:rPr lang="en-US" altLang="en-US" smtClean="0">
                <a:latin typeface="Tahoma" panose="020B0604030504040204" pitchFamily="34" charset="0"/>
              </a:rPr>
              <a:pPr>
                <a:spcBef>
                  <a:spcPct val="0"/>
                </a:spcBef>
              </a:pPr>
              <a:t>16</a:t>
            </a:fld>
            <a:endParaRPr lang="en-US" altLang="en-US">
              <a:latin typeface="Tahoma" panose="020B0604030504040204" pitchFamily="34" charset="0"/>
            </a:endParaRPr>
          </a:p>
        </p:txBody>
      </p:sp>
      <p:sp>
        <p:nvSpPr>
          <p:cNvPr id="30723" name="Rectangle 2"/>
          <p:cNvSpPr>
            <a:spLocks noGrp="1" noRot="1" noChangeAspect="1" noChangeArrowheads="1" noTextEdit="1"/>
          </p:cNvSpPr>
          <p:nvPr>
            <p:ph type="sldImg"/>
          </p:nvPr>
        </p:nvSpPr>
        <p:spPr>
          <a:xfrm>
            <a:off x="406400" y="696913"/>
            <a:ext cx="6197600" cy="3486150"/>
          </a:xfrm>
          <a:ln/>
        </p:spPr>
      </p:sp>
      <p:sp>
        <p:nvSpPr>
          <p:cNvPr id="30724" name="Rectangle 3"/>
          <p:cNvSpPr>
            <a:spLocks noGrp="1" noChangeArrowheads="1"/>
          </p:cNvSpPr>
          <p:nvPr>
            <p:ph type="body" idx="1"/>
          </p:nvPr>
        </p:nvSpPr>
        <p:spPr>
          <a:xfrm>
            <a:off x="934720" y="4579938"/>
            <a:ext cx="5140960"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We'll use this next type of selector in later chapters, but not for the upcoming examples in this chapter.</a:t>
            </a:r>
          </a:p>
          <a:p>
            <a:pPr marL="228600" indent="-228600" eaLnBrk="1" hangingPunct="1"/>
            <a:r>
              <a:rPr lang="en-US" altLang="en-US" sz="1000" dirty="0"/>
              <a:t>I'm introducing it now because it's an important part of CSS, and this is the CSS chapter.</a:t>
            </a:r>
          </a:p>
          <a:p>
            <a:pPr marL="228600" indent="-228600" eaLnBrk="1" hangingPunct="1"/>
            <a:endParaRPr lang="en-US" altLang="en-US" sz="1000" dirty="0"/>
          </a:p>
          <a:p>
            <a:pPr marL="228600" indent="-228600" eaLnBrk="1" hangingPunct="1"/>
            <a:r>
              <a:rPr lang="en-US" altLang="en-US" sz="1000" dirty="0"/>
              <a:t>2. The id value, lizards-lounge, must be unique within the current web page.</a:t>
            </a:r>
          </a:p>
          <a:p>
            <a:pPr marL="228600" indent="-228600" eaLnBrk="1" hangingPunct="1"/>
            <a:r>
              <a:rPr lang="en-US" altLang="en-US" sz="1000" dirty="0"/>
              <a:t>If the id value is not unique, then the W3C's validation service will generate an error.</a:t>
            </a:r>
          </a:p>
          <a:p>
            <a:pPr marL="228600" indent="-228600" eaLnBrk="1" hangingPunct="1"/>
            <a:endParaRPr lang="en-US" altLang="en-US" sz="1000" dirty="0"/>
          </a:p>
          <a:p>
            <a:pPr marL="228600" indent="-228600" eaLnBrk="1" hangingPunct="1"/>
            <a:r>
              <a:rPr lang="en-US" altLang="en-US" sz="1000" dirty="0"/>
              <a:t>3. The browser would use green font to display the "Lizards Lounge" heading.</a:t>
            </a:r>
          </a:p>
          <a:p>
            <a:pPr marL="228600" indent="-228600" eaLnBrk="1" hangingPunct="1"/>
            <a:endParaRPr lang="en-US" altLang="en-US" sz="1000" dirty="0"/>
          </a:p>
          <a:p>
            <a:pPr marL="228600" indent="-228600" eaLnBrk="1" hangingPunct="1"/>
            <a:r>
              <a:rPr lang="en-US" altLang="en-US" sz="1000" dirty="0"/>
              <a:t>4. Note id="lizards-lounge"</a:t>
            </a:r>
            <a:r>
              <a:rPr lang="en-US" altLang="en-US" sz="1000" baseline="0" dirty="0"/>
              <a:t> and read the callout.</a:t>
            </a:r>
            <a:endParaRPr lang="en-US" altLang="en-US" sz="1000" dirty="0"/>
          </a:p>
        </p:txBody>
      </p:sp>
    </p:spTree>
    <p:extLst>
      <p:ext uri="{BB962C8B-B14F-4D97-AF65-F5344CB8AC3E}">
        <p14:creationId xmlns:p14="http://schemas.microsoft.com/office/powerpoint/2010/main" val="19195228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75E3686-1E86-4610-8F9B-05D9F433F7A2}" type="slidenum">
              <a:rPr lang="en-US" altLang="en-US" smtClean="0">
                <a:latin typeface="Tahoma" panose="020B0604030504040204" pitchFamily="34" charset="0"/>
              </a:rPr>
              <a:pPr>
                <a:spcBef>
                  <a:spcPct val="0"/>
                </a:spcBef>
              </a:pPr>
              <a:t>17</a:t>
            </a:fld>
            <a:endParaRPr lang="en-US" altLang="en-US">
              <a:latin typeface="Tahoma" panose="020B0604030504040204" pitchFamily="34" charset="0"/>
            </a:endParaRPr>
          </a:p>
        </p:txBody>
      </p:sp>
      <p:sp>
        <p:nvSpPr>
          <p:cNvPr id="32771" name="Rectangle 2"/>
          <p:cNvSpPr>
            <a:spLocks noGrp="1" noRot="1" noChangeAspect="1" noChangeArrowheads="1" noTextEdit="1"/>
          </p:cNvSpPr>
          <p:nvPr>
            <p:ph type="sldImg"/>
          </p:nvPr>
        </p:nvSpPr>
        <p:spPr>
          <a:xfrm>
            <a:off x="406400" y="696913"/>
            <a:ext cx="6197600" cy="3486150"/>
          </a:xfrm>
          <a:ln/>
        </p:spPr>
      </p:sp>
      <p:sp>
        <p:nvSpPr>
          <p:cNvPr id="32772" name="Rectangle 3"/>
          <p:cNvSpPr>
            <a:spLocks noGrp="1" noChangeArrowheads="1"/>
          </p:cNvSpPr>
          <p:nvPr>
            <p:ph type="body" idx="1"/>
          </p:nvPr>
        </p:nvSpPr>
        <p:spPr>
          <a:xfrm>
            <a:off x="934720" y="4579938"/>
            <a:ext cx="5140960"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So far, we've discussed different types of selectors - universal selectors, type selectors, class selectors, and id selectors.</a:t>
            </a:r>
          </a:p>
          <a:p>
            <a:pPr marL="228600" indent="-228600" eaLnBrk="1" hangingPunct="1"/>
            <a:r>
              <a:rPr lang="en-US" altLang="en-US" sz="1000" dirty="0"/>
              <a:t>All of them work by attaching to an element or elements.</a:t>
            </a:r>
          </a:p>
          <a:p>
            <a:pPr marL="228600" indent="-228600" eaLnBrk="1" hangingPunct="1"/>
            <a:endParaRPr lang="en-US" altLang="en-US" sz="1000" dirty="0"/>
          </a:p>
          <a:p>
            <a:pPr marL="228600" indent="-228600" eaLnBrk="1" hangingPunct="1"/>
            <a:r>
              <a:rPr lang="en-US" altLang="en-US" sz="1000" dirty="0"/>
              <a:t>Suppose you want to apply CSS to text that doesn't coincide with any of the HTML elements.</a:t>
            </a:r>
          </a:p>
          <a:p>
            <a:pPr marL="228600" indent="-228600" eaLnBrk="1" hangingPunct="1"/>
            <a:r>
              <a:rPr lang="en-US" altLang="en-US" sz="1000" dirty="0"/>
              <a:t>What should you do?</a:t>
            </a:r>
          </a:p>
          <a:p>
            <a:pPr marL="228600" indent="-228600" eaLnBrk="1" hangingPunct="1"/>
            <a:endParaRPr lang="en-US" altLang="en-US" sz="1000" dirty="0"/>
          </a:p>
          <a:p>
            <a:pPr marL="228600" indent="-228600" eaLnBrk="1" hangingPunct="1"/>
            <a:r>
              <a:rPr lang="en-US" altLang="en-US" sz="1000" dirty="0"/>
              <a:t>2. I go to the next slide's example, note how the div and span elements surround text that doesn't fit very well with other elements, and </a:t>
            </a:r>
            <a:r>
              <a:rPr lang="en-US" altLang="en-US" sz="1000" u="sng" dirty="0"/>
              <a:t>return here</a:t>
            </a:r>
            <a:r>
              <a:rPr lang="en-US" altLang="en-US" sz="1000" dirty="0"/>
              <a:t>.</a:t>
            </a:r>
          </a:p>
          <a:p>
            <a:pPr marL="228600" indent="-228600" eaLnBrk="1" hangingPunct="1"/>
            <a:endParaRPr lang="en-US" altLang="en-US" sz="1000" dirty="0"/>
          </a:p>
          <a:p>
            <a:pPr marL="228600" indent="-228600" eaLnBrk="1" hangingPunct="1"/>
            <a:r>
              <a:rPr lang="en-US" altLang="en-US" sz="1000" dirty="0"/>
              <a:t>3. Note this code in the example on the next slide….</a:t>
            </a:r>
          </a:p>
        </p:txBody>
      </p:sp>
    </p:spTree>
    <p:extLst>
      <p:ext uri="{BB962C8B-B14F-4D97-AF65-F5344CB8AC3E}">
        <p14:creationId xmlns:p14="http://schemas.microsoft.com/office/powerpoint/2010/main" val="9148125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BF13DFB-E0AB-44A4-BDF9-4046E584779C}" type="slidenum">
              <a:rPr lang="en-US" altLang="en-US" smtClean="0">
                <a:latin typeface="Tahoma" panose="020B0604030504040204" pitchFamily="34" charset="0"/>
              </a:rPr>
              <a:pPr>
                <a:spcBef>
                  <a:spcPct val="0"/>
                </a:spcBef>
              </a:pPr>
              <a:t>18</a:t>
            </a:fld>
            <a:endParaRPr lang="en-US" altLang="en-US">
              <a:latin typeface="Tahoma" panose="020B0604030504040204" pitchFamily="34" charset="0"/>
            </a:endParaRPr>
          </a:p>
        </p:txBody>
      </p:sp>
      <p:sp>
        <p:nvSpPr>
          <p:cNvPr id="34819" name="Rectangle 2"/>
          <p:cNvSpPr>
            <a:spLocks noGrp="1" noRot="1" noChangeAspect="1" noChangeArrowheads="1" noTextEdit="1"/>
          </p:cNvSpPr>
          <p:nvPr>
            <p:ph type="sldImg"/>
          </p:nvPr>
        </p:nvSpPr>
        <p:spPr>
          <a:xfrm>
            <a:off x="406400" y="696913"/>
            <a:ext cx="6197600" cy="3486150"/>
          </a:xfrm>
          <a:ln/>
        </p:spPr>
      </p:sp>
      <p:sp>
        <p:nvSpPr>
          <p:cNvPr id="34820" name="Rectangle 3"/>
          <p:cNvSpPr>
            <a:spLocks noGrp="1" noChangeArrowheads="1"/>
          </p:cNvSpPr>
          <p:nvPr>
            <p:ph type="body" idx="1"/>
          </p:nvPr>
        </p:nvSpPr>
        <p:spPr>
          <a:xfrm>
            <a:off x="934720" y="4572000"/>
            <a:ext cx="5140960" cy="426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What will this page display?</a:t>
            </a:r>
          </a:p>
          <a:p>
            <a:pPr marL="228600" indent="-228600" eaLnBrk="1" hangingPunct="1"/>
            <a:r>
              <a:rPr lang="en-US" altLang="en-US" sz="1000" dirty="0"/>
              <a:t>All the text will be dark orange, except…</a:t>
            </a:r>
          </a:p>
          <a:p>
            <a:pPr marL="228600" indent="-228600" eaLnBrk="1" hangingPunct="1"/>
            <a:r>
              <a:rPr lang="en-US" altLang="en-US" sz="1000" dirty="0"/>
              <a:t>"$10" will be white with an orange background.</a:t>
            </a:r>
          </a:p>
          <a:p>
            <a:pPr marL="228600" indent="-228600" eaLnBrk="1" hangingPunct="1"/>
            <a:r>
              <a:rPr lang="en-US" altLang="en-US" sz="1000" dirty="0"/>
              <a:t>"$15" will be black with an orange background.</a:t>
            </a:r>
          </a:p>
          <a:p>
            <a:pPr marL="228600" indent="-228600" eaLnBrk="1" hangingPunct="1"/>
            <a:endParaRPr lang="en-US" altLang="en-US" sz="1000" dirty="0"/>
          </a:p>
          <a:p>
            <a:pPr marL="228600" indent="-228600" eaLnBrk="1" hangingPunct="1"/>
            <a:r>
              <a:rPr lang="en-US" altLang="en-US" sz="1000" dirty="0"/>
              <a:t>I show pumpkinPatch.html in a browser.</a:t>
            </a:r>
          </a:p>
          <a:p>
            <a:pPr marL="228600" indent="-228600" eaLnBrk="1" hangingPunct="1"/>
            <a:endParaRPr lang="en-US" altLang="en-US" sz="1000" dirty="0"/>
          </a:p>
          <a:p>
            <a:pPr marL="228600" indent="-228600" eaLnBrk="1" hangingPunct="1"/>
            <a:r>
              <a:rPr lang="en-US" altLang="en-US" sz="1000" dirty="0"/>
              <a:t>2. Where else have you seen local things having higher precedence than broader-scoped things?</a:t>
            </a:r>
          </a:p>
          <a:p>
            <a:pPr marL="228600" indent="-228600" eaLnBrk="1" hangingPunct="1"/>
            <a:r>
              <a:rPr lang="en-US" altLang="en-US" sz="1000" dirty="0"/>
              <a:t>Overriding methods in Java.</a:t>
            </a:r>
          </a:p>
          <a:p>
            <a:pPr marL="228600" indent="-228600" eaLnBrk="1" hangingPunct="1"/>
            <a:r>
              <a:rPr lang="en-US" altLang="en-US" sz="1000" dirty="0"/>
              <a:t>If a superclass and subclass have a method with the same name, the subclass object uses the subclass's method by default.</a:t>
            </a:r>
          </a:p>
          <a:p>
            <a:pPr marL="228600" indent="-228600" eaLnBrk="1" hangingPunct="1"/>
            <a:endParaRPr lang="en-US" altLang="en-US" sz="1000" dirty="0"/>
          </a:p>
          <a:p>
            <a:pPr marL="228600" indent="-228600" eaLnBrk="1" hangingPunct="1"/>
            <a:r>
              <a:rPr lang="en-US" altLang="en-US" sz="1000" dirty="0"/>
              <a:t>This principle of local things overriding broader-scoped things is a prominent characteristic of the "cascading" that takes place in applying CSS rules….</a:t>
            </a:r>
          </a:p>
        </p:txBody>
      </p:sp>
    </p:spTree>
    <p:extLst>
      <p:ext uri="{BB962C8B-B14F-4D97-AF65-F5344CB8AC3E}">
        <p14:creationId xmlns:p14="http://schemas.microsoft.com/office/powerpoint/2010/main" val="12760833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6CEA739-FDBF-4914-9958-9ACEC3A3790C}" type="slidenum">
              <a:rPr lang="en-US" altLang="en-US" smtClean="0">
                <a:latin typeface="Tahoma" panose="020B0604030504040204" pitchFamily="34" charset="0"/>
              </a:rPr>
              <a:pPr>
                <a:spcBef>
                  <a:spcPct val="0"/>
                </a:spcBef>
              </a:pPr>
              <a:t>19</a:t>
            </a:fld>
            <a:endParaRPr lang="en-US" altLang="en-US">
              <a:latin typeface="Tahoma" panose="020B0604030504040204" pitchFamily="34" charset="0"/>
            </a:endParaRPr>
          </a:p>
        </p:txBody>
      </p:sp>
      <p:sp>
        <p:nvSpPr>
          <p:cNvPr id="36867" name="Rectangle 2"/>
          <p:cNvSpPr>
            <a:spLocks noGrp="1" noRot="1" noChangeAspect="1" noChangeArrowheads="1" noTextEdit="1"/>
          </p:cNvSpPr>
          <p:nvPr>
            <p:ph type="sldImg"/>
          </p:nvPr>
        </p:nvSpPr>
        <p:spPr>
          <a:xfrm>
            <a:off x="406400" y="704850"/>
            <a:ext cx="6197600" cy="3486150"/>
          </a:xfrm>
          <a:ln/>
        </p:spPr>
      </p:sp>
      <p:sp>
        <p:nvSpPr>
          <p:cNvPr id="36868" name="Rectangle 3"/>
          <p:cNvSpPr>
            <a:spLocks noGrp="1" noChangeArrowheads="1"/>
          </p:cNvSpPr>
          <p:nvPr>
            <p:ph type="body" idx="1"/>
          </p:nvPr>
        </p:nvSpPr>
        <p:spPr>
          <a:xfrm>
            <a:off x="623148" y="4572000"/>
            <a:ext cx="5997787" cy="4191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First, what does the word “cascade” mean if you look it up in the dictionary?</a:t>
            </a:r>
          </a:p>
          <a:p>
            <a:pPr marL="228600" indent="-228600" eaLnBrk="1" hangingPunct="1"/>
            <a:r>
              <a:rPr lang="en-US" altLang="en-US" sz="1000" dirty="0"/>
              <a:t>A series of stages in a process.</a:t>
            </a:r>
          </a:p>
          <a:p>
            <a:pPr marL="228600" indent="-228600" eaLnBrk="1" hangingPunct="1"/>
            <a:r>
              <a:rPr lang="en-US" altLang="en-US" sz="1000" dirty="0"/>
              <a:t>Likewise, CSS uses a series of stages….</a:t>
            </a:r>
          </a:p>
          <a:p>
            <a:pPr marL="228600" indent="-228600" eaLnBrk="1" hangingPunct="1"/>
            <a:endParaRPr lang="en-US" altLang="en-US" sz="1000" dirty="0"/>
          </a:p>
          <a:p>
            <a:pPr marL="228600" indent="-228600" eaLnBrk="1" hangingPunct="1"/>
            <a:r>
              <a:rPr lang="en-US" altLang="en-US" sz="1000" dirty="0"/>
              <a:t>2. I'll explain the style attribute shortly, but let's first do a cursory run-through of the other items in the list.</a:t>
            </a:r>
          </a:p>
          <a:p>
            <a:pPr marL="228600" indent="-228600" eaLnBrk="1" hangingPunct="1"/>
            <a:endParaRPr lang="en-US" altLang="en-US" sz="1000" dirty="0"/>
          </a:p>
          <a:p>
            <a:pPr marL="228600" indent="-228600" eaLnBrk="1" hangingPunct="1"/>
            <a:r>
              <a:rPr lang="en-US" altLang="en-US" sz="1000" dirty="0"/>
              <a:t>3. We've been using style containers for all the examples so far.</a:t>
            </a:r>
          </a:p>
          <a:p>
            <a:pPr marL="228600" indent="-228600" eaLnBrk="1" hangingPunct="1"/>
            <a:endParaRPr lang="en-US" altLang="en-US" sz="1000" dirty="0"/>
          </a:p>
          <a:p>
            <a:pPr marL="228600" indent="-228600" eaLnBrk="1" hangingPunct="1"/>
            <a:r>
              <a:rPr lang="en-US" altLang="en-US" sz="1000" dirty="0"/>
              <a:t>4. I'll explain external files shortly.</a:t>
            </a:r>
          </a:p>
          <a:p>
            <a:pPr marL="228600" indent="-228600" eaLnBrk="1" hangingPunct="1"/>
            <a:endParaRPr lang="en-US" altLang="en-US" sz="1000" dirty="0"/>
          </a:p>
          <a:p>
            <a:pPr marL="228600" indent="-228600" eaLnBrk="1" hangingPunct="1"/>
            <a:r>
              <a:rPr lang="en-US" altLang="en-US" sz="1000" dirty="0"/>
              <a:t>5. I won't discuss the settings defined by a user for a particular browser installation because there’s nothing for you, the programmer, to learn or to do.</a:t>
            </a:r>
          </a:p>
          <a:p>
            <a:pPr marL="228600" indent="-228600" eaLnBrk="1" hangingPunct="1"/>
            <a:endParaRPr lang="en-US" altLang="en-US" sz="1000" dirty="0"/>
          </a:p>
          <a:p>
            <a:pPr marL="228600" indent="-228600" eaLnBrk="1" hangingPunct="1"/>
            <a:r>
              <a:rPr lang="en-US" altLang="en-US" sz="1000" dirty="0"/>
              <a:t>6. As a programmer, there's nothing you can do to modify a browser's native default settings.</a:t>
            </a:r>
          </a:p>
          <a:p>
            <a:pPr marL="228600" indent="-228600" eaLnBrk="1" hangingPunct="1"/>
            <a:r>
              <a:rPr lang="en-US" altLang="en-US" sz="1000" dirty="0"/>
              <a:t>But you should be aware of those default settings so you know what to expect when none of the first four cascading techniques is employed.</a:t>
            </a:r>
          </a:p>
          <a:p>
            <a:pPr marL="228600" indent="-228600" eaLnBrk="1" hangingPunct="1"/>
            <a:r>
              <a:rPr lang="en-US" altLang="en-US" sz="1000" strike="noStrike" baseline="0" dirty="0"/>
              <a:t>In chapter 2, when I presented HTML elements, I mentioned the W3C's typical default display properties.</a:t>
            </a:r>
          </a:p>
          <a:p>
            <a:pPr marL="228600" indent="-228600" eaLnBrk="1" hangingPunct="1"/>
            <a:r>
              <a:rPr lang="en-US" altLang="en-US" sz="1000" strike="noStrike" baseline="0" dirty="0"/>
              <a:t>Those properties come from the major browsers' native default settings.</a:t>
            </a:r>
          </a:p>
        </p:txBody>
      </p:sp>
    </p:spTree>
    <p:extLst>
      <p:ext uri="{BB962C8B-B14F-4D97-AF65-F5344CB8AC3E}">
        <p14:creationId xmlns:p14="http://schemas.microsoft.com/office/powerpoint/2010/main" val="33096464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6CEA739-FDBF-4914-9958-9ACEC3A3790C}" type="slidenum">
              <a:rPr lang="en-US" altLang="en-US" smtClean="0">
                <a:latin typeface="Tahoma" panose="020B0604030504040204" pitchFamily="34" charset="0"/>
              </a:rPr>
              <a:pPr>
                <a:spcBef>
                  <a:spcPct val="0"/>
                </a:spcBef>
              </a:pPr>
              <a:t>20</a:t>
            </a:fld>
            <a:endParaRPr lang="en-US" altLang="en-US">
              <a:latin typeface="Tahoma" panose="020B0604030504040204" pitchFamily="34" charset="0"/>
            </a:endParaRPr>
          </a:p>
        </p:txBody>
      </p:sp>
      <p:sp>
        <p:nvSpPr>
          <p:cNvPr id="36867" name="Rectangle 2"/>
          <p:cNvSpPr>
            <a:spLocks noGrp="1" noRot="1" noChangeAspect="1" noChangeArrowheads="1" noTextEdit="1"/>
          </p:cNvSpPr>
          <p:nvPr>
            <p:ph type="sldImg"/>
          </p:nvPr>
        </p:nvSpPr>
        <p:spPr>
          <a:xfrm>
            <a:off x="406400" y="704850"/>
            <a:ext cx="6197600" cy="3486150"/>
          </a:xfrm>
          <a:ln/>
        </p:spPr>
      </p:sp>
      <p:sp>
        <p:nvSpPr>
          <p:cNvPr id="36868" name="Rectangle 3"/>
          <p:cNvSpPr>
            <a:spLocks noGrp="1" noChangeArrowheads="1"/>
          </p:cNvSpPr>
          <p:nvPr>
            <p:ph type="body" idx="1"/>
          </p:nvPr>
        </p:nvSpPr>
        <p:spPr>
          <a:xfrm>
            <a:off x="623148" y="4572000"/>
            <a:ext cx="5997787" cy="4191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First, what does the word “cascade” mean if you look it up in the dictionary?</a:t>
            </a:r>
          </a:p>
          <a:p>
            <a:pPr marL="228600" indent="-228600" eaLnBrk="1" hangingPunct="1"/>
            <a:r>
              <a:rPr lang="en-US" altLang="en-US" sz="1000" dirty="0"/>
              <a:t>A series of stages in a process.</a:t>
            </a:r>
          </a:p>
          <a:p>
            <a:pPr marL="228600" indent="-228600" eaLnBrk="1" hangingPunct="1"/>
            <a:r>
              <a:rPr lang="en-US" altLang="en-US" sz="1000" dirty="0"/>
              <a:t>Likewise, CSS uses a series of stages….</a:t>
            </a:r>
          </a:p>
          <a:p>
            <a:pPr marL="228600" indent="-228600" eaLnBrk="1" hangingPunct="1"/>
            <a:endParaRPr lang="en-US" altLang="en-US" sz="1000" dirty="0"/>
          </a:p>
          <a:p>
            <a:pPr marL="228600" indent="-228600" eaLnBrk="1" hangingPunct="1"/>
            <a:r>
              <a:rPr lang="en-US" altLang="en-US" sz="1000" dirty="0"/>
              <a:t>2. I'll explain the style attribute shortly, but let's first do a cursory run-through of the other items in the list.</a:t>
            </a:r>
          </a:p>
          <a:p>
            <a:pPr marL="228600" indent="-228600" eaLnBrk="1" hangingPunct="1"/>
            <a:endParaRPr lang="en-US" altLang="en-US" sz="1000" dirty="0"/>
          </a:p>
          <a:p>
            <a:pPr marL="228600" indent="-228600" eaLnBrk="1" hangingPunct="1"/>
            <a:r>
              <a:rPr lang="en-US" altLang="en-US" sz="1000" dirty="0"/>
              <a:t>3. We've been using style containers for all the examples so far.</a:t>
            </a:r>
          </a:p>
          <a:p>
            <a:pPr marL="228600" indent="-228600" eaLnBrk="1" hangingPunct="1"/>
            <a:endParaRPr lang="en-US" altLang="en-US" sz="1000" dirty="0"/>
          </a:p>
          <a:p>
            <a:pPr marL="228600" indent="-228600" eaLnBrk="1" hangingPunct="1"/>
            <a:r>
              <a:rPr lang="en-US" altLang="en-US" sz="1000" dirty="0"/>
              <a:t>4. I'll explain external files shortly.</a:t>
            </a:r>
          </a:p>
          <a:p>
            <a:pPr marL="228600" indent="-228600" eaLnBrk="1" hangingPunct="1"/>
            <a:endParaRPr lang="en-US" altLang="en-US" sz="1000" dirty="0"/>
          </a:p>
          <a:p>
            <a:pPr marL="228600" indent="-228600" eaLnBrk="1" hangingPunct="1"/>
            <a:r>
              <a:rPr lang="en-US" altLang="en-US" sz="1000" dirty="0"/>
              <a:t>5. I won't discuss the settings defined by a user for a particular browser installation because there’s nothing for you, the programmer, to learn or to do.</a:t>
            </a:r>
          </a:p>
          <a:p>
            <a:pPr marL="228600" indent="-228600" eaLnBrk="1" hangingPunct="1"/>
            <a:endParaRPr lang="en-US" altLang="en-US" sz="1000" dirty="0"/>
          </a:p>
          <a:p>
            <a:pPr marL="228600" indent="-228600" eaLnBrk="1" hangingPunct="1"/>
            <a:r>
              <a:rPr lang="en-US" altLang="en-US" sz="1000" dirty="0"/>
              <a:t>6. As a programmer, there's nothing you can do to modify a browser's native default settings.</a:t>
            </a:r>
          </a:p>
          <a:p>
            <a:pPr marL="228600" indent="-228600" eaLnBrk="1" hangingPunct="1"/>
            <a:r>
              <a:rPr lang="en-US" altLang="en-US" sz="1000" dirty="0"/>
              <a:t>But you should be aware of those default settings so you know what to expect when none of the first four cascading techniques is employed.</a:t>
            </a:r>
          </a:p>
          <a:p>
            <a:pPr marL="228600" indent="-228600" eaLnBrk="1" hangingPunct="1"/>
            <a:r>
              <a:rPr lang="en-US" altLang="en-US" sz="1000" strike="noStrike" baseline="0" dirty="0"/>
              <a:t>In chapter 2, when I presented HTML elements, I mentioned the W3C's typical default display properties.</a:t>
            </a:r>
          </a:p>
          <a:p>
            <a:pPr marL="228600" indent="-228600" eaLnBrk="1" hangingPunct="1"/>
            <a:r>
              <a:rPr lang="en-US" altLang="en-US" sz="1000" strike="noStrike" baseline="0" dirty="0"/>
              <a:t>Those properties come from the major browsers' native default settings.</a:t>
            </a:r>
          </a:p>
        </p:txBody>
      </p:sp>
    </p:spTree>
    <p:extLst>
      <p:ext uri="{BB962C8B-B14F-4D97-AF65-F5344CB8AC3E}">
        <p14:creationId xmlns:p14="http://schemas.microsoft.com/office/powerpoint/2010/main" val="35394087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65A8F6C-8721-44AF-B09B-30419F45632A}" type="slidenum">
              <a:rPr lang="en-US" altLang="en-US" smtClean="0">
                <a:latin typeface="Tahoma" panose="020B0604030504040204" pitchFamily="34" charset="0"/>
              </a:rPr>
              <a:pPr>
                <a:spcBef>
                  <a:spcPct val="0"/>
                </a:spcBef>
              </a:pPr>
              <a:t>21</a:t>
            </a:fld>
            <a:endParaRPr lang="en-US" altLang="en-US">
              <a:latin typeface="Tahoma" panose="020B0604030504040204" pitchFamily="34" charset="0"/>
            </a:endParaRPr>
          </a:p>
        </p:txBody>
      </p:sp>
      <p:sp>
        <p:nvSpPr>
          <p:cNvPr id="38915" name="Rectangle 2"/>
          <p:cNvSpPr>
            <a:spLocks noGrp="1" noRot="1" noChangeAspect="1" noChangeArrowheads="1" noTextEdit="1"/>
          </p:cNvSpPr>
          <p:nvPr>
            <p:ph type="sldImg"/>
          </p:nvPr>
        </p:nvSpPr>
        <p:spPr>
          <a:xfrm>
            <a:off x="406400" y="696913"/>
            <a:ext cx="6197600" cy="3486150"/>
          </a:xfrm>
          <a:ln/>
        </p:spPr>
      </p:sp>
      <p:sp>
        <p:nvSpPr>
          <p:cNvPr id="79876" name="Rectangle 3"/>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defRPr/>
            </a:pPr>
            <a:r>
              <a:rPr lang="en-US" altLang="en-US" sz="1000" dirty="0"/>
              <a:t>1. And why is keeping style separate from content a good thing?</a:t>
            </a:r>
          </a:p>
          <a:p>
            <a:pPr marL="228600" indent="-228600" eaLnBrk="1" hangingPunct="1">
              <a:buFontTx/>
              <a:buAutoNum type="arabicPeriod"/>
              <a:defRPr/>
            </a:pPr>
            <a:endParaRPr lang="en-US" altLang="en-US" sz="1000" dirty="0"/>
          </a:p>
          <a:p>
            <a:pPr marL="228600" indent="-228600" eaLnBrk="1" hangingPunct="1">
              <a:defRPr/>
            </a:pPr>
            <a:r>
              <a:rPr lang="en-US" altLang="en-US" sz="1000" dirty="0"/>
              <a:t>Suppose you embed a style attribute in each of your p elements so they display their first lines with an indentation (I'll introduce the text-indent property later).</a:t>
            </a:r>
          </a:p>
          <a:p>
            <a:pPr marL="228600" indent="-228600" eaLnBrk="1" hangingPunct="1">
              <a:defRPr/>
            </a:pPr>
            <a:r>
              <a:rPr lang="en-US" altLang="en-US" sz="1000" dirty="0"/>
              <a:t>If you want to change the indentation width, you'd have to edit every p element.</a:t>
            </a:r>
          </a:p>
          <a:p>
            <a:pPr marL="228600" indent="-228600" eaLnBrk="1" hangingPunct="1">
              <a:defRPr/>
            </a:pPr>
            <a:r>
              <a:rPr lang="en-US" altLang="en-US" sz="1000" dirty="0"/>
              <a:t>On the other hand, making such a change is much easier when the CSS code is at the top of the page in the head container because you only have to make the change in one place - in the p element's CSS rule.</a:t>
            </a:r>
          </a:p>
          <a:p>
            <a:pPr marL="228600" indent="-228600" eaLnBrk="1" hangingPunct="1">
              <a:defRPr/>
            </a:pPr>
            <a:r>
              <a:rPr lang="en-US" altLang="en-US" sz="1000" dirty="0"/>
              <a:t>When you make the change, it impacts the entire web page.</a:t>
            </a:r>
          </a:p>
          <a:p>
            <a:pPr marL="228600" indent="-228600" eaLnBrk="1" hangingPunct="1">
              <a:defRPr/>
            </a:pPr>
            <a:endParaRPr lang="en-US" altLang="en-US" sz="1000" dirty="0"/>
          </a:p>
          <a:p>
            <a:pPr marL="228600" indent="-228600" eaLnBrk="1" hangingPunct="1">
              <a:defRPr/>
            </a:pPr>
            <a:r>
              <a:rPr lang="en-US" altLang="en-US" sz="1000" dirty="0"/>
              <a:t>[2. Using the style attribute used to be referred to as "inline styles." but the W3C no longer uses that term, and I won't use that term either.</a:t>
            </a:r>
          </a:p>
          <a:p>
            <a:pPr marL="228600" indent="-228600" eaLnBrk="1" hangingPunct="1">
              <a:defRPr/>
            </a:pPr>
            <a:r>
              <a:rPr lang="en-US" altLang="en-US" sz="1000" dirty="0"/>
              <a:t>But you should know it because you'll hear it being used every now and then.]</a:t>
            </a:r>
          </a:p>
        </p:txBody>
      </p:sp>
    </p:spTree>
    <p:extLst>
      <p:ext uri="{BB962C8B-B14F-4D97-AF65-F5344CB8AC3E}">
        <p14:creationId xmlns:p14="http://schemas.microsoft.com/office/powerpoint/2010/main" val="23331030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23792EA-FE9D-47E1-A8D4-B4B1EA062A4C}" type="slidenum">
              <a:rPr lang="en-US" altLang="en-US" smtClean="0">
                <a:latin typeface="Tahoma" panose="020B0604030504040204" pitchFamily="34" charset="0"/>
              </a:rPr>
              <a:pPr>
                <a:spcBef>
                  <a:spcPct val="0"/>
                </a:spcBef>
              </a:pPr>
              <a:t>22</a:t>
            </a:fld>
            <a:endParaRPr lang="en-US" altLang="en-US">
              <a:latin typeface="Tahoma" panose="020B0604030504040204" pitchFamily="34" charset="0"/>
            </a:endParaRPr>
          </a:p>
        </p:txBody>
      </p:sp>
      <p:sp>
        <p:nvSpPr>
          <p:cNvPr id="40963" name="Rectangle 2"/>
          <p:cNvSpPr>
            <a:spLocks noGrp="1" noRot="1" noChangeAspect="1" noChangeArrowheads="1" noTextEdit="1"/>
          </p:cNvSpPr>
          <p:nvPr>
            <p:ph type="sldImg"/>
          </p:nvPr>
        </p:nvSpPr>
        <p:spPr>
          <a:xfrm>
            <a:off x="406400" y="696913"/>
            <a:ext cx="6197600" cy="348615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Using the style container used to be referred to as "embedded styles." but the W3C no longer uses that term, and I won't use that term either.]</a:t>
            </a:r>
          </a:p>
          <a:p>
            <a:pPr marL="228600" indent="-228600" eaLnBrk="1" hangingPunct="1"/>
            <a:endParaRPr lang="en-US" altLang="en-US" sz="1000" dirty="0"/>
          </a:p>
          <a:p>
            <a:pPr marL="228600" indent="-228600" eaLnBrk="1" hangingPunct="1"/>
            <a:r>
              <a:rPr lang="en-US" altLang="en-US" sz="1000" dirty="0"/>
              <a:t>2. It's legal to put the style container in the body, but don't do it because then it's harder to find the CSS rules.</a:t>
            </a:r>
          </a:p>
          <a:p>
            <a:pPr marL="228600" indent="-228600" eaLnBrk="1" hangingPunct="1"/>
            <a:endParaRPr lang="en-US" altLang="en-US" sz="1000" dirty="0"/>
          </a:p>
          <a:p>
            <a:pPr marL="228600" indent="-228600" eaLnBrk="1" hangingPunct="1"/>
            <a:r>
              <a:rPr lang="en-US" altLang="en-US" sz="1000" dirty="0"/>
              <a:t>3. Going back to the cascading slide, note how the higher priority places are more specific.</a:t>
            </a:r>
          </a:p>
          <a:p>
            <a:pPr marL="228600" indent="-228600" eaLnBrk="1" hangingPunct="1"/>
            <a:r>
              <a:rPr lang="en-US" altLang="en-US" sz="1000" dirty="0"/>
              <a:t>For example, if a style attribute designates a paragraph as blue, but a style container designates paragraphs as red, then what color will the browser use to render the paragraph?</a:t>
            </a:r>
          </a:p>
          <a:p>
            <a:pPr marL="228600" indent="-228600" eaLnBrk="1" hangingPunct="1"/>
            <a:r>
              <a:rPr lang="en-US" altLang="en-US" sz="1000" dirty="0"/>
              <a:t>blue</a:t>
            </a:r>
          </a:p>
        </p:txBody>
      </p:sp>
    </p:spTree>
    <p:extLst>
      <p:ext uri="{BB962C8B-B14F-4D97-AF65-F5344CB8AC3E}">
        <p14:creationId xmlns:p14="http://schemas.microsoft.com/office/powerpoint/2010/main" val="35750896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864149C-0B38-486D-BA41-9D619789A5C5}" type="slidenum">
              <a:rPr lang="en-US" altLang="en-US" smtClean="0">
                <a:latin typeface="Tahoma" panose="020B0604030504040204" pitchFamily="34" charset="0"/>
              </a:rPr>
              <a:pPr>
                <a:spcBef>
                  <a:spcPct val="0"/>
                </a:spcBef>
              </a:pPr>
              <a:t>23</a:t>
            </a:fld>
            <a:endParaRPr lang="en-US" altLang="en-US">
              <a:latin typeface="Tahoma" panose="020B0604030504040204" pitchFamily="34" charset="0"/>
            </a:endParaRPr>
          </a:p>
        </p:txBody>
      </p:sp>
      <p:sp>
        <p:nvSpPr>
          <p:cNvPr id="43011" name="Rectangle 2"/>
          <p:cNvSpPr>
            <a:spLocks noGrp="1" noRot="1" noChangeAspect="1" noChangeArrowheads="1" noTextEdit="1"/>
          </p:cNvSpPr>
          <p:nvPr>
            <p:ph type="sldImg"/>
          </p:nvPr>
        </p:nvSpPr>
        <p:spPr>
          <a:xfrm>
            <a:off x="406400" y="696913"/>
            <a:ext cx="6197600" cy="3486150"/>
          </a:xfrm>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I show the link element on the next slide, which loads the external file named pumpkinPatch.css, and then </a:t>
            </a:r>
            <a:r>
              <a:rPr lang="en-US" altLang="en-US" sz="1000" u="sng" dirty="0"/>
              <a:t>return here</a:t>
            </a:r>
            <a:r>
              <a:rPr lang="en-US" altLang="en-US" sz="1000" dirty="0"/>
              <a:t>.</a:t>
            </a:r>
          </a:p>
          <a:p>
            <a:pPr marL="228600" indent="-228600" eaLnBrk="1" hangingPunct="1"/>
            <a:endParaRPr lang="en-US" altLang="en-US" sz="1000" dirty="0"/>
          </a:p>
          <a:p>
            <a:pPr marL="228600" indent="-228600" eaLnBrk="1" hangingPunct="1"/>
            <a:r>
              <a:rPr lang="en-US" altLang="en-US" sz="1000" dirty="0"/>
              <a:t>2. "</a:t>
            </a:r>
            <a:r>
              <a:rPr lang="en-US" altLang="en-US" sz="1000" dirty="0" err="1"/>
              <a:t>rel</a:t>
            </a:r>
            <a:r>
              <a:rPr lang="en-US" altLang="en-US" sz="1000" dirty="0"/>
              <a:t>" stands for "relationship."</a:t>
            </a:r>
          </a:p>
          <a:p>
            <a:pPr marL="228600" indent="-228600" eaLnBrk="1" hangingPunct="1"/>
            <a:endParaRPr lang="en-US" altLang="en-US" sz="1000" dirty="0"/>
          </a:p>
          <a:p>
            <a:pPr marL="228600" indent="-228600" eaLnBrk="1" hangingPunct="1"/>
            <a:r>
              <a:rPr lang="en-US" altLang="en-US" sz="1000" dirty="0"/>
              <a:t>3. With a shared external CSS file, it's easy to ensure that all the web pages on your site follow the same common CSS rules.</a:t>
            </a:r>
          </a:p>
          <a:p>
            <a:pPr marL="228600" indent="-228600" eaLnBrk="1" hangingPunct="1"/>
            <a:r>
              <a:rPr lang="en-US" altLang="en-US" sz="1000" dirty="0"/>
              <a:t>And if you want to change those rules, you change them in one place (in the external file), and the change affects all the web pages that share the external file.</a:t>
            </a:r>
          </a:p>
        </p:txBody>
      </p:sp>
    </p:spTree>
    <p:extLst>
      <p:ext uri="{BB962C8B-B14F-4D97-AF65-F5344CB8AC3E}">
        <p14:creationId xmlns:p14="http://schemas.microsoft.com/office/powerpoint/2010/main" val="27955750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63F37CA-A97A-4B04-A691-492C3B50A1FD}" type="slidenum">
              <a:rPr lang="en-US" altLang="en-US" smtClean="0">
                <a:latin typeface="Tahoma" panose="020B0604030504040204" pitchFamily="34" charset="0"/>
              </a:rPr>
              <a:pPr>
                <a:spcBef>
                  <a:spcPct val="0"/>
                </a:spcBef>
              </a:pPr>
              <a:t>24</a:t>
            </a:fld>
            <a:endParaRPr lang="en-US" altLang="en-US">
              <a:latin typeface="Tahoma" panose="020B0604030504040204" pitchFamily="34" charset="0"/>
            </a:endParaRPr>
          </a:p>
        </p:txBody>
      </p:sp>
      <p:sp>
        <p:nvSpPr>
          <p:cNvPr id="45059" name="Rectangle 2"/>
          <p:cNvSpPr>
            <a:spLocks noGrp="1" noRot="1" noChangeAspect="1" noChangeArrowheads="1" noTextEdit="1"/>
          </p:cNvSpPr>
          <p:nvPr>
            <p:ph type="sldImg"/>
          </p:nvPr>
        </p:nvSpPr>
        <p:spPr>
          <a:xfrm>
            <a:off x="406400" y="696913"/>
            <a:ext cx="6197600" cy="3486150"/>
          </a:xfrm>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As usual for my lecture, I'm omitting the meta and  title elements in the head container.</a:t>
            </a:r>
          </a:p>
          <a:p>
            <a:pPr marL="228600" indent="-228600" eaLnBrk="1" hangingPunct="1"/>
            <a:r>
              <a:rPr lang="en-US" altLang="en-US" sz="1000" dirty="0"/>
              <a:t>Do not omit them for the homework!</a:t>
            </a:r>
          </a:p>
          <a:p>
            <a:pPr marL="228600" indent="-228600" eaLnBrk="1" hangingPunct="1"/>
            <a:endParaRPr lang="en-US" altLang="en-US" sz="1000" dirty="0"/>
          </a:p>
          <a:p>
            <a:pPr marL="228600" indent="-228600" eaLnBrk="1" hangingPunct="1"/>
            <a:r>
              <a:rPr lang="en-US" altLang="en-US" sz="1000" dirty="0"/>
              <a:t>2. How does this web page's code connect to the external CSS file shown at the bottom?</a:t>
            </a:r>
          </a:p>
          <a:p>
            <a:pPr marL="228600" indent="-228600" eaLnBrk="1" hangingPunct="1"/>
            <a:r>
              <a:rPr lang="en-US" altLang="en-US" sz="1000" dirty="0"/>
              <a:t>The link element's </a:t>
            </a:r>
            <a:r>
              <a:rPr lang="en-US" altLang="en-US" sz="1000" dirty="0" err="1"/>
              <a:t>href</a:t>
            </a:r>
            <a:r>
              <a:rPr lang="en-US" altLang="en-US" sz="1000" dirty="0"/>
              <a:t> attribute value specifies the name of the external file - pumpkinPatch.css.</a:t>
            </a:r>
          </a:p>
          <a:p>
            <a:pPr marL="228600" indent="-228600" eaLnBrk="1" hangingPunct="1"/>
            <a:endParaRPr lang="en-US" altLang="en-US" sz="1000" dirty="0"/>
          </a:p>
          <a:p>
            <a:pPr marL="228600" indent="-228600" eaLnBrk="1" hangingPunct="1"/>
            <a:r>
              <a:rPr lang="en-US" altLang="en-US" sz="1000" dirty="0"/>
              <a:t>3. What will this page display?</a:t>
            </a:r>
          </a:p>
          <a:p>
            <a:pPr marL="228600" indent="-228600" eaLnBrk="1" hangingPunct="1"/>
            <a:r>
              <a:rPr lang="en-US" altLang="en-US" sz="1000" dirty="0"/>
              <a:t>It will look the same as the original single-file web page.</a:t>
            </a:r>
          </a:p>
          <a:p>
            <a:pPr marL="228600" indent="-228600" eaLnBrk="1" hangingPunct="1"/>
            <a:r>
              <a:rPr lang="en-US" altLang="en-US" sz="1000" dirty="0"/>
              <a:t>All the text will be dark orange, except…</a:t>
            </a:r>
          </a:p>
          <a:p>
            <a:pPr marL="228600" indent="-228600" eaLnBrk="1" hangingPunct="1"/>
            <a:r>
              <a:rPr lang="en-US" altLang="en-US" sz="1000" dirty="0"/>
              <a:t>"$10" will be white with an orange background.</a:t>
            </a:r>
          </a:p>
          <a:p>
            <a:pPr marL="228600" indent="-228600" eaLnBrk="1" hangingPunct="1"/>
            <a:r>
              <a:rPr lang="en-US" altLang="en-US" sz="1000" dirty="0"/>
              <a:t>"$15" will be black with an orange background.</a:t>
            </a:r>
          </a:p>
        </p:txBody>
      </p:sp>
    </p:spTree>
    <p:extLst>
      <p:ext uri="{BB962C8B-B14F-4D97-AF65-F5344CB8AC3E}">
        <p14:creationId xmlns:p14="http://schemas.microsoft.com/office/powerpoint/2010/main" val="38248013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D7ED29E-4170-4D04-BD18-21E762156B26}" type="slidenum">
              <a:rPr lang="en-US" altLang="en-US" smtClean="0">
                <a:latin typeface="Tahoma" panose="020B0604030504040204" pitchFamily="34" charset="0"/>
              </a:rPr>
              <a:pPr>
                <a:spcBef>
                  <a:spcPct val="0"/>
                </a:spcBef>
              </a:pPr>
              <a:t>25</a:t>
            </a:fld>
            <a:endParaRPr lang="en-US" altLang="en-US">
              <a:latin typeface="Tahoma" panose="020B0604030504040204" pitchFamily="34" charset="0"/>
            </a:endParaRPr>
          </a:p>
        </p:txBody>
      </p:sp>
      <p:sp>
        <p:nvSpPr>
          <p:cNvPr id="47107" name="Rectangle 2"/>
          <p:cNvSpPr>
            <a:spLocks noGrp="1" noRot="1" noChangeAspect="1" noChangeArrowheads="1" noTextEdit="1"/>
          </p:cNvSpPr>
          <p:nvPr>
            <p:ph type="sldImg"/>
          </p:nvPr>
        </p:nvSpPr>
        <p:spPr>
          <a:xfrm>
            <a:off x="406400" y="696913"/>
            <a:ext cx="6197600" cy="3486150"/>
          </a:xfrm>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I show the external CSS file on the previous slide.</a:t>
            </a:r>
          </a:p>
          <a:p>
            <a:pPr marL="228600" indent="-228600" eaLnBrk="1" hangingPunct="1"/>
            <a:endParaRPr lang="en-US" altLang="en-US" sz="1000" dirty="0"/>
          </a:p>
          <a:p>
            <a:pPr marL="228600" indent="-228600" eaLnBrk="1" hangingPunct="1"/>
            <a:r>
              <a:rPr lang="en-US" altLang="en-US" sz="1000" dirty="0"/>
              <a:t>2. I load the CSS validation service page, copy and paste the previous slide's code into the "direct input" box, change /* to //, and remove the hyphen in background-color.</a:t>
            </a:r>
          </a:p>
          <a:p>
            <a:pPr marL="228600" indent="-228600" eaLnBrk="1" hangingPunct="1"/>
            <a:r>
              <a:rPr lang="en-US" altLang="en-US" sz="1000" dirty="0"/>
              <a:t>I run the validator and then fix the errors.</a:t>
            </a:r>
          </a:p>
          <a:p>
            <a:pPr marL="228600" indent="-228600" eaLnBrk="1" hangingPunct="1"/>
            <a:endParaRPr lang="en-US" altLang="en-US" sz="1000" dirty="0"/>
          </a:p>
          <a:p>
            <a:pPr marL="228600" indent="-228600" eaLnBrk="1" hangingPunct="1"/>
            <a:r>
              <a:rPr lang="en-US" altLang="en-US" sz="1000" dirty="0"/>
              <a:t>[3. External CSS files are often referred to as "external style sheets'" but the W3C no longer uses that term, so I won't either.]</a:t>
            </a:r>
          </a:p>
        </p:txBody>
      </p:sp>
    </p:spTree>
    <p:extLst>
      <p:ext uri="{BB962C8B-B14F-4D97-AF65-F5344CB8AC3E}">
        <p14:creationId xmlns:p14="http://schemas.microsoft.com/office/powerpoint/2010/main" val="42323469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7AD137E-C4CD-4F59-834B-9A18CCE79127}" type="slidenum">
              <a:rPr lang="en-US" altLang="en-US" smtClean="0">
                <a:latin typeface="Tahoma" panose="020B0604030504040204" pitchFamily="34" charset="0"/>
              </a:rPr>
              <a:pPr>
                <a:spcBef>
                  <a:spcPct val="0"/>
                </a:spcBef>
              </a:pPr>
              <a:t>26</a:t>
            </a:fld>
            <a:endParaRPr lang="en-US" altLang="en-US">
              <a:latin typeface="Tahoma" panose="020B0604030504040204" pitchFamily="34" charset="0"/>
            </a:endParaRPr>
          </a:p>
        </p:txBody>
      </p:sp>
      <p:sp>
        <p:nvSpPr>
          <p:cNvPr id="49155" name="Rectangle 2"/>
          <p:cNvSpPr>
            <a:spLocks noGrp="1" noRot="1" noChangeAspect="1" noChangeArrowheads="1" noTextEdit="1"/>
          </p:cNvSpPr>
          <p:nvPr>
            <p:ph type="sldImg"/>
          </p:nvPr>
        </p:nvSpPr>
        <p:spPr>
          <a:xfrm>
            <a:off x="406400" y="696913"/>
            <a:ext cx="6197600" cy="3486150"/>
          </a:xfrm>
          <a:ln/>
        </p:spPr>
      </p:sp>
      <p:sp>
        <p:nvSpPr>
          <p:cNvPr id="49156" name="Rectangle 3"/>
          <p:cNvSpPr>
            <a:spLocks noGrp="1" noChangeArrowheads="1"/>
          </p:cNvSpPr>
          <p:nvPr>
            <p:ph type="body" idx="1"/>
          </p:nvPr>
        </p:nvSpPr>
        <p:spPr>
          <a:xfrm>
            <a:off x="934720" y="4416428"/>
            <a:ext cx="5140960" cy="44989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I go to the site</a:t>
            </a:r>
            <a:r>
              <a:rPr lang="en-US" altLang="en-US" sz="1000" baseline="0" dirty="0"/>
              <a:t> and scroll down to the Reference &gt; Modules section, where the properties are grouped.</a:t>
            </a:r>
            <a:endParaRPr lang="en-US" altLang="en-US" sz="1000" dirty="0"/>
          </a:p>
          <a:p>
            <a:pPr marL="228600" indent="-228600" eaLnBrk="1" hangingPunct="1"/>
            <a:endParaRPr lang="en-US" altLang="en-US" sz="1000" dirty="0"/>
          </a:p>
          <a:p>
            <a:pPr marL="228600" indent="-228600" eaLnBrk="1" hangingPunct="1"/>
            <a:r>
              <a:rPr lang="en-US" altLang="en-US" sz="1000" dirty="0"/>
              <a:t>2. In the next several slides, we'll be talking about color.</a:t>
            </a:r>
          </a:p>
          <a:p>
            <a:pPr marL="228600" indent="-228600" eaLnBrk="1" hangingPunct="1"/>
            <a:r>
              <a:rPr lang="en-US" altLang="en-US" sz="1000" dirty="0"/>
              <a:t>Find the module </a:t>
            </a:r>
            <a:r>
              <a:rPr lang="en-US" altLang="en-US" sz="1000" baseline="0" dirty="0"/>
              <a:t>CSS colors and click it.</a:t>
            </a:r>
          </a:p>
          <a:p>
            <a:pPr marL="228600" indent="-228600" eaLnBrk="1" hangingPunct="1"/>
            <a:endParaRPr lang="en-US" altLang="en-US" sz="1000" baseline="0" dirty="0"/>
          </a:p>
          <a:p>
            <a:pPr marL="228600" indent="-228600" eaLnBrk="1" hangingPunct="1"/>
            <a:r>
              <a:rPr lang="en-US" altLang="en-US" sz="1000" baseline="0" dirty="0"/>
              <a:t>Scroll down to the Properties section.</a:t>
            </a:r>
          </a:p>
          <a:p>
            <a:pPr marL="228600" indent="-228600" eaLnBrk="1" hangingPunct="1"/>
            <a:r>
              <a:rPr lang="en-US" altLang="en-US" sz="1000" baseline="0" dirty="0"/>
              <a:t>Find the color property and select it.</a:t>
            </a:r>
          </a:p>
          <a:p>
            <a:pPr marL="228600" indent="-228600" eaLnBrk="1" hangingPunct="1"/>
            <a:r>
              <a:rPr lang="en-US" altLang="en-US" sz="1000" baseline="0" dirty="0"/>
              <a:t>The color property sets the color of text within an element</a:t>
            </a:r>
          </a:p>
          <a:p>
            <a:pPr marL="228600" indent="-228600" eaLnBrk="1" hangingPunct="1"/>
            <a:r>
              <a:rPr lang="en-US" altLang="en-US" sz="1000" baseline="0" dirty="0"/>
              <a:t>Find the background- property group, expand it, and click background-color.</a:t>
            </a:r>
          </a:p>
          <a:p>
            <a:pPr marL="228600" indent="-228600" eaLnBrk="1" hangingPunct="1"/>
            <a:r>
              <a:rPr lang="en-US" altLang="en-US" sz="1000" baseline="0" dirty="0"/>
              <a:t>The background-property sets the color behind an element’s text.</a:t>
            </a:r>
          </a:p>
          <a:p>
            <a:pPr marL="228600" indent="-228600" eaLnBrk="1" hangingPunct="1"/>
            <a:endParaRPr lang="en-US" altLang="en-US" sz="1000" dirty="0"/>
          </a:p>
          <a:p>
            <a:pPr marL="228600" indent="-228600" eaLnBrk="1" hangingPunct="1"/>
            <a:r>
              <a:rPr lang="en-US" altLang="en-US" sz="1000" dirty="0"/>
              <a:t>3. We can’t cover all of the properties – we’ll focus on just the more useful and popular ones.</a:t>
            </a:r>
          </a:p>
          <a:p>
            <a:pPr marL="228600" indent="-228600" eaLnBrk="1" hangingPunct="1"/>
            <a:r>
              <a:rPr lang="en-US" altLang="en-US" sz="1000" dirty="0"/>
              <a:t>I'll tend to focus on the ones that you need in the homework, but I'm not necessarily going to cover all of the ones that are in the homework.</a:t>
            </a:r>
          </a:p>
          <a:p>
            <a:pPr marL="228600" indent="-228600" eaLnBrk="1" hangingPunct="1"/>
            <a:r>
              <a:rPr lang="en-US" altLang="en-US" sz="1000" dirty="0"/>
              <a:t>Thus, you'll have to explore the online documentation on your own.</a:t>
            </a:r>
          </a:p>
        </p:txBody>
      </p:sp>
    </p:spTree>
    <p:extLst>
      <p:ext uri="{BB962C8B-B14F-4D97-AF65-F5344CB8AC3E}">
        <p14:creationId xmlns:p14="http://schemas.microsoft.com/office/powerpoint/2010/main" val="16260471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C999E28-954C-4604-B249-3CF94B4A4449}" type="slidenum">
              <a:rPr lang="en-US" altLang="en-US" smtClean="0">
                <a:latin typeface="Tahoma" panose="020B0604030504040204" pitchFamily="34" charset="0"/>
              </a:rPr>
              <a:pPr>
                <a:spcBef>
                  <a:spcPct val="0"/>
                </a:spcBef>
              </a:pPr>
              <a:t>27</a:t>
            </a:fld>
            <a:endParaRPr lang="en-US" altLang="en-US">
              <a:latin typeface="Tahoma" panose="020B0604030504040204" pitchFamily="34" charset="0"/>
            </a:endParaRPr>
          </a:p>
        </p:txBody>
      </p:sp>
      <p:sp>
        <p:nvSpPr>
          <p:cNvPr id="51203" name="Rectangle 2"/>
          <p:cNvSpPr>
            <a:spLocks noGrp="1" noRot="1" noChangeAspect="1" noChangeArrowheads="1" noTextEdit="1"/>
          </p:cNvSpPr>
          <p:nvPr>
            <p:ph type="sldImg"/>
          </p:nvPr>
        </p:nvSpPr>
        <p:spPr>
          <a:xfrm>
            <a:off x="406400" y="696913"/>
            <a:ext cx="6197600" cy="3486150"/>
          </a:xfrm>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a:t>1. I use ellipses because there are too many border, margin, and padding  properties to list here.</a:t>
            </a:r>
          </a:p>
          <a:p>
            <a:pPr marL="228600" indent="-228600" eaLnBrk="1" hangingPunct="1"/>
            <a:r>
              <a:rPr lang="en-US" altLang="en-US" sz="1000"/>
              <a:t>They are all related, so we should be able to cover them fairly quickly.</a:t>
            </a:r>
          </a:p>
        </p:txBody>
      </p:sp>
    </p:spTree>
    <p:extLst>
      <p:ext uri="{BB962C8B-B14F-4D97-AF65-F5344CB8AC3E}">
        <p14:creationId xmlns:p14="http://schemas.microsoft.com/office/powerpoint/2010/main" val="32700698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26633F8-7009-442B-9609-E034DDE06EAE}" type="slidenum">
              <a:rPr lang="en-US" altLang="en-US" smtClean="0">
                <a:latin typeface="Tahoma" panose="020B0604030504040204" pitchFamily="34" charset="0"/>
              </a:rPr>
              <a:pPr>
                <a:spcBef>
                  <a:spcPct val="0"/>
                </a:spcBef>
              </a:pPr>
              <a:t>28</a:t>
            </a:fld>
            <a:endParaRPr lang="en-US" altLang="en-US">
              <a:latin typeface="Tahoma" panose="020B0604030504040204" pitchFamily="34" charset="0"/>
            </a:endParaRPr>
          </a:p>
        </p:txBody>
      </p:sp>
      <p:sp>
        <p:nvSpPr>
          <p:cNvPr id="53251" name="Rectangle 2"/>
          <p:cNvSpPr>
            <a:spLocks noGrp="1" noRot="1" noChangeAspect="1" noChangeArrowheads="1" noTextEdit="1"/>
          </p:cNvSpPr>
          <p:nvPr>
            <p:ph type="sldImg"/>
          </p:nvPr>
        </p:nvSpPr>
        <p:spPr>
          <a:xfrm>
            <a:off x="406400" y="696913"/>
            <a:ext cx="6197600" cy="3486150"/>
          </a:xfrm>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I'll explain all these formats in detail in the upcoming slides…</a:t>
            </a:r>
          </a:p>
          <a:p>
            <a:pPr marL="228600" indent="-228600" eaLnBrk="1" hangingPunct="1"/>
            <a:endParaRPr lang="en-US" altLang="en-US" sz="1000" dirty="0"/>
          </a:p>
          <a:p>
            <a:pPr marL="228600" indent="-228600" eaLnBrk="1" hangingPunct="1"/>
            <a:r>
              <a:rPr lang="en-US" altLang="en-US" sz="1000" dirty="0"/>
              <a:t>[2. I'm skipping other color value types because their not as popular and they’re more confusing.]</a:t>
            </a:r>
          </a:p>
        </p:txBody>
      </p:sp>
    </p:spTree>
    <p:extLst>
      <p:ext uri="{BB962C8B-B14F-4D97-AF65-F5344CB8AC3E}">
        <p14:creationId xmlns:p14="http://schemas.microsoft.com/office/powerpoint/2010/main" val="35091008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9E1BDF2-ADC9-4A8C-9F86-557328874A16}" type="slidenum">
              <a:rPr lang="en-US" altLang="en-US" smtClean="0">
                <a:latin typeface="Tahoma" panose="020B0604030504040204" pitchFamily="34" charset="0"/>
              </a:rPr>
              <a:pPr>
                <a:spcBef>
                  <a:spcPct val="0"/>
                </a:spcBef>
              </a:pPr>
              <a:t>29</a:t>
            </a:fld>
            <a:endParaRPr lang="en-US" altLang="en-US">
              <a:latin typeface="Tahoma" panose="020B0604030504040204" pitchFamily="34" charset="0"/>
            </a:endParaRPr>
          </a:p>
        </p:txBody>
      </p:sp>
      <p:sp>
        <p:nvSpPr>
          <p:cNvPr id="55299" name="Rectangle 2"/>
          <p:cNvSpPr>
            <a:spLocks noGrp="1" noRot="1" noChangeAspect="1" noChangeArrowheads="1" noTextEdit="1"/>
          </p:cNvSpPr>
          <p:nvPr>
            <p:ph type="sldImg"/>
          </p:nvPr>
        </p:nvSpPr>
        <p:spPr>
          <a:xfrm>
            <a:off x="406400" y="696913"/>
            <a:ext cx="6197600" cy="3486150"/>
          </a:xfrm>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Peruse the colors.</a:t>
            </a:r>
          </a:p>
          <a:p>
            <a:pPr marL="228600" indent="-228600" eaLnBrk="1" hangingPunct="1"/>
            <a:r>
              <a:rPr lang="en-US" altLang="en-US" sz="1000" dirty="0"/>
              <a:t>We've used a few of these color names, like orange and </a:t>
            </a:r>
            <a:r>
              <a:rPr lang="en-US" altLang="en-US" sz="1000" dirty="0" err="1"/>
              <a:t>darkorange</a:t>
            </a:r>
            <a:r>
              <a:rPr lang="en-US" altLang="en-US" sz="1000" dirty="0"/>
              <a:t>, in previous web page examples.</a:t>
            </a:r>
          </a:p>
          <a:p>
            <a:pPr marL="228600" indent="-228600" eaLnBrk="1" hangingPunct="1"/>
            <a:endParaRPr lang="en-US" altLang="en-US" sz="1000" dirty="0"/>
          </a:p>
          <a:p>
            <a:pPr marL="228600" indent="-228600" eaLnBrk="1" hangingPunct="1"/>
            <a:r>
              <a:rPr lang="en-US" altLang="en-US" sz="1000" dirty="0"/>
              <a:t>[2. Here's an example that uses an obscure color name (</a:t>
            </a:r>
            <a:r>
              <a:rPr lang="en-US" altLang="en-US" sz="1000" dirty="0" err="1"/>
              <a:t>darkslategray</a:t>
            </a:r>
            <a:r>
              <a:rPr lang="en-US" altLang="en-US" sz="1000" dirty="0"/>
              <a:t>):</a:t>
            </a:r>
          </a:p>
          <a:p>
            <a:pPr marL="228600" indent="-228600" eaLnBrk="1" hangingPunct="1"/>
            <a:r>
              <a:rPr lang="en-US" altLang="en-US" sz="1000" dirty="0"/>
              <a:t>&lt;head&gt;</a:t>
            </a:r>
          </a:p>
          <a:p>
            <a:pPr marL="228600" indent="-228600" eaLnBrk="1" hangingPunct="1"/>
            <a:r>
              <a:rPr lang="en-US" altLang="en-US" sz="1000" dirty="0"/>
              <a:t>&lt;style&gt;</a:t>
            </a:r>
          </a:p>
          <a:p>
            <a:pPr marL="228600" indent="-228600" eaLnBrk="1" hangingPunct="1"/>
            <a:r>
              <a:rPr lang="en-US" altLang="en-US" sz="1000" dirty="0"/>
              <a:t>  .</a:t>
            </a:r>
            <a:r>
              <a:rPr lang="en-US" altLang="en-US" sz="1000" dirty="0" err="1"/>
              <a:t>roofColor</a:t>
            </a:r>
            <a:r>
              <a:rPr lang="en-US" altLang="en-US" sz="1000" dirty="0"/>
              <a:t> {color: </a:t>
            </a:r>
            <a:r>
              <a:rPr lang="en-US" altLang="en-US" sz="1000" dirty="0" err="1"/>
              <a:t>darkslategray</a:t>
            </a:r>
            <a:r>
              <a:rPr lang="en-US" altLang="en-US" sz="1000" dirty="0"/>
              <a:t>;}</a:t>
            </a:r>
          </a:p>
          <a:p>
            <a:pPr marL="228600" indent="-228600" eaLnBrk="1" hangingPunct="1"/>
            <a:r>
              <a:rPr lang="en-US" altLang="en-US" sz="1000" dirty="0"/>
              <a:t>&lt;/style&gt;</a:t>
            </a:r>
          </a:p>
          <a:p>
            <a:pPr marL="228600" indent="-228600" eaLnBrk="1" hangingPunct="1"/>
            <a:r>
              <a:rPr lang="en-US" altLang="en-US" sz="1000" dirty="0"/>
              <a:t>&lt;/head&gt;</a:t>
            </a:r>
          </a:p>
          <a:p>
            <a:pPr marL="228600" indent="-228600" eaLnBrk="1" hangingPunct="1"/>
            <a:endParaRPr lang="en-US" altLang="en-US" sz="1000" dirty="0"/>
          </a:p>
          <a:p>
            <a:pPr marL="228600" indent="-228600" eaLnBrk="1" hangingPunct="1"/>
            <a:r>
              <a:rPr lang="en-US" altLang="en-US" sz="1000" dirty="0"/>
              <a:t>&lt;body&gt;</a:t>
            </a:r>
          </a:p>
          <a:p>
            <a:pPr marL="228600" indent="-228600" eaLnBrk="1" hangingPunct="1"/>
            <a:r>
              <a:rPr lang="en-US" altLang="en-US" sz="1000" dirty="0"/>
              <a:t>&lt;p&gt;Mackay Hall's roof is &lt;span class="</a:t>
            </a:r>
            <a:r>
              <a:rPr lang="en-US" altLang="en-US" sz="1000" dirty="0" err="1"/>
              <a:t>roofColor</a:t>
            </a:r>
            <a:r>
              <a:rPr lang="en-US" altLang="en-US" sz="1000" dirty="0"/>
              <a:t>“&gt;dark slate gray&lt;/span&gt;.&lt;/p&gt;</a:t>
            </a:r>
          </a:p>
          <a:p>
            <a:pPr marL="228600" indent="-228600" eaLnBrk="1" hangingPunct="1"/>
            <a:r>
              <a:rPr lang="en-US" altLang="en-US" sz="1000" dirty="0"/>
              <a:t>&lt;/body&gt;</a:t>
            </a:r>
          </a:p>
          <a:p>
            <a:pPr marL="228600" indent="-228600" eaLnBrk="1" hangingPunct="1"/>
            <a:endParaRPr lang="en-US" altLang="en-US" sz="1000" dirty="0"/>
          </a:p>
          <a:p>
            <a:pPr marL="228600" indent="-228600" eaLnBrk="1" hangingPunct="1"/>
            <a:r>
              <a:rPr lang="en-US" altLang="en-US" sz="1000" dirty="0"/>
              <a:t>Note that some of the color names produce identical colors - for example </a:t>
            </a:r>
            <a:r>
              <a:rPr lang="en-US" altLang="en-US" sz="1000" dirty="0" err="1"/>
              <a:t>darkslategray</a:t>
            </a:r>
            <a:r>
              <a:rPr lang="en-US" altLang="en-US" sz="1000" dirty="0"/>
              <a:t> and </a:t>
            </a:r>
            <a:r>
              <a:rPr lang="en-US" altLang="en-US" sz="1000" dirty="0" err="1"/>
              <a:t>darkslategrey</a:t>
            </a:r>
            <a:r>
              <a:rPr lang="en-US" altLang="en-US" sz="1000" dirty="0"/>
              <a:t>.]</a:t>
            </a:r>
          </a:p>
        </p:txBody>
      </p:sp>
    </p:spTree>
    <p:extLst>
      <p:ext uri="{BB962C8B-B14F-4D97-AF65-F5344CB8AC3E}">
        <p14:creationId xmlns:p14="http://schemas.microsoft.com/office/powerpoint/2010/main" val="12952075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E182E97-32E0-4412-B993-D278E1DDC927}" type="slidenum">
              <a:rPr lang="en-US" altLang="en-US" smtClean="0">
                <a:latin typeface="Tahoma" panose="020B0604030504040204" pitchFamily="34" charset="0"/>
              </a:rPr>
              <a:pPr>
                <a:spcBef>
                  <a:spcPct val="0"/>
                </a:spcBef>
              </a:pPr>
              <a:t>30</a:t>
            </a:fld>
            <a:endParaRPr lang="en-US" altLang="en-US">
              <a:latin typeface="Tahoma" panose="020B0604030504040204" pitchFamily="34" charset="0"/>
            </a:endParaRPr>
          </a:p>
        </p:txBody>
      </p:sp>
      <p:sp>
        <p:nvSpPr>
          <p:cNvPr id="57347" name="Rectangle 2"/>
          <p:cNvSpPr>
            <a:spLocks noGrp="1" noRot="1" noChangeAspect="1" noChangeArrowheads="1" noTextEdit="1"/>
          </p:cNvSpPr>
          <p:nvPr>
            <p:ph type="sldImg"/>
          </p:nvPr>
        </p:nvSpPr>
        <p:spPr>
          <a:xfrm>
            <a:off x="406400" y="696913"/>
            <a:ext cx="6197600" cy="3486150"/>
          </a:xfrm>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What do the first two rules indicate?</a:t>
            </a:r>
          </a:p>
          <a:p>
            <a:pPr marL="228600" indent="-228600" eaLnBrk="1" hangingPunct="1"/>
            <a:endParaRPr lang="en-US" altLang="en-US" sz="1000" dirty="0"/>
          </a:p>
          <a:p>
            <a:pPr marL="228600" indent="-228600" eaLnBrk="1" hangingPunct="1"/>
            <a:r>
              <a:rPr lang="en-US" altLang="en-US" sz="1000" dirty="0"/>
              <a:t>Black background</a:t>
            </a:r>
          </a:p>
          <a:p>
            <a:pPr marL="228600" indent="-228600" eaLnBrk="1" hangingPunct="1"/>
            <a:r>
              <a:rPr lang="en-US" altLang="en-US" sz="1000" dirty="0"/>
              <a:t>Black is the absence of all colors.</a:t>
            </a:r>
          </a:p>
          <a:p>
            <a:pPr marL="228600" indent="-228600" eaLnBrk="1" hangingPunct="1"/>
            <a:endParaRPr lang="en-US" altLang="en-US" sz="1000" dirty="0"/>
          </a:p>
          <a:p>
            <a:pPr marL="228600" indent="-228600" eaLnBrk="1" hangingPunct="1"/>
            <a:r>
              <a:rPr lang="en-US" altLang="en-US" sz="1000" dirty="0"/>
              <a:t>White text</a:t>
            </a:r>
          </a:p>
          <a:p>
            <a:pPr marL="228600" indent="-228600" eaLnBrk="1" hangingPunct="1"/>
            <a:r>
              <a:rPr lang="en-US" altLang="en-US" sz="1000" dirty="0"/>
              <a:t>White is the combination of all colors.</a:t>
            </a:r>
          </a:p>
          <a:p>
            <a:pPr marL="228600" indent="-228600" eaLnBrk="1" hangingPunct="1"/>
            <a:r>
              <a:rPr lang="en-US" altLang="en-US" sz="1000" dirty="0"/>
              <a:t>Also, white is the combination of red, green, and blue because those 3 colors together contain all the colors in the entire color spectrum.</a:t>
            </a:r>
          </a:p>
          <a:p>
            <a:pPr marL="228600" indent="-228600" eaLnBrk="1" hangingPunct="1"/>
            <a:endParaRPr lang="en-US" altLang="en-US" sz="1000" dirty="0"/>
          </a:p>
          <a:p>
            <a:pPr marL="228600" indent="-228600" eaLnBrk="1" hangingPunct="1"/>
            <a:r>
              <a:rPr lang="en-US" altLang="en-US" sz="1000" dirty="0"/>
              <a:t>2. What color does the 3</a:t>
            </a:r>
            <a:r>
              <a:rPr lang="en-US" altLang="en-US" sz="1000" baseline="30000" dirty="0"/>
              <a:t>rd</a:t>
            </a:r>
            <a:r>
              <a:rPr lang="en-US" altLang="en-US" sz="1000" dirty="0"/>
              <a:t> rule generate?</a:t>
            </a:r>
          </a:p>
          <a:p>
            <a:pPr marL="228600" indent="-228600" eaLnBrk="1" hangingPunct="1"/>
            <a:endParaRPr lang="en-US" altLang="en-US" sz="1000" dirty="0"/>
          </a:p>
          <a:p>
            <a:pPr marL="228600" indent="-228600" eaLnBrk="1" hangingPunct="1"/>
            <a:r>
              <a:rPr lang="en-US" altLang="en-US" sz="1000" dirty="0"/>
              <a:t>Purple, because there's about the same amount of red and blue, and not much green.</a:t>
            </a:r>
          </a:p>
          <a:p>
            <a:pPr marL="228600" indent="-228600" eaLnBrk="1" hangingPunct="1"/>
            <a:r>
              <a:rPr lang="en-US" altLang="en-US" sz="1000" dirty="0"/>
              <a:t>With red and blue being about 50% and green being much less than 50%, it's a dark purple.</a:t>
            </a:r>
          </a:p>
          <a:p>
            <a:pPr marL="228600" indent="-228600" eaLnBrk="1" hangingPunct="1"/>
            <a:r>
              <a:rPr lang="en-US" altLang="en-US" sz="1000" dirty="0"/>
              <a:t>Eggplants are dark purple, and that’s why the above class selector name is eggplant.</a:t>
            </a:r>
          </a:p>
          <a:p>
            <a:pPr marL="228600" indent="-228600" eaLnBrk="1" hangingPunct="1"/>
            <a:endParaRPr lang="en-US" altLang="en-US" sz="1000" dirty="0"/>
          </a:p>
          <a:p>
            <a:pPr marL="228600" indent="-228600" eaLnBrk="1" hangingPunct="1"/>
            <a:r>
              <a:rPr lang="en-US" altLang="en-US" sz="1000" dirty="0"/>
              <a:t>Animate.</a:t>
            </a:r>
          </a:p>
        </p:txBody>
      </p:sp>
    </p:spTree>
    <p:extLst>
      <p:ext uri="{BB962C8B-B14F-4D97-AF65-F5344CB8AC3E}">
        <p14:creationId xmlns:p14="http://schemas.microsoft.com/office/powerpoint/2010/main" val="24012558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B8E6D7E-D3AB-4338-BAEF-C2F4384E2BCE}" type="slidenum">
              <a:rPr lang="en-US" altLang="en-US" smtClean="0">
                <a:latin typeface="Tahoma" panose="020B0604030504040204" pitchFamily="34" charset="0"/>
              </a:rPr>
              <a:pPr>
                <a:spcBef>
                  <a:spcPct val="0"/>
                </a:spcBef>
              </a:pPr>
              <a:t>31</a:t>
            </a:fld>
            <a:endParaRPr lang="en-US" altLang="en-US">
              <a:latin typeface="Tahoma" panose="020B0604030504040204" pitchFamily="34" charset="0"/>
            </a:endParaRPr>
          </a:p>
        </p:txBody>
      </p:sp>
      <p:sp>
        <p:nvSpPr>
          <p:cNvPr id="59395" name="Rectangle 2"/>
          <p:cNvSpPr>
            <a:spLocks noGrp="1" noRot="1" noChangeAspect="1" noChangeArrowheads="1" noTextEdit="1"/>
          </p:cNvSpPr>
          <p:nvPr>
            <p:ph type="sldImg"/>
          </p:nvPr>
        </p:nvSpPr>
        <p:spPr>
          <a:xfrm>
            <a:off x="406400" y="696913"/>
            <a:ext cx="6197600" cy="3486150"/>
          </a:xfrm>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What is the first favorite color?</a:t>
            </a:r>
          </a:p>
          <a:p>
            <a:pPr marL="228600" indent="-228600" eaLnBrk="1" hangingPunct="1"/>
            <a:r>
              <a:rPr lang="en-US" altLang="en-US" sz="1000" dirty="0"/>
              <a:t>The first one uses much more green than the other colors, so it generates a shade of green.</a:t>
            </a:r>
          </a:p>
          <a:p>
            <a:pPr marL="228600" indent="-228600" eaLnBrk="1" hangingPunct="1"/>
            <a:r>
              <a:rPr lang="en-US" altLang="en-US" sz="1000" dirty="0"/>
              <a:t>The red and blue color values are 144, which is more than half way to the maximum value of 255.</a:t>
            </a:r>
          </a:p>
          <a:p>
            <a:pPr marL="228600" indent="-228600" eaLnBrk="1" hangingPunct="1"/>
            <a:r>
              <a:rPr lang="en-US" altLang="en-US" sz="1000" dirty="0"/>
              <a:t>That means the green color will be closer to white than black.</a:t>
            </a:r>
          </a:p>
          <a:p>
            <a:pPr marL="228600" indent="-228600" eaLnBrk="1" hangingPunct="1"/>
            <a:r>
              <a:rPr lang="en-US" altLang="en-US" sz="1000" dirty="0"/>
              <a:t>The result is a light green.</a:t>
            </a:r>
          </a:p>
          <a:p>
            <a:pPr marL="228600" indent="-228600" eaLnBrk="1" hangingPunct="1"/>
            <a:r>
              <a:rPr lang="en-US" altLang="en-US" sz="1000" dirty="0"/>
              <a:t>I go to the Mozilla color names page and verify that the </a:t>
            </a:r>
            <a:r>
              <a:rPr lang="en-US" altLang="en-US" sz="1000" dirty="0" err="1"/>
              <a:t>lightgreen</a:t>
            </a:r>
            <a:r>
              <a:rPr lang="en-US" altLang="en-US" sz="1000" dirty="0"/>
              <a:t> color name uses this RGB value.</a:t>
            </a:r>
          </a:p>
          <a:p>
            <a:pPr marL="228600" indent="-228600" eaLnBrk="1" hangingPunct="1"/>
            <a:endParaRPr lang="en-US" altLang="en-US" sz="1000" dirty="0"/>
          </a:p>
          <a:p>
            <a:pPr marL="228600" indent="-228600" eaLnBrk="1" hangingPunct="1"/>
            <a:r>
              <a:rPr lang="en-US" altLang="en-US" sz="1000" dirty="0"/>
              <a:t>2. What is the second favorite color?</a:t>
            </a:r>
          </a:p>
          <a:p>
            <a:pPr marL="228600" indent="-228600" eaLnBrk="1" hangingPunct="1"/>
            <a:r>
              <a:rPr lang="en-US" altLang="en-US" sz="1000" dirty="0"/>
              <a:t>gray</a:t>
            </a:r>
          </a:p>
          <a:p>
            <a:pPr marL="228600" marR="0" lvl="0" indent="-228600" algn="l" defTabSz="914400" rtl="0" eaLnBrk="1" fontAlgn="base" latinLnBrk="0" hangingPunct="1">
              <a:lnSpc>
                <a:spcPct val="100000"/>
              </a:lnSpc>
              <a:spcBef>
                <a:spcPct val="30000"/>
              </a:spcBef>
              <a:spcAft>
                <a:spcPct val="0"/>
              </a:spcAft>
              <a:buClrTx/>
              <a:buSzTx/>
              <a:buFontTx/>
              <a:buNone/>
              <a:tabLst/>
              <a:defRPr/>
            </a:pPr>
            <a:r>
              <a:rPr lang="en-US" altLang="en-US" sz="1000" dirty="0"/>
              <a:t>I go to the Mozilla color names page and verify that the gray color name uses this RGB value.</a:t>
            </a:r>
          </a:p>
        </p:txBody>
      </p:sp>
    </p:spTree>
    <p:extLst>
      <p:ext uri="{BB962C8B-B14F-4D97-AF65-F5344CB8AC3E}">
        <p14:creationId xmlns:p14="http://schemas.microsoft.com/office/powerpoint/2010/main" val="24497234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8D1C1D9-BD0C-4FA1-8D3B-C619CF77F76C}" type="slidenum">
              <a:rPr lang="en-US" altLang="en-US" smtClean="0">
                <a:latin typeface="Tahoma" panose="020B0604030504040204" pitchFamily="34" charset="0"/>
              </a:rPr>
              <a:pPr>
                <a:spcBef>
                  <a:spcPct val="0"/>
                </a:spcBef>
              </a:pPr>
              <a:t>32</a:t>
            </a:fld>
            <a:endParaRPr lang="en-US" altLang="en-US">
              <a:latin typeface="Tahoma" panose="020B0604030504040204" pitchFamily="34" charset="0"/>
            </a:endParaRPr>
          </a:p>
        </p:txBody>
      </p:sp>
      <p:sp>
        <p:nvSpPr>
          <p:cNvPr id="61443" name="Rectangle 2"/>
          <p:cNvSpPr>
            <a:spLocks noGrp="1" noRot="1" noChangeAspect="1" noChangeArrowheads="1" noTextEdit="1"/>
          </p:cNvSpPr>
          <p:nvPr>
            <p:ph type="sldImg"/>
          </p:nvPr>
        </p:nvSpPr>
        <p:spPr>
          <a:xfrm>
            <a:off x="406400" y="696913"/>
            <a:ext cx="6197600" cy="3486150"/>
          </a:xfrm>
          <a:ln/>
        </p:spPr>
      </p:sp>
      <p:sp>
        <p:nvSpPr>
          <p:cNvPr id="61444" name="Rectangle 3"/>
          <p:cNvSpPr>
            <a:spLocks noGrp="1" noChangeArrowheads="1"/>
          </p:cNvSpPr>
          <p:nvPr>
            <p:ph type="body" idx="1"/>
          </p:nvPr>
        </p:nvSpPr>
        <p:spPr>
          <a:xfrm>
            <a:off x="934720" y="4416426"/>
            <a:ext cx="5140960" cy="44148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What are the hexadecimal digits?</a:t>
            </a:r>
          </a:p>
          <a:p>
            <a:pPr marL="228600" indent="-228600" eaLnBrk="1" hangingPunct="1"/>
            <a:r>
              <a:rPr lang="en-US" altLang="en-US" sz="1000" dirty="0"/>
              <a:t>The decimal number system uses 10 digits - 0 through 9.</a:t>
            </a:r>
          </a:p>
          <a:p>
            <a:pPr marL="228600" indent="-228600" eaLnBrk="1" hangingPunct="1"/>
            <a:r>
              <a:rPr lang="en-US" altLang="en-US" sz="1000" dirty="0"/>
              <a:t>The hexadecimal number system uses 16 digits - 0 through 9 and A through F (which represent 10-15).</a:t>
            </a:r>
          </a:p>
          <a:p>
            <a:pPr marL="228600" indent="-228600" eaLnBrk="1" hangingPunct="1"/>
            <a:endParaRPr lang="en-US" altLang="en-US" sz="1000" dirty="0"/>
          </a:p>
          <a:p>
            <a:pPr marL="228600" indent="-228600" eaLnBrk="1" hangingPunct="1"/>
            <a:r>
              <a:rPr lang="en-US" altLang="en-US" sz="1000" dirty="0"/>
              <a:t>2. light blue, animate</a:t>
            </a:r>
          </a:p>
          <a:p>
            <a:pPr marL="228600" indent="-228600" eaLnBrk="1" hangingPunct="1"/>
            <a:r>
              <a:rPr lang="en-US" altLang="en-US" sz="1000" dirty="0"/>
              <a:t>dark green, animate</a:t>
            </a:r>
          </a:p>
          <a:p>
            <a:pPr marL="228600" indent="-228600" eaLnBrk="1" hangingPunct="1"/>
            <a:endParaRPr lang="en-US" altLang="en-US" sz="1000" dirty="0"/>
          </a:p>
          <a:p>
            <a:pPr marL="228600" indent="-228600" eaLnBrk="1" hangingPunct="1"/>
            <a:r>
              <a:rPr lang="en-US" altLang="en-US" sz="1000" dirty="0"/>
              <a:t>3. What color does the CSS rule generate?</a:t>
            </a:r>
          </a:p>
          <a:p>
            <a:pPr marL="228600" indent="-228600" eaLnBrk="1" hangingPunct="1"/>
            <a:r>
              <a:rPr lang="en-US" altLang="en-US" sz="1000" dirty="0"/>
              <a:t>light reddish brown background</a:t>
            </a:r>
          </a:p>
          <a:p>
            <a:pPr marL="228600" marR="0" lvl="0" indent="-228600" algn="l" defTabSz="914400" rtl="0" eaLnBrk="1" fontAlgn="base" latinLnBrk="0" hangingPunct="1">
              <a:lnSpc>
                <a:spcPct val="100000"/>
              </a:lnSpc>
              <a:spcBef>
                <a:spcPct val="30000"/>
              </a:spcBef>
              <a:spcAft>
                <a:spcPct val="0"/>
              </a:spcAft>
              <a:buClrTx/>
              <a:buSzTx/>
              <a:buFontTx/>
              <a:buNone/>
              <a:tabLst/>
              <a:defRPr/>
            </a:pPr>
            <a:r>
              <a:rPr lang="en-US" altLang="en-US" sz="1000" dirty="0"/>
              <a:t>Animate</a:t>
            </a:r>
          </a:p>
          <a:p>
            <a:pPr marL="228600" marR="0" lvl="0" indent="-228600" algn="l" defTabSz="914400" rtl="0" eaLnBrk="1" fontAlgn="base" latinLnBrk="0" hangingPunct="1">
              <a:lnSpc>
                <a:spcPct val="100000"/>
              </a:lnSpc>
              <a:spcBef>
                <a:spcPct val="30000"/>
              </a:spcBef>
              <a:spcAft>
                <a:spcPct val="0"/>
              </a:spcAft>
              <a:buClrTx/>
              <a:buSzTx/>
              <a:buFontTx/>
              <a:buNone/>
              <a:tabLst/>
              <a:defRPr/>
            </a:pPr>
            <a:endParaRPr lang="en-US" altLang="en-US" sz="1000" dirty="0"/>
          </a:p>
          <a:p>
            <a:pPr marL="228600" indent="-228600" eaLnBrk="1" hangingPunct="1"/>
            <a:r>
              <a:rPr lang="en-US" altLang="en-US" sz="1000" dirty="0"/>
              <a:t>Irrelevant fun fact:</a:t>
            </a:r>
          </a:p>
          <a:p>
            <a:pPr marL="228600" indent="-228600" eaLnBrk="1" hangingPunct="1"/>
            <a:r>
              <a:rPr lang="en-US" altLang="en-US" sz="1000" dirty="0"/>
              <a:t>Benjamin Moore produces a paint for this color - what is Benjamin Moore's name?</a:t>
            </a:r>
          </a:p>
          <a:p>
            <a:pPr marL="228600" indent="-228600" eaLnBrk="1" hangingPunct="1"/>
            <a:r>
              <a:rPr lang="en-US" altLang="en-US" sz="1000" dirty="0"/>
              <a:t>The class selector is a hint.</a:t>
            </a:r>
          </a:p>
          <a:p>
            <a:pPr marL="228600" indent="-228600" eaLnBrk="1" hangingPunct="1"/>
            <a:r>
              <a:rPr lang="en-US" altLang="en-US" sz="1000" dirty="0"/>
              <a:t>nacho cheese</a:t>
            </a:r>
          </a:p>
          <a:p>
            <a:pPr marL="228600" indent="-228600" eaLnBrk="1" hangingPunct="1"/>
            <a:endParaRPr lang="en-US" altLang="en-US" sz="1000" dirty="0"/>
          </a:p>
          <a:p>
            <a:pPr marL="228600" indent="-228600" eaLnBrk="1" hangingPunct="1"/>
            <a:r>
              <a:rPr lang="en-US" altLang="en-US" sz="1000" dirty="0"/>
              <a:t>4. The CSS3 standard says that RGB hexadecimal digits are case insensitive, so in the example, it would be legal to use uppercase F, D, and C.</a:t>
            </a:r>
          </a:p>
          <a:p>
            <a:pPr marL="228600" indent="-228600" eaLnBrk="1" hangingPunct="1"/>
            <a:r>
              <a:rPr lang="en-US" altLang="en-US" sz="1000" dirty="0"/>
              <a:t>You'll see lowercase and uppercase on the W3C site and in the real world.</a:t>
            </a:r>
          </a:p>
          <a:p>
            <a:pPr marL="228600" indent="-228600" eaLnBrk="1" hangingPunct="1"/>
            <a:r>
              <a:rPr lang="en-US" altLang="en-US" sz="1000" dirty="0"/>
              <a:t>I prefer that you use lowercase to be consistent with our HTML coding conventions, which say to use lowercase values unless there’s a reason to do otherwise.</a:t>
            </a:r>
          </a:p>
        </p:txBody>
      </p:sp>
    </p:spTree>
    <p:extLst>
      <p:ext uri="{BB962C8B-B14F-4D97-AF65-F5344CB8AC3E}">
        <p14:creationId xmlns:p14="http://schemas.microsoft.com/office/powerpoint/2010/main" val="41380620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C27C373-1C18-49BF-8E63-56DF4A5F09BD}" type="slidenum">
              <a:rPr lang="en-US" altLang="en-US" smtClean="0">
                <a:latin typeface="Tahoma" panose="020B0604030504040204" pitchFamily="34" charset="0"/>
              </a:rPr>
              <a:pPr>
                <a:spcBef>
                  <a:spcPct val="0"/>
                </a:spcBef>
              </a:pPr>
              <a:t>33</a:t>
            </a:fld>
            <a:endParaRPr lang="en-US" altLang="en-US">
              <a:latin typeface="Tahoma" panose="020B0604030504040204" pitchFamily="34" charset="0"/>
            </a:endParaRPr>
          </a:p>
        </p:txBody>
      </p:sp>
      <p:sp>
        <p:nvSpPr>
          <p:cNvPr id="63491" name="Rectangle 2"/>
          <p:cNvSpPr>
            <a:spLocks noGrp="1" noRot="1" noChangeAspect="1" noChangeArrowheads="1" noTextEdit="1"/>
          </p:cNvSpPr>
          <p:nvPr>
            <p:ph type="sldImg"/>
          </p:nvPr>
        </p:nvSpPr>
        <p:spPr>
          <a:xfrm>
            <a:off x="406400" y="696913"/>
            <a:ext cx="6197600" cy="3486150"/>
          </a:xfrm>
          <a:ln/>
        </p:spPr>
      </p:sp>
      <p:sp>
        <p:nvSpPr>
          <p:cNvPr id="63492" name="Rectangle 3"/>
          <p:cNvSpPr>
            <a:spLocks noGrp="1" noChangeArrowheads="1"/>
          </p:cNvSpPr>
          <p:nvPr>
            <p:ph type="body" idx="1"/>
          </p:nvPr>
        </p:nvSpPr>
        <p:spPr>
          <a:xfrm>
            <a:off x="934720" y="4416428"/>
            <a:ext cx="5140960" cy="47275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The A in RGBA stands for alpha.</a:t>
            </a:r>
          </a:p>
          <a:p>
            <a:pPr marL="228600" indent="-228600" eaLnBrk="1" hangingPunct="1"/>
            <a:r>
              <a:rPr lang="en-US" altLang="en-US" sz="1000" dirty="0"/>
              <a:t>The CSS3 standards people probably chose alpha simply because it's the first letter in the Greek alphabet, but I'm not sure.</a:t>
            </a:r>
          </a:p>
          <a:p>
            <a:pPr marL="228600" indent="-228600" eaLnBrk="1" hangingPunct="1"/>
            <a:r>
              <a:rPr lang="en-US" altLang="en-US" sz="1000" dirty="0"/>
              <a:t>I wish it were O for opacity.</a:t>
            </a:r>
          </a:p>
          <a:p>
            <a:pPr marL="228600" indent="-228600" eaLnBrk="1" hangingPunct="1"/>
            <a:r>
              <a:rPr lang="en-US" altLang="en-US" sz="1000" dirty="0"/>
              <a:t>Opacity refers to the inability to see through something.</a:t>
            </a:r>
          </a:p>
          <a:p>
            <a:pPr marL="228600" indent="-228600" eaLnBrk="1" hangingPunct="1"/>
            <a:r>
              <a:rPr lang="en-US" altLang="en-US" sz="1000" dirty="0"/>
              <a:t>It's the opposite of transparency.</a:t>
            </a:r>
          </a:p>
        </p:txBody>
      </p:sp>
    </p:spTree>
    <p:extLst>
      <p:ext uri="{BB962C8B-B14F-4D97-AF65-F5344CB8AC3E}">
        <p14:creationId xmlns:p14="http://schemas.microsoft.com/office/powerpoint/2010/main" val="15596082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C27C373-1C18-49BF-8E63-56DF4A5F09BD}" type="slidenum">
              <a:rPr lang="en-US" altLang="en-US" smtClean="0">
                <a:latin typeface="Tahoma" panose="020B0604030504040204" pitchFamily="34" charset="0"/>
              </a:rPr>
              <a:pPr>
                <a:spcBef>
                  <a:spcPct val="0"/>
                </a:spcBef>
              </a:pPr>
              <a:t>34</a:t>
            </a:fld>
            <a:endParaRPr lang="en-US" altLang="en-US">
              <a:latin typeface="Tahoma" panose="020B0604030504040204" pitchFamily="34" charset="0"/>
            </a:endParaRPr>
          </a:p>
        </p:txBody>
      </p:sp>
      <p:sp>
        <p:nvSpPr>
          <p:cNvPr id="63491" name="Rectangle 2"/>
          <p:cNvSpPr>
            <a:spLocks noGrp="1" noRot="1" noChangeAspect="1" noChangeArrowheads="1" noTextEdit="1"/>
          </p:cNvSpPr>
          <p:nvPr>
            <p:ph type="sldImg"/>
          </p:nvPr>
        </p:nvSpPr>
        <p:spPr>
          <a:xfrm>
            <a:off x="406400" y="696913"/>
            <a:ext cx="6197600" cy="3486150"/>
          </a:xfrm>
          <a:ln/>
        </p:spPr>
      </p:sp>
      <p:sp>
        <p:nvSpPr>
          <p:cNvPr id="63492" name="Rectangle 3"/>
          <p:cNvSpPr>
            <a:spLocks noGrp="1" noChangeArrowheads="1"/>
          </p:cNvSpPr>
          <p:nvPr>
            <p:ph type="body" idx="1"/>
          </p:nvPr>
        </p:nvSpPr>
        <p:spPr>
          <a:xfrm>
            <a:off x="934720" y="4416428"/>
            <a:ext cx="5140960" cy="47275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The A in RGBA stands for alpha.</a:t>
            </a:r>
          </a:p>
          <a:p>
            <a:pPr marL="228600" indent="-228600" eaLnBrk="1" hangingPunct="1"/>
            <a:r>
              <a:rPr lang="en-US" altLang="en-US" sz="1000" dirty="0"/>
              <a:t>The CSS3 standards people probably chose alpha simply because it's the first letter in the Greek alphabet, but I'm not sure.</a:t>
            </a:r>
          </a:p>
          <a:p>
            <a:pPr marL="228600" indent="-228600" eaLnBrk="1" hangingPunct="1"/>
            <a:r>
              <a:rPr lang="en-US" altLang="en-US" sz="1000" dirty="0"/>
              <a:t>I wish it were O for opacity.</a:t>
            </a:r>
          </a:p>
          <a:p>
            <a:pPr marL="228600" indent="-228600" eaLnBrk="1" hangingPunct="1"/>
            <a:r>
              <a:rPr lang="en-US" altLang="en-US" sz="1000" dirty="0"/>
              <a:t>Opacity refers to the inability to see through something.</a:t>
            </a:r>
          </a:p>
          <a:p>
            <a:pPr marL="228600" indent="-228600" eaLnBrk="1" hangingPunct="1"/>
            <a:r>
              <a:rPr lang="en-US" altLang="en-US" sz="1000" dirty="0"/>
              <a:t>It's the opposite of transparency.</a:t>
            </a:r>
          </a:p>
        </p:txBody>
      </p:sp>
    </p:spTree>
    <p:extLst>
      <p:ext uri="{BB962C8B-B14F-4D97-AF65-F5344CB8AC3E}">
        <p14:creationId xmlns:p14="http://schemas.microsoft.com/office/powerpoint/2010/main" val="39890265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F787AC7-3B67-4968-9535-101E3BBFED4E}" type="slidenum">
              <a:rPr lang="en-US" altLang="en-US" smtClean="0">
                <a:latin typeface="Tahoma" panose="020B0604030504040204" pitchFamily="34" charset="0"/>
              </a:rPr>
              <a:pPr>
                <a:spcBef>
                  <a:spcPct val="0"/>
                </a:spcBef>
              </a:pPr>
              <a:t>35</a:t>
            </a:fld>
            <a:endParaRPr lang="en-US" altLang="en-US">
              <a:latin typeface="Tahoma" panose="020B0604030504040204" pitchFamily="34" charset="0"/>
            </a:endParaRPr>
          </a:p>
        </p:txBody>
      </p:sp>
      <p:sp>
        <p:nvSpPr>
          <p:cNvPr id="65539" name="Rectangle 2"/>
          <p:cNvSpPr>
            <a:spLocks noGrp="1" noRot="1" noChangeAspect="1" noChangeArrowheads="1" noTextEdit="1"/>
          </p:cNvSpPr>
          <p:nvPr>
            <p:ph type="sldImg"/>
          </p:nvPr>
        </p:nvSpPr>
        <p:spPr>
          <a:xfrm>
            <a:off x="406400" y="696913"/>
            <a:ext cx="6197600" cy="3486150"/>
          </a:xfrm>
          <a:ln/>
        </p:spPr>
      </p:sp>
      <p:sp>
        <p:nvSpPr>
          <p:cNvPr id="65540" name="Rectangle 3"/>
          <p:cNvSpPr>
            <a:spLocks noGrp="1" noChangeArrowheads="1"/>
          </p:cNvSpPr>
          <p:nvPr>
            <p:ph type="body" idx="1"/>
          </p:nvPr>
        </p:nvSpPr>
        <p:spPr>
          <a:xfrm>
            <a:off x="934720" y="4416428"/>
            <a:ext cx="5140960" cy="47275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The point of this example is the second sentence's orange background - it's formed with a transparent yellow background on top of the web page's red background.</a:t>
            </a:r>
          </a:p>
          <a:p>
            <a:pPr marL="228600" indent="-228600" eaLnBrk="1" hangingPunct="1"/>
            <a:r>
              <a:rPr lang="en-US" altLang="en-US" sz="1000" dirty="0"/>
              <a:t>Before looking at the transparent yellow background code, let's first examine the simpler code…</a:t>
            </a:r>
          </a:p>
          <a:p>
            <a:pPr marL="228600" indent="-228600" eaLnBrk="1" hangingPunct="1"/>
            <a:endParaRPr lang="en-US" altLang="en-US" sz="1000" dirty="0"/>
          </a:p>
          <a:p>
            <a:pPr marL="228600" indent="-228600" eaLnBrk="1" hangingPunct="1"/>
            <a:r>
              <a:rPr lang="en-US" altLang="en-US" sz="1000" dirty="0"/>
              <a:t>2. Note the code that generates the browser window's red background color - the .red class selector rule and the class attribute in the body element.</a:t>
            </a:r>
          </a:p>
          <a:p>
            <a:pPr marL="228600" indent="-228600" eaLnBrk="1" hangingPunct="1"/>
            <a:endParaRPr lang="en-US" altLang="en-US" sz="1000" dirty="0"/>
          </a:p>
          <a:p>
            <a:pPr marL="228600" indent="-228600" eaLnBrk="1" hangingPunct="1"/>
            <a:r>
              <a:rPr lang="en-US" altLang="en-US" sz="1000" dirty="0"/>
              <a:t>3. Note the browser window's yellow background sentence and the code that generates it - the .yellow-</a:t>
            </a:r>
            <a:r>
              <a:rPr lang="en-US" altLang="en-US" sz="1000" dirty="0" err="1"/>
              <a:t>bg</a:t>
            </a:r>
            <a:r>
              <a:rPr lang="en-US" altLang="en-US" sz="1000" dirty="0"/>
              <a:t> class selector rule and the class attribute in the 1</a:t>
            </a:r>
            <a:r>
              <a:rPr lang="en-US" altLang="en-US" sz="1000" baseline="30000" dirty="0"/>
              <a:t>st</a:t>
            </a:r>
            <a:r>
              <a:rPr lang="en-US" altLang="en-US" sz="1000" dirty="0"/>
              <a:t> p element.</a:t>
            </a:r>
          </a:p>
          <a:p>
            <a:pPr marL="228600" indent="-228600" eaLnBrk="1" hangingPunct="1"/>
            <a:endParaRPr lang="en-US" altLang="en-US" sz="1000" dirty="0"/>
          </a:p>
          <a:p>
            <a:pPr marL="228600" indent="-228600" eaLnBrk="1" hangingPunct="1"/>
            <a:r>
              <a:rPr lang="en-US" altLang="en-US" sz="1000" dirty="0"/>
              <a:t>4. Finally, note the browser window's orange background sentence and the code that generates it - the .yellow-bg2 class selector rule and the class attribute in the 2</a:t>
            </a:r>
            <a:r>
              <a:rPr lang="en-US" altLang="en-US" sz="1000" baseline="30000" dirty="0"/>
              <a:t>nd</a:t>
            </a:r>
            <a:r>
              <a:rPr lang="en-US" altLang="en-US" sz="1000" dirty="0"/>
              <a:t> p element.</a:t>
            </a:r>
          </a:p>
          <a:p>
            <a:pPr marL="228600" indent="-228600" eaLnBrk="1" hangingPunct="1"/>
            <a:endParaRPr lang="en-US" altLang="en-US" sz="1000" dirty="0"/>
          </a:p>
          <a:p>
            <a:pPr marL="228600" indent="-228600" eaLnBrk="1" hangingPunct="1"/>
            <a:r>
              <a:rPr lang="en-US" altLang="en-US" sz="1000" dirty="0"/>
              <a:t>[5. As an alternative to using </a:t>
            </a:r>
            <a:r>
              <a:rPr lang="en-US" altLang="en-US" sz="1000" dirty="0" err="1"/>
              <a:t>rgba</a:t>
            </a:r>
            <a:r>
              <a:rPr lang="en-US" altLang="en-US" sz="1000" dirty="0"/>
              <a:t>, you can use </a:t>
            </a:r>
            <a:r>
              <a:rPr lang="en-US" altLang="en-US" sz="1000" dirty="0" err="1"/>
              <a:t>rgb</a:t>
            </a:r>
            <a:r>
              <a:rPr lang="en-US" altLang="en-US" sz="1000" dirty="0"/>
              <a:t> in conjunction with the opacity property:</a:t>
            </a:r>
          </a:p>
          <a:p>
            <a:pPr marL="228600" indent="-228600" eaLnBrk="1" hangingPunct="1"/>
            <a:r>
              <a:rPr lang="en-US" altLang="en-US" sz="1000" dirty="0"/>
              <a:t>.yellow-bg3 {background-color: </a:t>
            </a:r>
            <a:r>
              <a:rPr lang="en-US" altLang="en-US" sz="1000" dirty="0" err="1"/>
              <a:t>rgb</a:t>
            </a:r>
            <a:r>
              <a:rPr lang="en-US" altLang="en-US" sz="1000" dirty="0"/>
              <a:t>(255,255,0); opacity: .4;}</a:t>
            </a:r>
          </a:p>
          <a:p>
            <a:pPr marL="228600" indent="-228600" eaLnBrk="1" hangingPunct="1"/>
            <a:endParaRPr lang="en-US" altLang="en-US" sz="1000" dirty="0"/>
          </a:p>
          <a:p>
            <a:pPr marL="228600" indent="-228600" eaLnBrk="1" hangingPunct="1"/>
            <a:r>
              <a:rPr lang="en-US" altLang="en-US" sz="1000" dirty="0"/>
              <a:t>The opacity property specifies how opaque an element's color properties are (color and  background-color).</a:t>
            </a:r>
          </a:p>
          <a:p>
            <a:pPr marL="228600" indent="-228600" eaLnBrk="1" hangingPunct="1"/>
            <a:r>
              <a:rPr lang="en-US" altLang="en-US" sz="1000" dirty="0"/>
              <a:t>For more details, see https://developer.mozilla.org/en-US/docs/Web/CSS/opacity</a:t>
            </a:r>
          </a:p>
          <a:p>
            <a:pPr marL="228600" indent="-228600" eaLnBrk="1" hangingPunct="1"/>
            <a:endParaRPr lang="en-US" altLang="en-US" sz="1000" dirty="0"/>
          </a:p>
          <a:p>
            <a:pPr marL="228600" indent="-228600" eaLnBrk="1" hangingPunct="1"/>
            <a:r>
              <a:rPr lang="en-US" altLang="en-US" sz="1000" dirty="0"/>
              <a:t>The only difference is that the opacity property gets inherited by the element's children and the </a:t>
            </a:r>
            <a:r>
              <a:rPr lang="en-US" altLang="en-US" sz="1000" dirty="0" err="1"/>
              <a:t>rgba</a:t>
            </a:r>
            <a:r>
              <a:rPr lang="en-US" altLang="en-US" sz="1000" dirty="0"/>
              <a:t> property does not get inherited. ]</a:t>
            </a:r>
          </a:p>
        </p:txBody>
      </p:sp>
    </p:spTree>
    <p:extLst>
      <p:ext uri="{BB962C8B-B14F-4D97-AF65-F5344CB8AC3E}">
        <p14:creationId xmlns:p14="http://schemas.microsoft.com/office/powerpoint/2010/main" val="15628360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A41E762-AF90-4AE4-9F84-98171AD621A7}" type="slidenum">
              <a:rPr lang="en-US" altLang="en-US" smtClean="0">
                <a:latin typeface="Tahoma" panose="020B0604030504040204" pitchFamily="34" charset="0"/>
              </a:rPr>
              <a:pPr>
                <a:spcBef>
                  <a:spcPct val="0"/>
                </a:spcBef>
              </a:pPr>
              <a:t>36</a:t>
            </a:fld>
            <a:endParaRPr lang="en-US" altLang="en-US">
              <a:latin typeface="Tahoma" panose="020B0604030504040204" pitchFamily="34" charset="0"/>
            </a:endParaRPr>
          </a:p>
        </p:txBody>
      </p:sp>
      <p:sp>
        <p:nvSpPr>
          <p:cNvPr id="67587" name="Rectangle 2"/>
          <p:cNvSpPr>
            <a:spLocks noGrp="1" noRot="1" noChangeAspect="1" noChangeArrowheads="1" noTextEdit="1"/>
          </p:cNvSpPr>
          <p:nvPr>
            <p:ph type="sldImg"/>
          </p:nvPr>
        </p:nvSpPr>
        <p:spPr>
          <a:xfrm>
            <a:off x="406400" y="696913"/>
            <a:ext cx="6197600" cy="3486150"/>
          </a:xfrm>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a:t> </a:t>
            </a:r>
          </a:p>
        </p:txBody>
      </p:sp>
    </p:spTree>
    <p:extLst>
      <p:ext uri="{BB962C8B-B14F-4D97-AF65-F5344CB8AC3E}">
        <p14:creationId xmlns:p14="http://schemas.microsoft.com/office/powerpoint/2010/main" val="7408879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C3F348A-4098-41D9-AC12-24704DF9C420}" type="slidenum">
              <a:rPr lang="en-US" altLang="en-US" smtClean="0">
                <a:latin typeface="Tahoma" panose="020B0604030504040204" pitchFamily="34" charset="0"/>
              </a:rPr>
              <a:pPr>
                <a:spcBef>
                  <a:spcPct val="0"/>
                </a:spcBef>
              </a:pPr>
              <a:t>37</a:t>
            </a:fld>
            <a:endParaRPr lang="en-US" altLang="en-US">
              <a:latin typeface="Tahoma" panose="020B0604030504040204" pitchFamily="34" charset="0"/>
            </a:endParaRPr>
          </a:p>
        </p:txBody>
      </p:sp>
      <p:sp>
        <p:nvSpPr>
          <p:cNvPr id="69635" name="Rectangle 2"/>
          <p:cNvSpPr>
            <a:spLocks noGrp="1" noRot="1" noChangeAspect="1" noChangeArrowheads="1" noTextEdit="1"/>
          </p:cNvSpPr>
          <p:nvPr>
            <p:ph type="sldImg"/>
          </p:nvPr>
        </p:nvSpPr>
        <p:spPr>
          <a:xfrm>
            <a:off x="406400" y="696913"/>
            <a:ext cx="6197600" cy="3486150"/>
          </a:xfrm>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Do</a:t>
            </a:r>
            <a:r>
              <a:rPr lang="en-US" altLang="en-US" sz="1000" baseline="0" dirty="0"/>
              <a:t> not read the slide title because the first bullet is still about HSL, not HSLA.</a:t>
            </a:r>
            <a:endParaRPr lang="en-US" altLang="en-US" sz="1000" dirty="0"/>
          </a:p>
          <a:p>
            <a:pPr marL="228600" indent="-228600" eaLnBrk="1" hangingPunct="1"/>
            <a:endParaRPr lang="en-US" altLang="en-US" sz="1000" dirty="0"/>
          </a:p>
          <a:p>
            <a:pPr marL="228600" indent="-228600" eaLnBrk="1" hangingPunct="1"/>
            <a:r>
              <a:rPr lang="en-US" altLang="en-US" sz="1000" dirty="0"/>
              <a:t>2. On that page, I ask the students to change the HSL code to generate this background color.</a:t>
            </a:r>
          </a:p>
          <a:p>
            <a:pPr marL="228600" indent="-228600" eaLnBrk="1" hangingPunct="1"/>
            <a:r>
              <a:rPr lang="en-US" altLang="en-US" sz="1000" dirty="0"/>
              <a:t>Answer:</a:t>
            </a:r>
          </a:p>
          <a:p>
            <a:pPr marL="228600" indent="-228600" eaLnBrk="1" hangingPunct="1"/>
            <a:r>
              <a:rPr lang="en-US" altLang="en-US" sz="1000" dirty="0"/>
              <a:t>p {background-color: </a:t>
            </a:r>
            <a:r>
              <a:rPr lang="en-US" altLang="en-US" sz="1000" dirty="0" err="1"/>
              <a:t>hsl</a:t>
            </a:r>
            <a:r>
              <a:rPr lang="en-US" altLang="en-US" sz="1000" dirty="0"/>
              <a:t>(240,50%,75%);}</a:t>
            </a:r>
          </a:p>
          <a:p>
            <a:pPr marL="228600" indent="-228600" eaLnBrk="1" hangingPunct="1"/>
            <a:endParaRPr lang="en-US" altLang="en-US" sz="1000" dirty="0"/>
          </a:p>
          <a:p>
            <a:pPr marL="228600" indent="-228600" eaLnBrk="1" hangingPunct="1"/>
            <a:r>
              <a:rPr lang="en-US" altLang="en-US" sz="1000" dirty="0"/>
              <a:t>3. This should look familiar in that it mimics RGBA’s opacity value.</a:t>
            </a:r>
          </a:p>
          <a:p>
            <a:pPr marL="228600" indent="-228600" eaLnBrk="1" hangingPunct="1"/>
            <a:endParaRPr lang="en-US" altLang="en-US" sz="1000" dirty="0"/>
          </a:p>
          <a:p>
            <a:pPr marL="228600" indent="-228600" eaLnBrk="1" hangingPunct="1"/>
            <a:r>
              <a:rPr lang="en-US" altLang="en-US" sz="1000" dirty="0"/>
              <a:t>4. What color is specified?</a:t>
            </a:r>
          </a:p>
          <a:p>
            <a:pPr marL="228600" indent="-228600" eaLnBrk="1" hangingPunct="1"/>
            <a:r>
              <a:rPr lang="en-US" altLang="en-US" sz="1000" dirty="0"/>
              <a:t>It's the same color as shown above, except</a:t>
            </a:r>
            <a:r>
              <a:rPr lang="en-US" altLang="en-US" sz="1000" baseline="0" dirty="0"/>
              <a:t> lighter.</a:t>
            </a:r>
          </a:p>
          <a:p>
            <a:pPr marL="228600" indent="-228600" eaLnBrk="1" hangingPunct="1"/>
            <a:r>
              <a:rPr lang="en-US" altLang="en-US" sz="1000" baseline="0" dirty="0"/>
              <a:t>The lightness comes from the white background blending with the 50% opacity value.</a:t>
            </a:r>
          </a:p>
          <a:p>
            <a:pPr marL="228600" indent="-228600" eaLnBrk="1" hangingPunct="1"/>
            <a:r>
              <a:rPr lang="en-US" altLang="en-US" sz="1000" baseline="0" dirty="0"/>
              <a:t>Animate.</a:t>
            </a:r>
          </a:p>
        </p:txBody>
      </p:sp>
    </p:spTree>
    <p:extLst>
      <p:ext uri="{BB962C8B-B14F-4D97-AF65-F5344CB8AC3E}">
        <p14:creationId xmlns:p14="http://schemas.microsoft.com/office/powerpoint/2010/main" val="34858512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C3F348A-4098-41D9-AC12-24704DF9C420}" type="slidenum">
              <a:rPr lang="en-US" altLang="en-US" smtClean="0">
                <a:latin typeface="Tahoma" panose="020B0604030504040204" pitchFamily="34" charset="0"/>
              </a:rPr>
              <a:pPr>
                <a:spcBef>
                  <a:spcPct val="0"/>
                </a:spcBef>
              </a:pPr>
              <a:t>38</a:t>
            </a:fld>
            <a:endParaRPr lang="en-US" altLang="en-US">
              <a:latin typeface="Tahoma" panose="020B0604030504040204" pitchFamily="34" charset="0"/>
            </a:endParaRPr>
          </a:p>
        </p:txBody>
      </p:sp>
      <p:sp>
        <p:nvSpPr>
          <p:cNvPr id="69635" name="Rectangle 2"/>
          <p:cNvSpPr>
            <a:spLocks noGrp="1" noRot="1" noChangeAspect="1" noChangeArrowheads="1" noTextEdit="1"/>
          </p:cNvSpPr>
          <p:nvPr>
            <p:ph type="sldImg"/>
          </p:nvPr>
        </p:nvSpPr>
        <p:spPr>
          <a:xfrm>
            <a:off x="406400" y="696913"/>
            <a:ext cx="6197600" cy="3486150"/>
          </a:xfrm>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Do</a:t>
            </a:r>
            <a:r>
              <a:rPr lang="en-US" altLang="en-US" sz="1000" baseline="0" dirty="0"/>
              <a:t> not read the slide title because the first bullet is still about HSL, not HSLA.</a:t>
            </a:r>
            <a:endParaRPr lang="en-US" altLang="en-US" sz="1000" dirty="0"/>
          </a:p>
          <a:p>
            <a:pPr marL="228600" indent="-228600" eaLnBrk="1" hangingPunct="1"/>
            <a:endParaRPr lang="en-US" altLang="en-US" sz="1000" dirty="0"/>
          </a:p>
          <a:p>
            <a:pPr marL="228600" indent="-228600" eaLnBrk="1" hangingPunct="1"/>
            <a:r>
              <a:rPr lang="en-US" altLang="en-US" sz="1000" dirty="0"/>
              <a:t>2. On that page, I ask the students to change the HSL code to generate this background color.</a:t>
            </a:r>
          </a:p>
          <a:p>
            <a:pPr marL="228600" indent="-228600" eaLnBrk="1" hangingPunct="1"/>
            <a:r>
              <a:rPr lang="en-US" altLang="en-US" sz="1000" dirty="0"/>
              <a:t>Answer:</a:t>
            </a:r>
          </a:p>
          <a:p>
            <a:pPr marL="228600" indent="-228600" eaLnBrk="1" hangingPunct="1"/>
            <a:r>
              <a:rPr lang="en-US" altLang="en-US" sz="1000" dirty="0"/>
              <a:t>p {background-color: </a:t>
            </a:r>
            <a:r>
              <a:rPr lang="en-US" altLang="en-US" sz="1000" dirty="0" err="1"/>
              <a:t>hsl</a:t>
            </a:r>
            <a:r>
              <a:rPr lang="en-US" altLang="en-US" sz="1000" dirty="0"/>
              <a:t>(240,50%,75%);}</a:t>
            </a:r>
          </a:p>
          <a:p>
            <a:pPr marL="228600" indent="-228600" eaLnBrk="1" hangingPunct="1"/>
            <a:endParaRPr lang="en-US" altLang="en-US" sz="1000" dirty="0"/>
          </a:p>
          <a:p>
            <a:pPr marL="228600" indent="-228600" eaLnBrk="1" hangingPunct="1"/>
            <a:r>
              <a:rPr lang="en-US" altLang="en-US" sz="1000" dirty="0"/>
              <a:t>3. This should look familiar in that it mimics RGBA’s opacity value.</a:t>
            </a:r>
          </a:p>
          <a:p>
            <a:pPr marL="228600" indent="-228600" eaLnBrk="1" hangingPunct="1"/>
            <a:endParaRPr lang="en-US" altLang="en-US" sz="1000" dirty="0"/>
          </a:p>
          <a:p>
            <a:pPr marL="228600" indent="-228600" eaLnBrk="1" hangingPunct="1"/>
            <a:r>
              <a:rPr lang="en-US" altLang="en-US" sz="1000" dirty="0"/>
              <a:t>4. What color is specified?</a:t>
            </a:r>
          </a:p>
          <a:p>
            <a:pPr marL="228600" indent="-228600" eaLnBrk="1" hangingPunct="1"/>
            <a:r>
              <a:rPr lang="en-US" altLang="en-US" sz="1000" dirty="0"/>
              <a:t>It's the same color as shown above, except</a:t>
            </a:r>
            <a:r>
              <a:rPr lang="en-US" altLang="en-US" sz="1000" baseline="0" dirty="0"/>
              <a:t> lighter.</a:t>
            </a:r>
          </a:p>
          <a:p>
            <a:pPr marL="228600" indent="-228600" eaLnBrk="1" hangingPunct="1"/>
            <a:r>
              <a:rPr lang="en-US" altLang="en-US" sz="1000" baseline="0" dirty="0"/>
              <a:t>The lightness comes from the white background blending with the 50% opacity value.</a:t>
            </a:r>
          </a:p>
          <a:p>
            <a:pPr marL="228600" indent="-228600" eaLnBrk="1" hangingPunct="1"/>
            <a:r>
              <a:rPr lang="en-US" altLang="en-US" sz="1000" baseline="0" dirty="0"/>
              <a:t>Animate.</a:t>
            </a:r>
          </a:p>
        </p:txBody>
      </p:sp>
    </p:spTree>
    <p:extLst>
      <p:ext uri="{BB962C8B-B14F-4D97-AF65-F5344CB8AC3E}">
        <p14:creationId xmlns:p14="http://schemas.microsoft.com/office/powerpoint/2010/main" val="9268537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8100346-995E-49C3-B251-71EEFCC94ED4}" type="slidenum">
              <a:rPr lang="en-US" altLang="en-US" smtClean="0">
                <a:latin typeface="Tahoma" panose="020B0604030504040204" pitchFamily="34" charset="0"/>
              </a:rPr>
              <a:pPr>
                <a:spcBef>
                  <a:spcPct val="0"/>
                </a:spcBef>
              </a:pPr>
              <a:t>39</a:t>
            </a:fld>
            <a:endParaRPr lang="en-US" altLang="en-US">
              <a:latin typeface="Tahoma" panose="020B0604030504040204" pitchFamily="34" charset="0"/>
            </a:endParaRPr>
          </a:p>
        </p:txBody>
      </p:sp>
      <p:sp>
        <p:nvSpPr>
          <p:cNvPr id="75779" name="Rectangle 2"/>
          <p:cNvSpPr>
            <a:spLocks noGrp="1" noRot="1" noChangeAspect="1" noChangeArrowheads="1" noTextEdit="1"/>
          </p:cNvSpPr>
          <p:nvPr>
            <p:ph type="sldImg"/>
          </p:nvPr>
        </p:nvSpPr>
        <p:spPr>
          <a:xfrm>
            <a:off x="406400" y="696913"/>
            <a:ext cx="6197600" cy="3486150"/>
          </a:xfrm>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lnSpc>
                <a:spcPct val="80000"/>
              </a:lnSpc>
            </a:pPr>
            <a:r>
              <a:rPr lang="en-US" altLang="en-US" sz="1000"/>
              <a:t>1. We'll cover these font properties in the next several slides.</a:t>
            </a:r>
          </a:p>
        </p:txBody>
      </p:sp>
    </p:spTree>
    <p:extLst>
      <p:ext uri="{BB962C8B-B14F-4D97-AF65-F5344CB8AC3E}">
        <p14:creationId xmlns:p14="http://schemas.microsoft.com/office/powerpoint/2010/main" val="27619340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CD6D4C3-4696-44B6-B2B3-10372402B2AF}" type="slidenum">
              <a:rPr lang="en-US" altLang="en-US" smtClean="0">
                <a:latin typeface="Tahoma" panose="020B0604030504040204" pitchFamily="34" charset="0"/>
              </a:rPr>
              <a:pPr>
                <a:spcBef>
                  <a:spcPct val="0"/>
                </a:spcBef>
              </a:pPr>
              <a:t>40</a:t>
            </a:fld>
            <a:endParaRPr lang="en-US" altLang="en-US">
              <a:latin typeface="Tahoma" panose="020B0604030504040204" pitchFamily="34" charset="0"/>
            </a:endParaRPr>
          </a:p>
        </p:txBody>
      </p:sp>
      <p:sp>
        <p:nvSpPr>
          <p:cNvPr id="77827" name="Rectangle 2"/>
          <p:cNvSpPr>
            <a:spLocks noGrp="1" noRot="1" noChangeAspect="1" noChangeArrowheads="1" noTextEdit="1"/>
          </p:cNvSpPr>
          <p:nvPr>
            <p:ph type="sldImg"/>
          </p:nvPr>
        </p:nvSpPr>
        <p:spPr>
          <a:xfrm>
            <a:off x="406400" y="696913"/>
            <a:ext cx="6197600" cy="3486150"/>
          </a:xfrm>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lnSpc>
                <a:spcPct val="80000"/>
              </a:lnSpc>
            </a:pPr>
            <a:r>
              <a:rPr lang="en-US" altLang="en-US" sz="1000" dirty="0"/>
              <a:t>1. Go to https://developer.mozilla.org/en-US/docs/Web/CSS/font-style.</a:t>
            </a:r>
          </a:p>
          <a:p>
            <a:pPr marL="228600" indent="-228600" eaLnBrk="1" hangingPunct="1">
              <a:lnSpc>
                <a:spcPct val="80000"/>
              </a:lnSpc>
            </a:pPr>
            <a:r>
              <a:rPr lang="en-US" altLang="en-US" sz="1000" dirty="0"/>
              <a:t>Using the Try it tools, clicking on oblique and italic shows the same font.</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2. Since italics are so common, you should memorize this technique for generating italics.</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3. Since upright (normal) characters are the default, why would you ever want to specify normal for the font-style property?</a:t>
            </a:r>
          </a:p>
          <a:p>
            <a:pPr marL="228600" indent="-228600" eaLnBrk="1" hangingPunct="1">
              <a:lnSpc>
                <a:spcPct val="80000"/>
              </a:lnSpc>
            </a:pPr>
            <a:r>
              <a:rPr lang="en-US" altLang="en-US" sz="1000" dirty="0"/>
              <a:t>You might want to italicize a whole paragraph, except for one word in the paragraph.</a:t>
            </a:r>
          </a:p>
          <a:p>
            <a:pPr marL="228600" indent="-228600" eaLnBrk="1" hangingPunct="1">
              <a:lnSpc>
                <a:spcPct val="80000"/>
              </a:lnSpc>
            </a:pPr>
            <a:r>
              <a:rPr lang="en-US" altLang="en-US" sz="1000" dirty="0"/>
              <a:t>For that word, you should use font-style: normal.</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[4. There’s a global value, initial, and for the font-style property, initial uses the normal value.]</a:t>
            </a:r>
          </a:p>
          <a:p>
            <a:pPr marL="228600" indent="-228600" eaLnBrk="1" hangingPunct="1">
              <a:lnSpc>
                <a:spcPct val="80000"/>
              </a:lnSpc>
            </a:pPr>
            <a:endParaRPr lang="en-US" altLang="en-US" sz="1000" dirty="0"/>
          </a:p>
        </p:txBody>
      </p:sp>
    </p:spTree>
    <p:extLst>
      <p:ext uri="{BB962C8B-B14F-4D97-AF65-F5344CB8AC3E}">
        <p14:creationId xmlns:p14="http://schemas.microsoft.com/office/powerpoint/2010/main" val="19599775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7EF3A16-A870-4BC5-B098-7749C01B7278}" type="slidenum">
              <a:rPr lang="en-US" altLang="en-US" smtClean="0">
                <a:latin typeface="Tahoma" panose="020B0604030504040204" pitchFamily="34" charset="0"/>
              </a:rPr>
              <a:pPr>
                <a:spcBef>
                  <a:spcPct val="0"/>
                </a:spcBef>
              </a:pPr>
              <a:t>41</a:t>
            </a:fld>
            <a:endParaRPr lang="en-US" altLang="en-US">
              <a:latin typeface="Tahoma" panose="020B0604030504040204" pitchFamily="34" charset="0"/>
            </a:endParaRPr>
          </a:p>
        </p:txBody>
      </p:sp>
      <p:sp>
        <p:nvSpPr>
          <p:cNvPr id="79875" name="Rectangle 2"/>
          <p:cNvSpPr>
            <a:spLocks noGrp="1" noRot="1" noChangeAspect="1" noChangeArrowheads="1" noTextEdit="1"/>
          </p:cNvSpPr>
          <p:nvPr>
            <p:ph type="sldImg"/>
          </p:nvPr>
        </p:nvSpPr>
        <p:spPr>
          <a:xfrm>
            <a:off x="406400" y="619125"/>
            <a:ext cx="6197600" cy="3486150"/>
          </a:xfrm>
          <a:ln/>
        </p:spPr>
      </p:sp>
      <p:sp>
        <p:nvSpPr>
          <p:cNvPr id="79876" name="Rectangle 3"/>
          <p:cNvSpPr>
            <a:spLocks noGrp="1" noChangeArrowheads="1"/>
          </p:cNvSpPr>
          <p:nvPr>
            <p:ph type="body" idx="1"/>
          </p:nvPr>
        </p:nvSpPr>
        <p:spPr>
          <a:xfrm>
            <a:off x="701040" y="4338641"/>
            <a:ext cx="5686213" cy="43386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lnSpc>
                <a:spcPct val="80000"/>
              </a:lnSpc>
            </a:pPr>
            <a:r>
              <a:rPr lang="en-US" altLang="en-US" sz="1000"/>
              <a:t> </a:t>
            </a:r>
          </a:p>
        </p:txBody>
      </p:sp>
    </p:spTree>
    <p:extLst>
      <p:ext uri="{BB962C8B-B14F-4D97-AF65-F5344CB8AC3E}">
        <p14:creationId xmlns:p14="http://schemas.microsoft.com/office/powerpoint/2010/main" val="37485930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2A2AD74-3950-4782-96AE-34B2A6F664FE}" type="slidenum">
              <a:rPr lang="en-US" altLang="en-US" smtClean="0">
                <a:latin typeface="Tahoma" panose="020B0604030504040204" pitchFamily="34" charset="0"/>
              </a:rPr>
              <a:pPr>
                <a:spcBef>
                  <a:spcPct val="0"/>
                </a:spcBef>
              </a:pPr>
              <a:t>42</a:t>
            </a:fld>
            <a:endParaRPr lang="en-US" altLang="en-US">
              <a:latin typeface="Tahoma" panose="020B0604030504040204" pitchFamily="34" charset="0"/>
            </a:endParaRPr>
          </a:p>
        </p:txBody>
      </p:sp>
      <p:sp>
        <p:nvSpPr>
          <p:cNvPr id="81923" name="Rectangle 2"/>
          <p:cNvSpPr>
            <a:spLocks noGrp="1" noRot="1" noChangeAspect="1" noChangeArrowheads="1" noTextEdit="1"/>
          </p:cNvSpPr>
          <p:nvPr>
            <p:ph type="sldImg"/>
          </p:nvPr>
        </p:nvSpPr>
        <p:spPr>
          <a:xfrm>
            <a:off x="406400" y="619125"/>
            <a:ext cx="6197600" cy="3486150"/>
          </a:xfrm>
          <a:ln/>
        </p:spPr>
      </p:sp>
      <p:sp>
        <p:nvSpPr>
          <p:cNvPr id="81924" name="Rectangle 3"/>
          <p:cNvSpPr>
            <a:spLocks noGrp="1" noChangeArrowheads="1"/>
          </p:cNvSpPr>
          <p:nvPr>
            <p:ph type="body" idx="1"/>
          </p:nvPr>
        </p:nvSpPr>
        <p:spPr>
          <a:xfrm>
            <a:off x="701040" y="4338641"/>
            <a:ext cx="5686213" cy="43386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lnSpc>
                <a:spcPct val="80000"/>
              </a:lnSpc>
            </a:pPr>
            <a:r>
              <a:rPr lang="en-US" altLang="en-US" sz="1000" dirty="0"/>
              <a:t>1. So if you specify a bold font-weight for a paragraph, you can make a particular word within the paragraph even bolder by specifying bolder for that word's font-weight.</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2. Since bold is so common, you should memorize this technique for generating bold text.</a:t>
            </a:r>
          </a:p>
        </p:txBody>
      </p:sp>
    </p:spTree>
    <p:extLst>
      <p:ext uri="{BB962C8B-B14F-4D97-AF65-F5344CB8AC3E}">
        <p14:creationId xmlns:p14="http://schemas.microsoft.com/office/powerpoint/2010/main" val="10660613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EB43576-AD33-4508-BB80-0D5541EE055F}" type="slidenum">
              <a:rPr lang="en-US" altLang="en-US" smtClean="0">
                <a:latin typeface="Tahoma" panose="020B0604030504040204" pitchFamily="34" charset="0"/>
              </a:rPr>
              <a:pPr>
                <a:spcBef>
                  <a:spcPct val="0"/>
                </a:spcBef>
              </a:pPr>
              <a:t>43</a:t>
            </a:fld>
            <a:endParaRPr lang="en-US" altLang="en-US">
              <a:latin typeface="Tahoma" panose="020B0604030504040204" pitchFamily="34" charset="0"/>
            </a:endParaRPr>
          </a:p>
        </p:txBody>
      </p:sp>
      <p:sp>
        <p:nvSpPr>
          <p:cNvPr id="83971" name="Rectangle 2"/>
          <p:cNvSpPr>
            <a:spLocks noGrp="1" noRot="1" noChangeAspect="1" noChangeArrowheads="1" noTextEdit="1"/>
          </p:cNvSpPr>
          <p:nvPr>
            <p:ph type="sldImg"/>
          </p:nvPr>
        </p:nvSpPr>
        <p:spPr>
          <a:xfrm>
            <a:off x="387350" y="609600"/>
            <a:ext cx="6232525" cy="3506788"/>
          </a:xfrm>
          <a:ln/>
        </p:spPr>
      </p:sp>
      <p:sp>
        <p:nvSpPr>
          <p:cNvPr id="83972" name="Rectangle 3"/>
          <p:cNvSpPr>
            <a:spLocks noGrp="1" noChangeArrowheads="1"/>
          </p:cNvSpPr>
          <p:nvPr>
            <p:ph type="body" idx="1"/>
          </p:nvPr>
        </p:nvSpPr>
        <p:spPr>
          <a:xfrm>
            <a:off x="701040" y="4495800"/>
            <a:ext cx="5842000" cy="4343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lnSpc>
                <a:spcPct val="80000"/>
              </a:lnSpc>
            </a:pPr>
            <a:r>
              <a:rPr lang="en-US" altLang="en-US" sz="1000" dirty="0"/>
              <a:t>1. There are many ways to specify values for the font-size property - we'll focus only on the most appropriate techniques….</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2. </a:t>
            </a:r>
            <a:r>
              <a:rPr lang="en-US" altLang="en-US" sz="1000" dirty="0" err="1"/>
              <a:t>em</a:t>
            </a:r>
            <a:r>
              <a:rPr lang="en-US" altLang="en-US" sz="1000" dirty="0"/>
              <a:t> stands for M because, originally, one </a:t>
            </a:r>
            <a:r>
              <a:rPr lang="en-US" altLang="en-US" sz="1000" dirty="0" err="1"/>
              <a:t>em</a:t>
            </a:r>
            <a:r>
              <a:rPr lang="en-US" altLang="en-US" sz="1000" dirty="0"/>
              <a:t> unit equaled the height of the uppercase letter M.</a:t>
            </a:r>
          </a:p>
          <a:p>
            <a:pPr marL="228600" indent="-228600" eaLnBrk="1" hangingPunct="1">
              <a:lnSpc>
                <a:spcPct val="80000"/>
              </a:lnSpc>
            </a:pPr>
            <a:r>
              <a:rPr lang="en-US" altLang="en-US" sz="1000" dirty="0"/>
              <a:t>But there are fonts for languages that don't use the English alphabet, so it would be inappropriate for </a:t>
            </a:r>
            <a:r>
              <a:rPr lang="en-US" altLang="en-US" sz="1000" dirty="0" err="1"/>
              <a:t>em</a:t>
            </a:r>
            <a:r>
              <a:rPr lang="en-US" altLang="en-US" sz="1000" dirty="0"/>
              <a:t> to rely on the letter M.</a:t>
            </a:r>
          </a:p>
          <a:p>
            <a:pPr marL="228600" indent="-228600" eaLnBrk="1" hangingPunct="1">
              <a:lnSpc>
                <a:spcPct val="80000"/>
              </a:lnSpc>
            </a:pPr>
            <a:r>
              <a:rPr lang="en-US" altLang="en-US" sz="1000" dirty="0"/>
              <a:t>Thus, </a:t>
            </a:r>
            <a:r>
              <a:rPr lang="en-US" altLang="en-US" sz="1000" dirty="0" err="1"/>
              <a:t>em</a:t>
            </a:r>
            <a:r>
              <a:rPr lang="en-US" altLang="en-US" sz="1000" dirty="0"/>
              <a:t> is generic now, and testing shows that it's a bit taller than the height of M.</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3. The CSS standard requires that you have no blank space separating a length value from its unit.</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4. There are quite a few other techniques for specifying font size, but they aren't as good.</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At http://www.w3.org/Style/Examples/007/units.en.html, the W3C refers to the in, cm, mm, pt (points), and pc (picas) units as "so-called absolute units.“</a:t>
            </a:r>
          </a:p>
          <a:p>
            <a:pPr marL="228600" indent="-228600" eaLnBrk="1" hangingPunct="1">
              <a:lnSpc>
                <a:spcPct val="80000"/>
              </a:lnSpc>
            </a:pPr>
            <a:r>
              <a:rPr lang="en-US" altLang="en-US" sz="1000" dirty="0"/>
              <a:t>They’re intended to be used for printers, not monitors.</a:t>
            </a:r>
          </a:p>
          <a:p>
            <a:pPr marL="228600" indent="-228600" eaLnBrk="1" hangingPunct="1">
              <a:lnSpc>
                <a:spcPct val="80000"/>
              </a:lnSpc>
            </a:pPr>
            <a:r>
              <a:rPr lang="en-US" altLang="en-US" sz="1000" dirty="0"/>
              <a:t>For regular monitors, why are absolute lengths bad?</a:t>
            </a:r>
          </a:p>
          <a:p>
            <a:pPr marL="228600" indent="-228600" eaLnBrk="1" hangingPunct="1">
              <a:lnSpc>
                <a:spcPct val="80000"/>
              </a:lnSpc>
            </a:pPr>
            <a:r>
              <a:rPr lang="en-US" altLang="en-US" sz="1000" dirty="0"/>
              <a:t>Because you want to allow users to adjust the size of things, particularly people with impaired eyesight.</a:t>
            </a:r>
          </a:p>
          <a:p>
            <a:pPr marL="228600" indent="-228600" eaLnBrk="1" hangingPunct="1">
              <a:lnSpc>
                <a:spcPct val="80000"/>
              </a:lnSpc>
            </a:pPr>
            <a:r>
              <a:rPr lang="en-US" altLang="en-US" sz="1000" dirty="0"/>
              <a:t>Also, with regular monitors, testing shows that the "absolute units" are not absolute - their sizes vary with different resolutions, different monitors, and zooming in and out.</a:t>
            </a:r>
          </a:p>
        </p:txBody>
      </p:sp>
    </p:spTree>
    <p:extLst>
      <p:ext uri="{BB962C8B-B14F-4D97-AF65-F5344CB8AC3E}">
        <p14:creationId xmlns:p14="http://schemas.microsoft.com/office/powerpoint/2010/main" val="141770016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EB43576-AD33-4508-BB80-0D5541EE055F}" type="slidenum">
              <a:rPr lang="en-US" altLang="en-US" smtClean="0">
                <a:latin typeface="Tahoma" panose="020B0604030504040204" pitchFamily="34" charset="0"/>
              </a:rPr>
              <a:pPr>
                <a:spcBef>
                  <a:spcPct val="0"/>
                </a:spcBef>
              </a:pPr>
              <a:t>44</a:t>
            </a:fld>
            <a:endParaRPr lang="en-US" altLang="en-US">
              <a:latin typeface="Tahoma" panose="020B0604030504040204" pitchFamily="34" charset="0"/>
            </a:endParaRPr>
          </a:p>
        </p:txBody>
      </p:sp>
      <p:sp>
        <p:nvSpPr>
          <p:cNvPr id="83971" name="Rectangle 2"/>
          <p:cNvSpPr>
            <a:spLocks noGrp="1" noRot="1" noChangeAspect="1" noChangeArrowheads="1" noTextEdit="1"/>
          </p:cNvSpPr>
          <p:nvPr>
            <p:ph type="sldImg"/>
          </p:nvPr>
        </p:nvSpPr>
        <p:spPr>
          <a:xfrm>
            <a:off x="387350" y="609600"/>
            <a:ext cx="6232525" cy="3506788"/>
          </a:xfrm>
          <a:ln/>
        </p:spPr>
      </p:sp>
      <p:sp>
        <p:nvSpPr>
          <p:cNvPr id="83972" name="Rectangle 3"/>
          <p:cNvSpPr>
            <a:spLocks noGrp="1" noChangeArrowheads="1"/>
          </p:cNvSpPr>
          <p:nvPr>
            <p:ph type="body" idx="1"/>
          </p:nvPr>
        </p:nvSpPr>
        <p:spPr>
          <a:xfrm>
            <a:off x="701040" y="4495800"/>
            <a:ext cx="5842000" cy="4343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lnSpc>
                <a:spcPct val="80000"/>
              </a:lnSpc>
            </a:pPr>
            <a:r>
              <a:rPr lang="en-US" altLang="en-US" sz="1000" dirty="0"/>
              <a:t>1. There are many ways to specify values for the font-size property - we'll focus only on the most appropriate techniques….</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2. </a:t>
            </a:r>
            <a:r>
              <a:rPr lang="en-US" altLang="en-US" sz="1000" dirty="0" err="1"/>
              <a:t>em</a:t>
            </a:r>
            <a:r>
              <a:rPr lang="en-US" altLang="en-US" sz="1000" dirty="0"/>
              <a:t> stands for M because, originally, one </a:t>
            </a:r>
            <a:r>
              <a:rPr lang="en-US" altLang="en-US" sz="1000" dirty="0" err="1"/>
              <a:t>em</a:t>
            </a:r>
            <a:r>
              <a:rPr lang="en-US" altLang="en-US" sz="1000" dirty="0"/>
              <a:t> unit equaled the height of the uppercase letter M.</a:t>
            </a:r>
          </a:p>
          <a:p>
            <a:pPr marL="228600" indent="-228600" eaLnBrk="1" hangingPunct="1">
              <a:lnSpc>
                <a:spcPct val="80000"/>
              </a:lnSpc>
            </a:pPr>
            <a:r>
              <a:rPr lang="en-US" altLang="en-US" sz="1000" dirty="0"/>
              <a:t>But there are fonts for languages that don't use the English alphabet, so it would be inappropriate for </a:t>
            </a:r>
            <a:r>
              <a:rPr lang="en-US" altLang="en-US" sz="1000" dirty="0" err="1"/>
              <a:t>em</a:t>
            </a:r>
            <a:r>
              <a:rPr lang="en-US" altLang="en-US" sz="1000" dirty="0"/>
              <a:t> to rely on the letter M.</a:t>
            </a:r>
          </a:p>
          <a:p>
            <a:pPr marL="228600" indent="-228600" eaLnBrk="1" hangingPunct="1">
              <a:lnSpc>
                <a:spcPct val="80000"/>
              </a:lnSpc>
            </a:pPr>
            <a:r>
              <a:rPr lang="en-US" altLang="en-US" sz="1000" dirty="0"/>
              <a:t>Thus, </a:t>
            </a:r>
            <a:r>
              <a:rPr lang="en-US" altLang="en-US" sz="1000" dirty="0" err="1"/>
              <a:t>em</a:t>
            </a:r>
            <a:r>
              <a:rPr lang="en-US" altLang="en-US" sz="1000" dirty="0"/>
              <a:t> is generic now, and testing shows that it's a bit taller than the height of M.</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3. The CSS standard requires that you have no blank space separating a length value from its unit.</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4. There are quite a few other techniques for specifying font size, but they aren't as good.</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At http://www.w3.org/Style/Examples/007/units.en.html, the W3C refers to the in, cm, mm, pt (points), and pc (picas) units as "so-called absolute units.“</a:t>
            </a:r>
          </a:p>
          <a:p>
            <a:pPr marL="228600" indent="-228600" eaLnBrk="1" hangingPunct="1">
              <a:lnSpc>
                <a:spcPct val="80000"/>
              </a:lnSpc>
            </a:pPr>
            <a:r>
              <a:rPr lang="en-US" altLang="en-US" sz="1000" dirty="0"/>
              <a:t>They’re intended to be used for printers, not monitors.</a:t>
            </a:r>
          </a:p>
          <a:p>
            <a:pPr marL="228600" indent="-228600" eaLnBrk="1" hangingPunct="1">
              <a:lnSpc>
                <a:spcPct val="80000"/>
              </a:lnSpc>
            </a:pPr>
            <a:r>
              <a:rPr lang="en-US" altLang="en-US" sz="1000" dirty="0"/>
              <a:t>For regular monitors, why are absolute lengths bad?</a:t>
            </a:r>
          </a:p>
          <a:p>
            <a:pPr marL="228600" indent="-228600" eaLnBrk="1" hangingPunct="1">
              <a:lnSpc>
                <a:spcPct val="80000"/>
              </a:lnSpc>
            </a:pPr>
            <a:r>
              <a:rPr lang="en-US" altLang="en-US" sz="1000" dirty="0"/>
              <a:t>Because you want to allow users to adjust the size of things, particularly people with impaired eyesight.</a:t>
            </a:r>
          </a:p>
          <a:p>
            <a:pPr marL="228600" indent="-228600" eaLnBrk="1" hangingPunct="1">
              <a:lnSpc>
                <a:spcPct val="80000"/>
              </a:lnSpc>
            </a:pPr>
            <a:r>
              <a:rPr lang="en-US" altLang="en-US" sz="1000" dirty="0"/>
              <a:t>Also, with regular monitors, testing shows that the "absolute units" are not absolute - their sizes vary with different resolutions, different monitors, and zooming in and out.</a:t>
            </a:r>
          </a:p>
        </p:txBody>
      </p:sp>
    </p:spTree>
    <p:extLst>
      <p:ext uri="{BB962C8B-B14F-4D97-AF65-F5344CB8AC3E}">
        <p14:creationId xmlns:p14="http://schemas.microsoft.com/office/powerpoint/2010/main" val="31982427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B3272C1-9ED4-460F-A3B7-91FCCF46349A}" type="slidenum">
              <a:rPr lang="en-US" altLang="en-US" smtClean="0">
                <a:latin typeface="Tahoma" panose="020B0604030504040204" pitchFamily="34" charset="0"/>
              </a:rPr>
              <a:pPr>
                <a:spcBef>
                  <a:spcPct val="0"/>
                </a:spcBef>
              </a:pPr>
              <a:t>45</a:t>
            </a:fld>
            <a:endParaRPr lang="en-US" altLang="en-US">
              <a:latin typeface="Tahoma" panose="020B0604030504040204" pitchFamily="34" charset="0"/>
            </a:endParaRPr>
          </a:p>
        </p:txBody>
      </p:sp>
      <p:sp>
        <p:nvSpPr>
          <p:cNvPr id="86019" name="Rectangle 2"/>
          <p:cNvSpPr>
            <a:spLocks noGrp="1" noRot="1" noChangeAspect="1" noChangeArrowheads="1" noTextEdit="1"/>
          </p:cNvSpPr>
          <p:nvPr>
            <p:ph type="sldImg"/>
          </p:nvPr>
        </p:nvSpPr>
        <p:spPr>
          <a:xfrm>
            <a:off x="387350" y="609600"/>
            <a:ext cx="6232525" cy="3506788"/>
          </a:xfrm>
          <a:ln/>
        </p:spPr>
      </p:sp>
      <p:sp>
        <p:nvSpPr>
          <p:cNvPr id="86020" name="Rectangle 3"/>
          <p:cNvSpPr>
            <a:spLocks noGrp="1" noChangeArrowheads="1"/>
          </p:cNvSpPr>
          <p:nvPr>
            <p:ph type="body" idx="1"/>
          </p:nvPr>
        </p:nvSpPr>
        <p:spPr>
          <a:xfrm>
            <a:off x="701040" y="4495800"/>
            <a:ext cx="5842000" cy="4419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lnSpc>
                <a:spcPct val="80000"/>
              </a:lnSpc>
            </a:pPr>
            <a:r>
              <a:rPr lang="en-US" altLang="en-US" sz="1000" dirty="0"/>
              <a:t>1. The W3C says absolute units are required to have absolute lengths only when the target device has a high resolution, and that usually means just printers, but can also mean high-resolution monitors.</a:t>
            </a:r>
          </a:p>
          <a:p>
            <a:pPr marL="228600" indent="-228600" eaLnBrk="1" hangingPunct="1">
              <a:lnSpc>
                <a:spcPct val="80000"/>
              </a:lnSpc>
            </a:pPr>
            <a:r>
              <a:rPr lang="en-US" altLang="en-US" sz="1000" dirty="0"/>
              <a:t>So the W3C says to use absolute units only for high resolution target devices.</a:t>
            </a:r>
          </a:p>
          <a:p>
            <a:pPr marL="228600" indent="-228600" eaLnBrk="1" hangingPunct="1">
              <a:lnSpc>
                <a:spcPct val="80000"/>
              </a:lnSpc>
            </a:pPr>
            <a:r>
              <a:rPr lang="en-US" altLang="en-US" sz="1000" dirty="0"/>
              <a:t>The W3C does not define what is meant by "high resolution."</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Example project where a fixed size is essential and absolute units are appropriate:</a:t>
            </a:r>
          </a:p>
          <a:p>
            <a:pPr marL="228600" indent="-228600" eaLnBrk="1" hangingPunct="1">
              <a:lnSpc>
                <a:spcPct val="80000"/>
              </a:lnSpc>
            </a:pPr>
            <a:r>
              <a:rPr lang="en-US" altLang="en-US" sz="1000" dirty="0"/>
              <a:t>Printing a wedding invitation that has to fold perfectly into custom envelopes in order to avoid the wrath of a stressed-out fiancée.</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[2. You can use a % value for font-size, but % is often used for the line height and margin properties (which will be discussed later in this chapter), and I'd prefer to keep things separate and use % only for those properties, not the font-size property.</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We'll talk about pixel units later in this chapter.</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I'll present the following general rules</a:t>
            </a:r>
            <a:r>
              <a:rPr lang="en-US" altLang="en-US" sz="1000" baseline="0" dirty="0"/>
              <a:t> at the end of the chapter:</a:t>
            </a:r>
            <a:endParaRPr lang="en-US" altLang="en-US" sz="1000" dirty="0"/>
          </a:p>
          <a:p>
            <a:pPr marL="228600" indent="-228600" eaLnBrk="1" hangingPunct="1">
              <a:lnSpc>
                <a:spcPct val="80000"/>
              </a:lnSpc>
            </a:pPr>
            <a:r>
              <a:rPr lang="en-US" altLang="en-US" sz="1000" dirty="0"/>
              <a:t>Use </a:t>
            </a:r>
            <a:r>
              <a:rPr lang="en-US" altLang="en-US" sz="1000" dirty="0" err="1"/>
              <a:t>em</a:t>
            </a:r>
            <a:r>
              <a:rPr lang="en-US" altLang="en-US" sz="1000" dirty="0"/>
              <a:t> for font-related properties (like font-size).</a:t>
            </a:r>
          </a:p>
          <a:p>
            <a:pPr marL="228600" indent="-228600" eaLnBrk="1" hangingPunct="1">
              <a:lnSpc>
                <a:spcPct val="80000"/>
              </a:lnSpc>
            </a:pPr>
            <a:r>
              <a:rPr lang="en-US" altLang="en-US" sz="1000" dirty="0"/>
              <a:t>Use % for properties that should grow and shrink with the size of the containing element (like margins for the body element).</a:t>
            </a:r>
          </a:p>
          <a:p>
            <a:pPr marL="228600" indent="-228600" eaLnBrk="1" hangingPunct="1">
              <a:lnSpc>
                <a:spcPct val="80000"/>
              </a:lnSpc>
            </a:pPr>
            <a:r>
              <a:rPr lang="en-US" altLang="en-US" sz="1000" dirty="0"/>
              <a:t>Use </a:t>
            </a:r>
            <a:r>
              <a:rPr lang="en-US" altLang="en-US" sz="1000" dirty="0" err="1"/>
              <a:t>px</a:t>
            </a:r>
            <a:r>
              <a:rPr lang="en-US" altLang="en-US" sz="1000" dirty="0"/>
              <a:t> for properties that should be fixed for a given resolution, even if the element's font size changes or even if the containing element's size changes.</a:t>
            </a:r>
          </a:p>
          <a:p>
            <a:pPr marL="228600" indent="-228600" eaLnBrk="1" hangingPunct="1">
              <a:lnSpc>
                <a:spcPct val="80000"/>
              </a:lnSpc>
            </a:pPr>
            <a:r>
              <a:rPr lang="en-US" altLang="en-US" sz="1000" dirty="0"/>
              <a:t>In other words, use </a:t>
            </a:r>
            <a:r>
              <a:rPr lang="en-US" altLang="en-US" sz="1000" dirty="0" err="1"/>
              <a:t>px</a:t>
            </a:r>
            <a:r>
              <a:rPr lang="en-US" altLang="en-US" sz="1000" dirty="0"/>
              <a:t>, not </a:t>
            </a:r>
            <a:r>
              <a:rPr lang="en-US" altLang="en-US" sz="1000" dirty="0" err="1"/>
              <a:t>em</a:t>
            </a:r>
            <a:r>
              <a:rPr lang="en-US" altLang="en-US" sz="1000" dirty="0"/>
              <a:t>, for things like border properties and layout.]</a:t>
            </a:r>
          </a:p>
        </p:txBody>
      </p:sp>
    </p:spTree>
    <p:extLst>
      <p:ext uri="{BB962C8B-B14F-4D97-AF65-F5344CB8AC3E}">
        <p14:creationId xmlns:p14="http://schemas.microsoft.com/office/powerpoint/2010/main" val="156710230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F10D20F-28CC-4FD6-BA94-2C80363FE3F0}" type="slidenum">
              <a:rPr lang="en-US" altLang="en-US" smtClean="0">
                <a:latin typeface="Tahoma" panose="020B0604030504040204" pitchFamily="34" charset="0"/>
              </a:rPr>
              <a:pPr>
                <a:spcBef>
                  <a:spcPct val="0"/>
                </a:spcBef>
              </a:pPr>
              <a:t>46</a:t>
            </a:fld>
            <a:endParaRPr lang="en-US" altLang="en-US">
              <a:latin typeface="Tahoma" panose="020B0604030504040204" pitchFamily="34" charset="0"/>
            </a:endParaRPr>
          </a:p>
        </p:txBody>
      </p:sp>
      <p:sp>
        <p:nvSpPr>
          <p:cNvPr id="88067" name="Rectangle 2"/>
          <p:cNvSpPr>
            <a:spLocks noGrp="1" noRot="1" noChangeAspect="1" noChangeArrowheads="1" noTextEdit="1"/>
          </p:cNvSpPr>
          <p:nvPr>
            <p:ph type="sldImg"/>
          </p:nvPr>
        </p:nvSpPr>
        <p:spPr>
          <a:xfrm>
            <a:off x="406400" y="619125"/>
            <a:ext cx="6197600" cy="3486150"/>
          </a:xfrm>
          <a:ln/>
        </p:spPr>
      </p:sp>
      <p:sp>
        <p:nvSpPr>
          <p:cNvPr id="88068" name="Rectangle 3"/>
          <p:cNvSpPr>
            <a:spLocks noGrp="1" noChangeArrowheads="1"/>
          </p:cNvSpPr>
          <p:nvPr>
            <p:ph type="body" idx="1"/>
          </p:nvPr>
        </p:nvSpPr>
        <p:spPr>
          <a:xfrm>
            <a:off x="701040" y="4338641"/>
            <a:ext cx="5686213" cy="43386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I go to the fonts page and skim the fonts.</a:t>
            </a:r>
          </a:p>
          <a:p>
            <a:pPr marL="228600" indent="-228600" eaLnBrk="1" hangingPunct="1"/>
            <a:r>
              <a:rPr lang="en-US" altLang="en-US" sz="1000" dirty="0"/>
              <a:t>Unfortunately, that page shows just a small sample of the font names supported by browsers.</a:t>
            </a:r>
          </a:p>
          <a:p>
            <a:pPr marL="228600" indent="-228600" eaLnBrk="1" hangingPunct="1"/>
            <a:r>
              <a:rPr lang="en-US" altLang="en-US" sz="1000" dirty="0"/>
              <a:t>I couldn't find anything close to a definitive list of font names supported by the different browsers.</a:t>
            </a:r>
          </a:p>
          <a:p>
            <a:pPr marL="228600" indent="-228600" eaLnBrk="1" hangingPunct="1"/>
            <a:endParaRPr lang="en-US" altLang="en-US" sz="1000" dirty="0"/>
          </a:p>
          <a:p>
            <a:pPr marL="228600" indent="-228600" eaLnBrk="1" hangingPunct="1"/>
            <a:r>
              <a:rPr lang="en-US" altLang="en-US" sz="1000" dirty="0"/>
              <a:t>2. Go back to the fonts</a:t>
            </a:r>
            <a:r>
              <a:rPr lang="en-US" altLang="en-US" sz="1000" baseline="0" dirty="0"/>
              <a:t> page </a:t>
            </a:r>
            <a:r>
              <a:rPr lang="en-US" altLang="en-US" sz="1000" dirty="0"/>
              <a:t>and note that most of the fonts use title case.</a:t>
            </a:r>
          </a:p>
          <a:p>
            <a:pPr marL="228600" indent="-228600" eaLnBrk="1" hangingPunct="1"/>
            <a:endParaRPr lang="en-US" altLang="en-US" sz="1000" dirty="0"/>
          </a:p>
          <a:p>
            <a:pPr marL="228600" indent="-228600" eaLnBrk="1" hangingPunct="1"/>
            <a:r>
              <a:rPr lang="en-US" altLang="en-US" sz="1000" dirty="0"/>
              <a:t>The lowercase font names are special generic fonts…</a:t>
            </a:r>
          </a:p>
        </p:txBody>
      </p:sp>
    </p:spTree>
    <p:extLst>
      <p:ext uri="{BB962C8B-B14F-4D97-AF65-F5344CB8AC3E}">
        <p14:creationId xmlns:p14="http://schemas.microsoft.com/office/powerpoint/2010/main" val="400876337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F10D20F-28CC-4FD6-BA94-2C80363FE3F0}" type="slidenum">
              <a:rPr lang="en-US" altLang="en-US" smtClean="0">
                <a:latin typeface="Tahoma" panose="020B0604030504040204" pitchFamily="34" charset="0"/>
              </a:rPr>
              <a:pPr>
                <a:spcBef>
                  <a:spcPct val="0"/>
                </a:spcBef>
              </a:pPr>
              <a:t>47</a:t>
            </a:fld>
            <a:endParaRPr lang="en-US" altLang="en-US">
              <a:latin typeface="Tahoma" panose="020B0604030504040204" pitchFamily="34" charset="0"/>
            </a:endParaRPr>
          </a:p>
        </p:txBody>
      </p:sp>
      <p:sp>
        <p:nvSpPr>
          <p:cNvPr id="88067" name="Rectangle 2"/>
          <p:cNvSpPr>
            <a:spLocks noGrp="1" noRot="1" noChangeAspect="1" noChangeArrowheads="1" noTextEdit="1"/>
          </p:cNvSpPr>
          <p:nvPr>
            <p:ph type="sldImg"/>
          </p:nvPr>
        </p:nvSpPr>
        <p:spPr>
          <a:xfrm>
            <a:off x="406400" y="619125"/>
            <a:ext cx="6197600" cy="3486150"/>
          </a:xfrm>
          <a:ln/>
        </p:spPr>
      </p:sp>
      <p:sp>
        <p:nvSpPr>
          <p:cNvPr id="88068" name="Rectangle 3"/>
          <p:cNvSpPr>
            <a:spLocks noGrp="1" noChangeArrowheads="1"/>
          </p:cNvSpPr>
          <p:nvPr>
            <p:ph type="body" idx="1"/>
          </p:nvPr>
        </p:nvSpPr>
        <p:spPr>
          <a:xfrm>
            <a:off x="701040" y="4338641"/>
            <a:ext cx="5686213" cy="43386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I go to the fonts page and skim the fonts.</a:t>
            </a:r>
          </a:p>
          <a:p>
            <a:pPr marL="228600" indent="-228600" eaLnBrk="1" hangingPunct="1"/>
            <a:r>
              <a:rPr lang="en-US" altLang="en-US" sz="1000" dirty="0"/>
              <a:t>Unfortunately, that page shows just a small sample of the font names supported by browsers.</a:t>
            </a:r>
          </a:p>
          <a:p>
            <a:pPr marL="228600" indent="-228600" eaLnBrk="1" hangingPunct="1"/>
            <a:r>
              <a:rPr lang="en-US" altLang="en-US" sz="1000" dirty="0"/>
              <a:t>I couldn't find anything close to a definitive list of font names supported by the different browsers.</a:t>
            </a:r>
          </a:p>
          <a:p>
            <a:pPr marL="228600" indent="-228600" eaLnBrk="1" hangingPunct="1"/>
            <a:endParaRPr lang="en-US" altLang="en-US" sz="1000" dirty="0"/>
          </a:p>
          <a:p>
            <a:pPr marL="228600" indent="-228600" eaLnBrk="1" hangingPunct="1"/>
            <a:r>
              <a:rPr lang="en-US" altLang="en-US" sz="1000" dirty="0"/>
              <a:t>2. Go back to the fonts</a:t>
            </a:r>
            <a:r>
              <a:rPr lang="en-US" altLang="en-US" sz="1000" baseline="0" dirty="0"/>
              <a:t> page </a:t>
            </a:r>
            <a:r>
              <a:rPr lang="en-US" altLang="en-US" sz="1000" dirty="0"/>
              <a:t>and note that most of the fonts use title case.</a:t>
            </a:r>
          </a:p>
          <a:p>
            <a:pPr marL="228600" indent="-228600" eaLnBrk="1" hangingPunct="1"/>
            <a:endParaRPr lang="en-US" altLang="en-US" sz="1000" dirty="0"/>
          </a:p>
          <a:p>
            <a:pPr marL="228600" indent="-228600" eaLnBrk="1" hangingPunct="1"/>
            <a:r>
              <a:rPr lang="en-US" altLang="en-US" sz="1000" dirty="0"/>
              <a:t>The lowercase font names are special generic fonts…</a:t>
            </a:r>
          </a:p>
        </p:txBody>
      </p:sp>
    </p:spTree>
    <p:extLst>
      <p:ext uri="{BB962C8B-B14F-4D97-AF65-F5344CB8AC3E}">
        <p14:creationId xmlns:p14="http://schemas.microsoft.com/office/powerpoint/2010/main" val="311404810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D18A601-D09E-423B-B8A4-BC7FCD9144C5}" type="slidenum">
              <a:rPr lang="en-US" altLang="en-US" smtClean="0">
                <a:latin typeface="Tahoma" panose="020B0604030504040204" pitchFamily="34" charset="0"/>
              </a:rPr>
              <a:pPr>
                <a:spcBef>
                  <a:spcPct val="0"/>
                </a:spcBef>
              </a:pPr>
              <a:t>48</a:t>
            </a:fld>
            <a:endParaRPr lang="en-US" altLang="en-US">
              <a:latin typeface="Tahoma" panose="020B0604030504040204" pitchFamily="34" charset="0"/>
            </a:endParaRPr>
          </a:p>
        </p:txBody>
      </p:sp>
      <p:sp>
        <p:nvSpPr>
          <p:cNvPr id="90115" name="Rectangle 2"/>
          <p:cNvSpPr>
            <a:spLocks noGrp="1" noRot="1" noChangeAspect="1" noChangeArrowheads="1" noTextEdit="1"/>
          </p:cNvSpPr>
          <p:nvPr>
            <p:ph type="sldImg"/>
          </p:nvPr>
        </p:nvSpPr>
        <p:spPr>
          <a:xfrm>
            <a:off x="406400" y="619125"/>
            <a:ext cx="6197600" cy="3486150"/>
          </a:xfrm>
          <a:ln/>
        </p:spPr>
      </p:sp>
      <p:sp>
        <p:nvSpPr>
          <p:cNvPr id="90116" name="Rectangle 3"/>
          <p:cNvSpPr>
            <a:spLocks noGrp="1" noChangeArrowheads="1"/>
          </p:cNvSpPr>
          <p:nvPr>
            <p:ph type="body" idx="1"/>
          </p:nvPr>
        </p:nvSpPr>
        <p:spPr>
          <a:xfrm>
            <a:off x="701040" y="4338641"/>
            <a:ext cx="5686213" cy="43386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This is the same URL as on the previous slide.</a:t>
            </a:r>
          </a:p>
          <a:p>
            <a:pPr marL="228600" indent="-228600" eaLnBrk="1" hangingPunct="1"/>
            <a:r>
              <a:rPr lang="en-US" altLang="en-US" sz="1000" dirty="0"/>
              <a:t>I skim each generic font family description.</a:t>
            </a:r>
          </a:p>
          <a:p>
            <a:pPr marL="228600" indent="-228600" eaLnBrk="1" hangingPunct="1"/>
            <a:endParaRPr lang="en-US" altLang="en-US" sz="1000" dirty="0"/>
          </a:p>
          <a:p>
            <a:pPr marL="228600" indent="-228600" eaLnBrk="1" hangingPunct="1"/>
            <a:r>
              <a:rPr lang="en-US" altLang="en-US" sz="1000" dirty="0"/>
              <a:t>Serif has decorative embellishments on the corners of the characters.</a:t>
            </a:r>
          </a:p>
          <a:p>
            <a:pPr marL="228600" indent="-228600" eaLnBrk="1" hangingPunct="1"/>
            <a:r>
              <a:rPr lang="en-US" altLang="en-US" sz="1000" dirty="0"/>
              <a:t>Note that Times is within serif.</a:t>
            </a:r>
          </a:p>
          <a:p>
            <a:pPr marL="228600" indent="-228600" eaLnBrk="1" hangingPunct="1"/>
            <a:r>
              <a:rPr lang="en-US" altLang="en-US" sz="1000" dirty="0"/>
              <a:t>Sans-serif has no decorative embellishments on the corners of the characters.</a:t>
            </a:r>
          </a:p>
          <a:p>
            <a:pPr marL="228600" indent="-228600" eaLnBrk="1" hangingPunct="1"/>
            <a:endParaRPr lang="en-US" altLang="en-US" sz="1000" dirty="0"/>
          </a:p>
          <a:p>
            <a:pPr marL="228600" indent="-228600" eaLnBrk="1" hangingPunct="1"/>
            <a:r>
              <a:rPr lang="en-US" altLang="en-US" sz="1000" dirty="0"/>
              <a:t>Cursive is supposed to mimic cursive hand writing, such that the characters are partially or completely connected, but the browsers do a poor job of implementing cursive.</a:t>
            </a:r>
          </a:p>
          <a:p>
            <a:pPr marL="228600" indent="-228600" eaLnBrk="1" hangingPunct="1"/>
            <a:r>
              <a:rPr lang="en-US" altLang="en-US" sz="1000" dirty="0"/>
              <a:t>Fantasy is supposed to be decorative and playful.</a:t>
            </a:r>
          </a:p>
          <a:p>
            <a:pPr marL="228600" indent="-228600" eaLnBrk="1" hangingPunct="1"/>
            <a:r>
              <a:rPr lang="en-US" altLang="en-US" sz="1000" dirty="0"/>
              <a:t>Monospace means that all characters have the same width.</a:t>
            </a:r>
          </a:p>
          <a:p>
            <a:pPr marL="228600" indent="-228600" eaLnBrk="1" hangingPunct="1"/>
            <a:r>
              <a:rPr lang="en-US" altLang="en-US" sz="1000" dirty="0"/>
              <a:t>Note that Courier is within monospace.</a:t>
            </a:r>
          </a:p>
        </p:txBody>
      </p:sp>
    </p:spTree>
    <p:extLst>
      <p:ext uri="{BB962C8B-B14F-4D97-AF65-F5344CB8AC3E}">
        <p14:creationId xmlns:p14="http://schemas.microsoft.com/office/powerpoint/2010/main" val="224440732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1FBF87C-E699-4C1E-B700-8F6C562CB514}" type="slidenum">
              <a:rPr lang="en-US" altLang="en-US" smtClean="0">
                <a:latin typeface="Tahoma" panose="020B0604030504040204" pitchFamily="34" charset="0"/>
              </a:rPr>
              <a:pPr>
                <a:spcBef>
                  <a:spcPct val="0"/>
                </a:spcBef>
              </a:pPr>
              <a:t>49</a:t>
            </a:fld>
            <a:endParaRPr lang="en-US" altLang="en-US">
              <a:latin typeface="Tahoma" panose="020B0604030504040204" pitchFamily="34" charset="0"/>
            </a:endParaRPr>
          </a:p>
        </p:txBody>
      </p:sp>
      <p:sp>
        <p:nvSpPr>
          <p:cNvPr id="92163" name="Rectangle 2"/>
          <p:cNvSpPr>
            <a:spLocks noGrp="1" noRot="1" noChangeAspect="1" noChangeArrowheads="1" noTextEdit="1"/>
          </p:cNvSpPr>
          <p:nvPr>
            <p:ph type="sldImg"/>
          </p:nvPr>
        </p:nvSpPr>
        <p:spPr>
          <a:xfrm>
            <a:off x="406400" y="619125"/>
            <a:ext cx="6197600" cy="3486150"/>
          </a:xfrm>
          <a:ln/>
        </p:spPr>
      </p:sp>
      <p:sp>
        <p:nvSpPr>
          <p:cNvPr id="92164" name="Rectangle 3"/>
          <p:cNvSpPr>
            <a:spLocks noGrp="1" noChangeArrowheads="1"/>
          </p:cNvSpPr>
          <p:nvPr>
            <p:ph type="body" idx="1"/>
          </p:nvPr>
        </p:nvSpPr>
        <p:spPr>
          <a:xfrm>
            <a:off x="701040" y="4338641"/>
            <a:ext cx="5686213" cy="43386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Read the callout.</a:t>
            </a:r>
          </a:p>
          <a:p>
            <a:pPr marL="228600" indent="-228600" eaLnBrk="1" hangingPunct="1"/>
            <a:endParaRPr lang="en-US" altLang="en-US" sz="1000" dirty="0"/>
          </a:p>
          <a:p>
            <a:pPr marL="228600" indent="-228600" eaLnBrk="1" hangingPunct="1"/>
            <a:r>
              <a:rPr lang="en-US" altLang="en-US" sz="1000" dirty="0"/>
              <a:t>2. </a:t>
            </a:r>
            <a:r>
              <a:rPr lang="en-US" altLang="en-US" sz="1000" dirty="0" err="1"/>
              <a:t>DejaVu</a:t>
            </a:r>
            <a:r>
              <a:rPr lang="en-US" altLang="en-US" sz="1000" dirty="0"/>
              <a:t> Sans Mono! (because it's the first font in the list and it is installed on the user's computer.)</a:t>
            </a:r>
          </a:p>
        </p:txBody>
      </p:sp>
    </p:spTree>
    <p:extLst>
      <p:ext uri="{BB962C8B-B14F-4D97-AF65-F5344CB8AC3E}">
        <p14:creationId xmlns:p14="http://schemas.microsoft.com/office/powerpoint/2010/main" val="330635444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9D71936-2636-449A-B7CA-3D999750E5BA}" type="slidenum">
              <a:rPr lang="en-US" altLang="en-US" smtClean="0">
                <a:latin typeface="Tahoma" panose="020B0604030504040204" pitchFamily="34" charset="0"/>
              </a:rPr>
              <a:pPr>
                <a:spcBef>
                  <a:spcPct val="0"/>
                </a:spcBef>
              </a:pPr>
              <a:t>50</a:t>
            </a:fld>
            <a:endParaRPr lang="en-US" altLang="en-US">
              <a:latin typeface="Tahoma" panose="020B0604030504040204" pitchFamily="34" charset="0"/>
            </a:endParaRPr>
          </a:p>
        </p:txBody>
      </p:sp>
      <p:sp>
        <p:nvSpPr>
          <p:cNvPr id="94211" name="Rectangle 2"/>
          <p:cNvSpPr>
            <a:spLocks noGrp="1" noRot="1" noChangeAspect="1" noChangeArrowheads="1" noTextEdit="1"/>
          </p:cNvSpPr>
          <p:nvPr>
            <p:ph type="sldImg"/>
          </p:nvPr>
        </p:nvSpPr>
        <p:spPr>
          <a:xfrm>
            <a:off x="406400" y="609600"/>
            <a:ext cx="6197600" cy="3486150"/>
          </a:xfrm>
          <a:ln/>
        </p:spPr>
      </p:sp>
      <p:sp>
        <p:nvSpPr>
          <p:cNvPr id="94212" name="Rectangle 3"/>
          <p:cNvSpPr>
            <a:spLocks noGrp="1" noChangeArrowheads="1"/>
          </p:cNvSpPr>
          <p:nvPr>
            <p:ph type="body" idx="1"/>
          </p:nvPr>
        </p:nvSpPr>
        <p:spPr>
          <a:xfrm>
            <a:off x="934720" y="4419600"/>
            <a:ext cx="5140960" cy="4419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lnSpc>
                <a:spcPct val="80000"/>
              </a:lnSpc>
            </a:pPr>
            <a:r>
              <a:rPr lang="en-US" altLang="en-US" sz="1000" dirty="0"/>
              <a:t>1. In the past several slides, we mentioned all these font properties except for line-height.</a:t>
            </a:r>
          </a:p>
          <a:p>
            <a:pPr marL="228600" indent="-228600" eaLnBrk="1" hangingPunct="1">
              <a:lnSpc>
                <a:spcPct val="80000"/>
              </a:lnSpc>
            </a:pPr>
            <a:r>
              <a:rPr lang="en-US" altLang="en-US" sz="1000" dirty="0"/>
              <a:t>We'll cover line-height on the next slide.</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2. We’ll cover the line-height property on the next slide.</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3. How many types of font properties are specified here and what are they?</a:t>
            </a:r>
          </a:p>
          <a:p>
            <a:pPr marL="228600" indent="-228600" eaLnBrk="1" hangingPunct="1"/>
            <a:r>
              <a:rPr lang="en-US" altLang="en-US" sz="1000" dirty="0"/>
              <a:t>font-style, font-size, and font-family.</a:t>
            </a:r>
          </a:p>
        </p:txBody>
      </p:sp>
    </p:spTree>
    <p:extLst>
      <p:ext uri="{BB962C8B-B14F-4D97-AF65-F5344CB8AC3E}">
        <p14:creationId xmlns:p14="http://schemas.microsoft.com/office/powerpoint/2010/main" val="7420644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9D71936-2636-449A-B7CA-3D999750E5BA}" type="slidenum">
              <a:rPr lang="en-US" altLang="en-US" smtClean="0">
                <a:latin typeface="Tahoma" panose="020B0604030504040204" pitchFamily="34" charset="0"/>
              </a:rPr>
              <a:pPr>
                <a:spcBef>
                  <a:spcPct val="0"/>
                </a:spcBef>
              </a:pPr>
              <a:t>51</a:t>
            </a:fld>
            <a:endParaRPr lang="en-US" altLang="en-US">
              <a:latin typeface="Tahoma" panose="020B0604030504040204" pitchFamily="34" charset="0"/>
            </a:endParaRPr>
          </a:p>
        </p:txBody>
      </p:sp>
      <p:sp>
        <p:nvSpPr>
          <p:cNvPr id="94211" name="Rectangle 2"/>
          <p:cNvSpPr>
            <a:spLocks noGrp="1" noRot="1" noChangeAspect="1" noChangeArrowheads="1" noTextEdit="1"/>
          </p:cNvSpPr>
          <p:nvPr>
            <p:ph type="sldImg"/>
          </p:nvPr>
        </p:nvSpPr>
        <p:spPr>
          <a:xfrm>
            <a:off x="406400" y="609600"/>
            <a:ext cx="6197600" cy="3486150"/>
          </a:xfrm>
          <a:ln/>
        </p:spPr>
      </p:sp>
      <p:sp>
        <p:nvSpPr>
          <p:cNvPr id="94212" name="Rectangle 3"/>
          <p:cNvSpPr>
            <a:spLocks noGrp="1" noChangeArrowheads="1"/>
          </p:cNvSpPr>
          <p:nvPr>
            <p:ph type="body" idx="1"/>
          </p:nvPr>
        </p:nvSpPr>
        <p:spPr>
          <a:xfrm>
            <a:off x="934720" y="4419600"/>
            <a:ext cx="5140960" cy="4419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lnSpc>
                <a:spcPct val="80000"/>
              </a:lnSpc>
            </a:pPr>
            <a:r>
              <a:rPr lang="en-US" altLang="en-US" sz="1000" dirty="0"/>
              <a:t>1. In the past several slides, we mentioned all these font properties except for line-height.</a:t>
            </a:r>
          </a:p>
          <a:p>
            <a:pPr marL="228600" indent="-228600" eaLnBrk="1" hangingPunct="1">
              <a:lnSpc>
                <a:spcPct val="80000"/>
              </a:lnSpc>
            </a:pPr>
            <a:r>
              <a:rPr lang="en-US" altLang="en-US" sz="1000" dirty="0"/>
              <a:t>We'll cover line-height on the next slide.</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2. We’ll cover the line-height property on the next slide.</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3. How many types of font properties are specified here and what are they?</a:t>
            </a:r>
          </a:p>
          <a:p>
            <a:pPr marL="228600" indent="-228600" eaLnBrk="1" hangingPunct="1"/>
            <a:r>
              <a:rPr lang="en-US" altLang="en-US" sz="1000" dirty="0"/>
              <a:t>font-style, font-size, and font-family.</a:t>
            </a:r>
          </a:p>
        </p:txBody>
      </p:sp>
    </p:spTree>
    <p:extLst>
      <p:ext uri="{BB962C8B-B14F-4D97-AF65-F5344CB8AC3E}">
        <p14:creationId xmlns:p14="http://schemas.microsoft.com/office/powerpoint/2010/main" val="29981180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79E91EA-DE44-4334-BCCE-2120BE63CCB4}" type="slidenum">
              <a:rPr lang="en-US" altLang="en-US" smtClean="0">
                <a:latin typeface="Tahoma" panose="020B0604030504040204" pitchFamily="34" charset="0"/>
              </a:rPr>
              <a:pPr>
                <a:spcBef>
                  <a:spcPct val="0"/>
                </a:spcBef>
              </a:pPr>
              <a:t>52</a:t>
            </a:fld>
            <a:endParaRPr lang="en-US" altLang="en-US">
              <a:latin typeface="Tahoma" panose="020B0604030504040204" pitchFamily="34" charset="0"/>
            </a:endParaRPr>
          </a:p>
        </p:txBody>
      </p:sp>
      <p:sp>
        <p:nvSpPr>
          <p:cNvPr id="96259" name="Rectangle 2"/>
          <p:cNvSpPr>
            <a:spLocks noGrp="1" noRot="1" noChangeAspect="1" noChangeArrowheads="1" noTextEdit="1"/>
          </p:cNvSpPr>
          <p:nvPr>
            <p:ph type="sldImg"/>
          </p:nvPr>
        </p:nvSpPr>
        <p:spPr>
          <a:xfrm>
            <a:off x="406400" y="609600"/>
            <a:ext cx="6197600" cy="3486150"/>
          </a:xfrm>
          <a:ln/>
        </p:spPr>
      </p:sp>
      <p:sp>
        <p:nvSpPr>
          <p:cNvPr id="96260" name="Rectangle 3"/>
          <p:cNvSpPr>
            <a:spLocks noGrp="1" noChangeArrowheads="1"/>
          </p:cNvSpPr>
          <p:nvPr>
            <p:ph type="body" idx="1"/>
          </p:nvPr>
        </p:nvSpPr>
        <p:spPr>
          <a:xfrm>
            <a:off x="934720" y="4419600"/>
            <a:ext cx="5140960" cy="4343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I read the callout:</a:t>
            </a:r>
          </a:p>
          <a:p>
            <a:pPr marL="228600" indent="-228600" eaLnBrk="1" hangingPunct="1"/>
            <a:r>
              <a:rPr lang="en-US" altLang="en-US" sz="1000" dirty="0"/>
              <a:t>Use spaces to separate the three property values.</a:t>
            </a:r>
          </a:p>
          <a:p>
            <a:pPr marL="228600" indent="-228600" eaLnBrk="1" hangingPunct="1"/>
            <a:r>
              <a:rPr lang="en-US" altLang="en-US" sz="1000" dirty="0"/>
              <a:t>Within the font-family value, use commas and spaces to separate the font names.</a:t>
            </a:r>
          </a:p>
          <a:p>
            <a:pPr marL="228600" indent="-228600" eaLnBrk="1" hangingPunct="1"/>
            <a:endParaRPr lang="en-US" altLang="en-US" sz="1000" dirty="0"/>
          </a:p>
          <a:p>
            <a:pPr marL="228600" indent="-228600" eaLnBrk="1" hangingPunct="1"/>
            <a:r>
              <a:rPr lang="en-US" altLang="en-US" sz="1000" dirty="0"/>
              <a:t>2. Even though you might not use the font property yourself, you will see it a lot in other people's web pages, so you should be familiar with it.</a:t>
            </a:r>
          </a:p>
          <a:p>
            <a:pPr marL="228600" indent="-228600" eaLnBrk="1" hangingPunct="1"/>
            <a:endParaRPr lang="en-US" altLang="en-US" sz="1000" dirty="0"/>
          </a:p>
          <a:p>
            <a:pPr marL="228600" indent="-228600" eaLnBrk="1" hangingPunct="1"/>
            <a:r>
              <a:rPr lang="en-US" altLang="en-US" sz="1000" dirty="0"/>
              <a:t>[3. Also, when we get to the canvas element in a later unit, you'll see that the more granular font properties are not defined for canvas text.</a:t>
            </a:r>
          </a:p>
          <a:p>
            <a:pPr marL="228600" indent="-228600" eaLnBrk="1" hangingPunct="1"/>
            <a:r>
              <a:rPr lang="en-US" altLang="en-US" sz="1000" dirty="0"/>
              <a:t>But the font property is defined for canvas text, and that's what you'll need to use.]</a:t>
            </a:r>
          </a:p>
        </p:txBody>
      </p:sp>
    </p:spTree>
    <p:extLst>
      <p:ext uri="{BB962C8B-B14F-4D97-AF65-F5344CB8AC3E}">
        <p14:creationId xmlns:p14="http://schemas.microsoft.com/office/powerpoint/2010/main" val="253102182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79E91EA-DE44-4334-BCCE-2120BE63CCB4}" type="slidenum">
              <a:rPr lang="en-US" altLang="en-US" smtClean="0">
                <a:latin typeface="Tahoma" panose="020B0604030504040204" pitchFamily="34" charset="0"/>
              </a:rPr>
              <a:pPr>
                <a:spcBef>
                  <a:spcPct val="0"/>
                </a:spcBef>
              </a:pPr>
              <a:t>53</a:t>
            </a:fld>
            <a:endParaRPr lang="en-US" altLang="en-US">
              <a:latin typeface="Tahoma" panose="020B0604030504040204" pitchFamily="34" charset="0"/>
            </a:endParaRPr>
          </a:p>
        </p:txBody>
      </p:sp>
      <p:sp>
        <p:nvSpPr>
          <p:cNvPr id="96259" name="Rectangle 2"/>
          <p:cNvSpPr>
            <a:spLocks noGrp="1" noRot="1" noChangeAspect="1" noChangeArrowheads="1" noTextEdit="1"/>
          </p:cNvSpPr>
          <p:nvPr>
            <p:ph type="sldImg"/>
          </p:nvPr>
        </p:nvSpPr>
        <p:spPr>
          <a:xfrm>
            <a:off x="406400" y="609600"/>
            <a:ext cx="6197600" cy="3486150"/>
          </a:xfrm>
          <a:ln/>
        </p:spPr>
      </p:sp>
      <p:sp>
        <p:nvSpPr>
          <p:cNvPr id="96260" name="Rectangle 3"/>
          <p:cNvSpPr>
            <a:spLocks noGrp="1" noChangeArrowheads="1"/>
          </p:cNvSpPr>
          <p:nvPr>
            <p:ph type="body" idx="1"/>
          </p:nvPr>
        </p:nvSpPr>
        <p:spPr>
          <a:xfrm>
            <a:off x="934720" y="4419600"/>
            <a:ext cx="5140960" cy="4343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I read the callout:</a:t>
            </a:r>
          </a:p>
          <a:p>
            <a:pPr marL="228600" indent="-228600" eaLnBrk="1" hangingPunct="1"/>
            <a:r>
              <a:rPr lang="en-US" altLang="en-US" sz="1000" dirty="0"/>
              <a:t>Use spaces to separate the three property values.</a:t>
            </a:r>
          </a:p>
          <a:p>
            <a:pPr marL="228600" indent="-228600" eaLnBrk="1" hangingPunct="1"/>
            <a:r>
              <a:rPr lang="en-US" altLang="en-US" sz="1000" dirty="0"/>
              <a:t>Within the font-family value, use commas and spaces to separate the font names.</a:t>
            </a:r>
          </a:p>
          <a:p>
            <a:pPr marL="228600" indent="-228600" eaLnBrk="1" hangingPunct="1"/>
            <a:endParaRPr lang="en-US" altLang="en-US" sz="1000" dirty="0"/>
          </a:p>
          <a:p>
            <a:pPr marL="228600" indent="-228600" eaLnBrk="1" hangingPunct="1"/>
            <a:r>
              <a:rPr lang="en-US" altLang="en-US" sz="1000" dirty="0"/>
              <a:t>2. Even though you might not use the font property yourself, you will see it a lot in other people's web pages, so you should be familiar with it.</a:t>
            </a:r>
          </a:p>
          <a:p>
            <a:pPr marL="228600" indent="-228600" eaLnBrk="1" hangingPunct="1"/>
            <a:endParaRPr lang="en-US" altLang="en-US" sz="1000" dirty="0"/>
          </a:p>
          <a:p>
            <a:pPr marL="228600" indent="-228600" eaLnBrk="1" hangingPunct="1"/>
            <a:r>
              <a:rPr lang="en-US" altLang="en-US" sz="1000" dirty="0"/>
              <a:t>[3. Also, when we get to the canvas element in a later unit, you'll see that the more granular font properties are not defined for canvas text.</a:t>
            </a:r>
          </a:p>
          <a:p>
            <a:pPr marL="228600" indent="-228600" eaLnBrk="1" hangingPunct="1"/>
            <a:r>
              <a:rPr lang="en-US" altLang="en-US" sz="1000" dirty="0"/>
              <a:t>But the font property is defined for canvas text, and that's what you'll need to use.]</a:t>
            </a:r>
          </a:p>
        </p:txBody>
      </p:sp>
    </p:spTree>
    <p:extLst>
      <p:ext uri="{BB962C8B-B14F-4D97-AF65-F5344CB8AC3E}">
        <p14:creationId xmlns:p14="http://schemas.microsoft.com/office/powerpoint/2010/main" val="328570170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1B57352-4D6E-48AC-B607-43A20E3C7291}" type="slidenum">
              <a:rPr lang="en-US" altLang="en-US" smtClean="0">
                <a:latin typeface="Tahoma" panose="020B0604030504040204" pitchFamily="34" charset="0"/>
              </a:rPr>
              <a:pPr>
                <a:spcBef>
                  <a:spcPct val="0"/>
                </a:spcBef>
              </a:pPr>
              <a:t>54</a:t>
            </a:fld>
            <a:endParaRPr lang="en-US" altLang="en-US">
              <a:latin typeface="Tahoma" panose="020B0604030504040204" pitchFamily="34" charset="0"/>
            </a:endParaRPr>
          </a:p>
        </p:txBody>
      </p:sp>
      <p:sp>
        <p:nvSpPr>
          <p:cNvPr id="98307" name="Rectangle 2"/>
          <p:cNvSpPr>
            <a:spLocks noGrp="1" noRot="1" noChangeAspect="1" noChangeArrowheads="1" noTextEdit="1"/>
          </p:cNvSpPr>
          <p:nvPr>
            <p:ph type="sldImg"/>
          </p:nvPr>
        </p:nvSpPr>
        <p:spPr>
          <a:xfrm>
            <a:off x="406400" y="619125"/>
            <a:ext cx="6197600" cy="3486150"/>
          </a:xfrm>
          <a:ln/>
        </p:spPr>
      </p:sp>
      <p:sp>
        <p:nvSpPr>
          <p:cNvPr id="98308" name="Rectangle 3"/>
          <p:cNvSpPr>
            <a:spLocks noGrp="1" noChangeArrowheads="1"/>
          </p:cNvSpPr>
          <p:nvPr>
            <p:ph type="body" idx="1"/>
          </p:nvPr>
        </p:nvSpPr>
        <p:spPr>
          <a:xfrm>
            <a:off x="701040" y="4338641"/>
            <a:ext cx="5686213" cy="43386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lnSpc>
                <a:spcPct val="80000"/>
              </a:lnSpc>
            </a:pPr>
            <a:r>
              <a:rPr lang="en-US" altLang="en-US" sz="1000" dirty="0"/>
              <a:t>1. The line-height property is not a font property, but it’s related to the font-size property, and you specify its value next to the font-size value as part of a font shorthand value.</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2. There are many ways to specify values for the line-height property - we'll focus only on the most appropriate techniques….</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3. The "I have a dream" lines use 200% line spacing.</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4. As mentioned earlier, the CSS standard requires that there’s no separation between a length value and its unit.</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5. For line-height, the % and </a:t>
            </a:r>
            <a:r>
              <a:rPr lang="en-US" altLang="en-US" sz="1000" dirty="0" err="1"/>
              <a:t>em</a:t>
            </a:r>
            <a:r>
              <a:rPr lang="en-US" altLang="en-US" sz="1000" dirty="0"/>
              <a:t> units are the same in that they both use values that are relative to the current element's font size.</a:t>
            </a:r>
          </a:p>
          <a:p>
            <a:pPr marL="228600" indent="-228600" eaLnBrk="1" hangingPunct="1">
              <a:lnSpc>
                <a:spcPct val="80000"/>
              </a:lnSpc>
            </a:pPr>
            <a:endParaRPr lang="en-US" altLang="en-US" sz="1000" dirty="0"/>
          </a:p>
          <a:p>
            <a:pPr marL="228600" indent="-228600" eaLnBrk="1" hangingPunct="1">
              <a:lnSpc>
                <a:spcPct val="80000"/>
              </a:lnSpc>
            </a:pPr>
            <a:r>
              <a:rPr lang="en-US" altLang="en-US" sz="1000" dirty="0"/>
              <a:t>[6. Testing shows that with line-height values of 100% and 1em, the line spacing looks like the default, where</a:t>
            </a:r>
            <a:r>
              <a:rPr lang="en-US" altLang="en-US" sz="1000" baseline="0" dirty="0"/>
              <a:t> there is some spacing above the letters, so it appears that an "element's font size" is slightly greater than what is displayed for the characters' height.]</a:t>
            </a:r>
            <a:endParaRPr lang="en-US" altLang="en-US" sz="1000" dirty="0"/>
          </a:p>
        </p:txBody>
      </p:sp>
    </p:spTree>
    <p:extLst>
      <p:ext uri="{BB962C8B-B14F-4D97-AF65-F5344CB8AC3E}">
        <p14:creationId xmlns:p14="http://schemas.microsoft.com/office/powerpoint/2010/main" val="250758812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3D56FDB-61E5-4E47-BA51-255ACF35D6F5}" type="slidenum">
              <a:rPr lang="en-US" altLang="en-US" smtClean="0">
                <a:latin typeface="Tahoma" panose="020B0604030504040204" pitchFamily="34" charset="0"/>
              </a:rPr>
              <a:pPr>
                <a:spcBef>
                  <a:spcPct val="0"/>
                </a:spcBef>
              </a:pPr>
              <a:t>55</a:t>
            </a:fld>
            <a:endParaRPr lang="en-US" altLang="en-US">
              <a:latin typeface="Tahoma" panose="020B0604030504040204" pitchFamily="34" charset="0"/>
            </a:endParaRPr>
          </a:p>
        </p:txBody>
      </p:sp>
      <p:sp>
        <p:nvSpPr>
          <p:cNvPr id="100355" name="Rectangle 2"/>
          <p:cNvSpPr>
            <a:spLocks noGrp="1" noRot="1" noChangeAspect="1" noChangeArrowheads="1" noTextEdit="1"/>
          </p:cNvSpPr>
          <p:nvPr>
            <p:ph type="sldImg"/>
          </p:nvPr>
        </p:nvSpPr>
        <p:spPr>
          <a:xfrm>
            <a:off x="406400" y="619125"/>
            <a:ext cx="6197600" cy="3486150"/>
          </a:xfrm>
          <a:ln/>
        </p:spPr>
      </p:sp>
      <p:sp>
        <p:nvSpPr>
          <p:cNvPr id="100356" name="Rectangle 3"/>
          <p:cNvSpPr>
            <a:spLocks noGrp="1" noChangeArrowheads="1"/>
          </p:cNvSpPr>
          <p:nvPr>
            <p:ph type="body" idx="1"/>
          </p:nvPr>
        </p:nvSpPr>
        <p:spPr>
          <a:xfrm>
            <a:off x="701040" y="4338641"/>
            <a:ext cx="5686213" cy="43386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lnSpc>
                <a:spcPct val="80000"/>
              </a:lnSpc>
            </a:pPr>
            <a:r>
              <a:rPr lang="en-US" altLang="en-US" sz="1000" dirty="0"/>
              <a:t> </a:t>
            </a:r>
          </a:p>
        </p:txBody>
      </p:sp>
    </p:spTree>
    <p:extLst>
      <p:ext uri="{BB962C8B-B14F-4D97-AF65-F5344CB8AC3E}">
        <p14:creationId xmlns:p14="http://schemas.microsoft.com/office/powerpoint/2010/main" val="213692410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EED1D6C-5275-4CFA-991B-0A2022BFE6AE}" type="slidenum">
              <a:rPr lang="en-US" altLang="en-US" smtClean="0">
                <a:latin typeface="Tahoma" panose="020B0604030504040204" pitchFamily="34" charset="0"/>
              </a:rPr>
              <a:pPr>
                <a:spcBef>
                  <a:spcPct val="0"/>
                </a:spcBef>
              </a:pPr>
              <a:t>56</a:t>
            </a:fld>
            <a:endParaRPr lang="en-US" altLang="en-US">
              <a:latin typeface="Tahoma" panose="020B0604030504040204" pitchFamily="34" charset="0"/>
            </a:endParaRPr>
          </a:p>
        </p:txBody>
      </p:sp>
      <p:sp>
        <p:nvSpPr>
          <p:cNvPr id="102403" name="Rectangle 2"/>
          <p:cNvSpPr>
            <a:spLocks noGrp="1" noRot="1" noChangeAspect="1" noChangeArrowheads="1" noTextEdit="1"/>
          </p:cNvSpPr>
          <p:nvPr>
            <p:ph type="sldImg"/>
          </p:nvPr>
        </p:nvSpPr>
        <p:spPr>
          <a:xfrm>
            <a:off x="406400" y="696913"/>
            <a:ext cx="6197600" cy="3486150"/>
          </a:xfrm>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lnSpc>
                <a:spcPct val="90000"/>
              </a:lnSpc>
            </a:pPr>
            <a:r>
              <a:rPr lang="en-US" altLang="en-US" sz="1000" dirty="0"/>
              <a:t>1. I go way back to the slide that showed the CSS property categories.</a:t>
            </a:r>
          </a:p>
          <a:p>
            <a:pPr marL="228600" indent="-228600" eaLnBrk="1" hangingPunct="1">
              <a:lnSpc>
                <a:spcPct val="90000"/>
              </a:lnSpc>
            </a:pPr>
            <a:r>
              <a:rPr lang="en-US" altLang="en-US" sz="1000" dirty="0"/>
              <a:t>We're done with the colors and font groups.</a:t>
            </a:r>
          </a:p>
          <a:p>
            <a:pPr marL="228600" indent="-228600" eaLnBrk="1" hangingPunct="1">
              <a:lnSpc>
                <a:spcPct val="90000"/>
              </a:lnSpc>
            </a:pPr>
            <a:r>
              <a:rPr lang="en-US" altLang="en-US" sz="1000" dirty="0"/>
              <a:t>Now we'll cover the text properties.</a:t>
            </a:r>
          </a:p>
          <a:p>
            <a:pPr marL="228600" indent="-228600" eaLnBrk="1" hangingPunct="1">
              <a:lnSpc>
                <a:spcPct val="90000"/>
              </a:lnSpc>
            </a:pPr>
            <a:endParaRPr lang="en-US" altLang="en-US" sz="1000" dirty="0"/>
          </a:p>
          <a:p>
            <a:pPr marL="228600" indent="-228600" eaLnBrk="1" hangingPunct="1">
              <a:lnSpc>
                <a:spcPct val="90000"/>
              </a:lnSpc>
            </a:pPr>
            <a:r>
              <a:rPr lang="en-US" altLang="en-US" sz="1000" dirty="0"/>
              <a:t>2. We’re done with the first text property - line-height.</a:t>
            </a:r>
          </a:p>
          <a:p>
            <a:pPr marL="228600" indent="-228600" eaLnBrk="1" hangingPunct="1">
              <a:lnSpc>
                <a:spcPct val="90000"/>
              </a:lnSpc>
            </a:pPr>
            <a:r>
              <a:rPr lang="en-US" altLang="en-US" sz="1000" dirty="0"/>
              <a:t>We'll cover the other text properties in the next several slides.</a:t>
            </a:r>
          </a:p>
          <a:p>
            <a:pPr marL="228600" indent="-228600" eaLnBrk="1" hangingPunct="1">
              <a:lnSpc>
                <a:spcPct val="90000"/>
              </a:lnSpc>
            </a:pPr>
            <a:endParaRPr lang="en-US" altLang="en-US" sz="1000" dirty="0"/>
          </a:p>
          <a:p>
            <a:pPr marL="228600" indent="-228600" eaLnBrk="1" hangingPunct="1">
              <a:lnSpc>
                <a:spcPct val="90000"/>
              </a:lnSpc>
            </a:pPr>
            <a:r>
              <a:rPr lang="en-US" altLang="en-US" sz="1000" dirty="0"/>
              <a:t>3. With justify, the bottom line in a block of text doesn't get extended to the right.</a:t>
            </a:r>
          </a:p>
          <a:p>
            <a:pPr marL="228600" indent="-228600" eaLnBrk="1" hangingPunct="1">
              <a:lnSpc>
                <a:spcPct val="90000"/>
              </a:lnSpc>
            </a:pPr>
            <a:r>
              <a:rPr lang="en-US" altLang="en-US" sz="1000" dirty="0"/>
              <a:t>The justify value mimics what you see for paragraphs in newspapers and magazines.</a:t>
            </a:r>
          </a:p>
          <a:p>
            <a:pPr marL="228600" indent="-228600" eaLnBrk="1" hangingPunct="1">
              <a:lnSpc>
                <a:spcPct val="90000"/>
              </a:lnSpc>
            </a:pPr>
            <a:endParaRPr lang="en-US" altLang="en-US" sz="1000" dirty="0"/>
          </a:p>
          <a:p>
            <a:pPr marL="228600" indent="-228600" eaLnBrk="1" hangingPunct="1">
              <a:lnSpc>
                <a:spcPct val="90000"/>
              </a:lnSpc>
            </a:pPr>
            <a:r>
              <a:rPr lang="en-US" altLang="en-US" sz="1000" dirty="0"/>
              <a:t>[4. If you specify text-align: justify, you can use the text-justify property to specify how the justification is implemented.</a:t>
            </a:r>
          </a:p>
          <a:p>
            <a:pPr marL="228600" indent="-228600" eaLnBrk="1" hangingPunct="1">
              <a:lnSpc>
                <a:spcPct val="90000"/>
              </a:lnSpc>
            </a:pPr>
            <a:r>
              <a:rPr lang="en-US" altLang="en-US" sz="1000" dirty="0"/>
              <a:t>But the default technique of adding space between words normally works just fine.]</a:t>
            </a:r>
          </a:p>
        </p:txBody>
      </p:sp>
    </p:spTree>
    <p:extLst>
      <p:ext uri="{BB962C8B-B14F-4D97-AF65-F5344CB8AC3E}">
        <p14:creationId xmlns:p14="http://schemas.microsoft.com/office/powerpoint/2010/main" val="227840642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2098A7B-F696-40D3-BB4D-10F21B2FD8A5}" type="slidenum">
              <a:rPr lang="en-US" altLang="en-US" smtClean="0">
                <a:latin typeface="Tahoma" panose="020B0604030504040204" pitchFamily="34" charset="0"/>
              </a:rPr>
              <a:pPr>
                <a:spcBef>
                  <a:spcPct val="0"/>
                </a:spcBef>
              </a:pPr>
              <a:t>57</a:t>
            </a:fld>
            <a:endParaRPr lang="en-US" altLang="en-US">
              <a:latin typeface="Tahoma" panose="020B0604030504040204" pitchFamily="34" charset="0"/>
            </a:endParaRPr>
          </a:p>
        </p:txBody>
      </p:sp>
      <p:sp>
        <p:nvSpPr>
          <p:cNvPr id="104451" name="Rectangle 2"/>
          <p:cNvSpPr>
            <a:spLocks noGrp="1" noRot="1" noChangeAspect="1" noChangeArrowheads="1" noTextEdit="1"/>
          </p:cNvSpPr>
          <p:nvPr>
            <p:ph type="sldImg"/>
          </p:nvPr>
        </p:nvSpPr>
        <p:spPr>
          <a:xfrm>
            <a:off x="406400" y="696913"/>
            <a:ext cx="6197600" cy="3486150"/>
          </a:xfrm>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lnSpc>
                <a:spcPct val="90000"/>
              </a:lnSpc>
            </a:pPr>
            <a:r>
              <a:rPr lang="en-US" altLang="en-US" sz="1000" dirty="0"/>
              <a:t>1. Since underlining is so common, you should memorize this technique for generating an underline.</a:t>
            </a:r>
          </a:p>
          <a:p>
            <a:pPr marL="228600" indent="-228600" eaLnBrk="1" hangingPunct="1">
              <a:lnSpc>
                <a:spcPct val="90000"/>
              </a:lnSpc>
            </a:pPr>
            <a:endParaRPr lang="en-US" altLang="en-US" sz="1000" dirty="0"/>
          </a:p>
          <a:p>
            <a:pPr marL="228600" indent="-228600" eaLnBrk="1" hangingPunct="1">
              <a:lnSpc>
                <a:spcPct val="90000"/>
              </a:lnSpc>
            </a:pPr>
            <a:r>
              <a:rPr lang="en-US" altLang="en-US" sz="1000" dirty="0"/>
              <a:t>2. Don't use the blink value - very annoying!</a:t>
            </a:r>
          </a:p>
          <a:p>
            <a:pPr marL="228600" indent="-228600" eaLnBrk="1" hangingPunct="1">
              <a:lnSpc>
                <a:spcPct val="90000"/>
              </a:lnSpc>
            </a:pPr>
            <a:endParaRPr lang="en-US" altLang="en-US" sz="1000" dirty="0"/>
          </a:p>
          <a:p>
            <a:pPr marL="228600" indent="-228600" eaLnBrk="1" hangingPunct="1">
              <a:lnSpc>
                <a:spcPct val="90000"/>
              </a:lnSpc>
            </a:pPr>
            <a:r>
              <a:rPr lang="en-US" altLang="en-US" sz="1000" dirty="0"/>
              <a:t>3. What's the point of text-transform?</a:t>
            </a:r>
          </a:p>
          <a:p>
            <a:pPr marL="228600" indent="-228600" eaLnBrk="1" hangingPunct="1">
              <a:lnSpc>
                <a:spcPct val="90000"/>
              </a:lnSpc>
            </a:pPr>
            <a:r>
              <a:rPr lang="en-US" altLang="en-US" sz="1000" dirty="0"/>
              <a:t>Why not just use the desired case in the original code?</a:t>
            </a:r>
          </a:p>
          <a:p>
            <a:pPr marL="228600" indent="-228600" eaLnBrk="1" hangingPunct="1">
              <a:lnSpc>
                <a:spcPct val="90000"/>
              </a:lnSpc>
            </a:pPr>
            <a:r>
              <a:rPr lang="en-US" altLang="en-US" sz="1000" dirty="0"/>
              <a:t>You might want to provide uppercase and lowercase buttons on your web page that allow users to dynamically change the page so it displays all uppercase or all lowercase.</a:t>
            </a:r>
          </a:p>
          <a:p>
            <a:pPr marL="228600" indent="-228600" eaLnBrk="1" hangingPunct="1">
              <a:lnSpc>
                <a:spcPct val="90000"/>
              </a:lnSpc>
            </a:pPr>
            <a:r>
              <a:rPr lang="en-US" altLang="en-US" sz="1000" dirty="0"/>
              <a:t>You can implement that with JavaScript and the text-transform property (we'll cover JavaScript later).</a:t>
            </a:r>
          </a:p>
        </p:txBody>
      </p:sp>
    </p:spTree>
    <p:extLst>
      <p:ext uri="{BB962C8B-B14F-4D97-AF65-F5344CB8AC3E}">
        <p14:creationId xmlns:p14="http://schemas.microsoft.com/office/powerpoint/2010/main" val="253814472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CABB4A9-534E-4151-B8E6-821C6EF96ECC}" type="slidenum">
              <a:rPr lang="en-US" altLang="en-US" smtClean="0">
                <a:latin typeface="Tahoma" panose="020B0604030504040204" pitchFamily="34" charset="0"/>
              </a:rPr>
              <a:pPr>
                <a:spcBef>
                  <a:spcPct val="0"/>
                </a:spcBef>
              </a:pPr>
              <a:t>58</a:t>
            </a:fld>
            <a:endParaRPr lang="en-US" altLang="en-US">
              <a:latin typeface="Tahoma" panose="020B0604030504040204" pitchFamily="34" charset="0"/>
            </a:endParaRPr>
          </a:p>
        </p:txBody>
      </p:sp>
      <p:sp>
        <p:nvSpPr>
          <p:cNvPr id="106499" name="Rectangle 2"/>
          <p:cNvSpPr>
            <a:spLocks noGrp="1" noRot="1" noChangeAspect="1" noChangeArrowheads="1" noTextEdit="1"/>
          </p:cNvSpPr>
          <p:nvPr>
            <p:ph type="sldImg"/>
          </p:nvPr>
        </p:nvSpPr>
        <p:spPr>
          <a:xfrm>
            <a:off x="406400" y="696913"/>
            <a:ext cx="6197600" cy="3486150"/>
          </a:xfrm>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lnSpc>
                <a:spcPct val="90000"/>
              </a:lnSpc>
            </a:pPr>
            <a:r>
              <a:rPr lang="en-US" altLang="en-US" sz="1000" dirty="0"/>
              <a:t>1. Note that if there's &gt; 1 line, indentation only applies to the 1</a:t>
            </a:r>
            <a:r>
              <a:rPr lang="en-US" altLang="en-US" sz="1000" baseline="30000" dirty="0"/>
              <a:t>st</a:t>
            </a:r>
            <a:r>
              <a:rPr lang="en-US" altLang="en-US" sz="1000" dirty="0"/>
              <a:t> line.</a:t>
            </a:r>
          </a:p>
          <a:p>
            <a:pPr marL="228600" indent="-228600" eaLnBrk="1" hangingPunct="1">
              <a:lnSpc>
                <a:spcPct val="90000"/>
              </a:lnSpc>
            </a:pPr>
            <a:r>
              <a:rPr lang="en-US" altLang="en-US" sz="1000" dirty="0"/>
              <a:t>To adjust multiple lines, use the margin property (coming up).</a:t>
            </a:r>
          </a:p>
        </p:txBody>
      </p:sp>
    </p:spTree>
    <p:extLst>
      <p:ext uri="{BB962C8B-B14F-4D97-AF65-F5344CB8AC3E}">
        <p14:creationId xmlns:p14="http://schemas.microsoft.com/office/powerpoint/2010/main" val="266284265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318EDC5-446D-41D8-A8D6-EC7973FC0645}" type="slidenum">
              <a:rPr lang="en-US" altLang="en-US" smtClean="0">
                <a:latin typeface="Tahoma" panose="020B0604030504040204" pitchFamily="34" charset="0"/>
              </a:rPr>
              <a:pPr>
                <a:spcBef>
                  <a:spcPct val="0"/>
                </a:spcBef>
              </a:pPr>
              <a:t>59</a:t>
            </a:fld>
            <a:endParaRPr lang="en-US" altLang="en-US">
              <a:latin typeface="Tahoma" panose="020B0604030504040204" pitchFamily="34" charset="0"/>
            </a:endParaRPr>
          </a:p>
        </p:txBody>
      </p:sp>
      <p:sp>
        <p:nvSpPr>
          <p:cNvPr id="108547" name="Rectangle 2"/>
          <p:cNvSpPr>
            <a:spLocks noGrp="1" noRot="1" noChangeAspect="1" noChangeArrowheads="1" noTextEdit="1"/>
          </p:cNvSpPr>
          <p:nvPr>
            <p:ph type="sldImg"/>
          </p:nvPr>
        </p:nvSpPr>
        <p:spPr>
          <a:xfrm>
            <a:off x="406400" y="696913"/>
            <a:ext cx="6197600" cy="3486150"/>
          </a:xfrm>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On Mozilla’s CSS site (https://developer.mozilla.org/en-US/docs/Web/CSS/border-style), I peruse the border-style examples on the try-it page.</a:t>
            </a:r>
          </a:p>
          <a:p>
            <a:pPr marL="228600" indent="-228600" eaLnBrk="1" hangingPunct="1"/>
            <a:endParaRPr lang="en-US" altLang="en-US" sz="1000" dirty="0"/>
          </a:p>
          <a:p>
            <a:pPr marL="228600" indent="-228600" eaLnBrk="1" hangingPunct="1"/>
            <a:r>
              <a:rPr lang="en-US" altLang="en-US" sz="1000" dirty="0"/>
              <a:t>[2. The initial border-style values are none so the default value for border-style is none.]</a:t>
            </a:r>
          </a:p>
        </p:txBody>
      </p:sp>
    </p:spTree>
    <p:extLst>
      <p:ext uri="{BB962C8B-B14F-4D97-AF65-F5344CB8AC3E}">
        <p14:creationId xmlns:p14="http://schemas.microsoft.com/office/powerpoint/2010/main" val="376757763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5647FF5-A0DA-4A41-85DE-42BB8DB734C5}" type="slidenum">
              <a:rPr lang="en-US" altLang="en-US" smtClean="0">
                <a:latin typeface="Tahoma" panose="020B0604030504040204" pitchFamily="34" charset="0"/>
              </a:rPr>
              <a:pPr>
                <a:spcBef>
                  <a:spcPct val="0"/>
                </a:spcBef>
              </a:pPr>
              <a:t>60</a:t>
            </a:fld>
            <a:endParaRPr lang="en-US" altLang="en-US">
              <a:latin typeface="Tahoma" panose="020B0604030504040204" pitchFamily="34" charset="0"/>
            </a:endParaRPr>
          </a:p>
        </p:txBody>
      </p:sp>
      <p:sp>
        <p:nvSpPr>
          <p:cNvPr id="110595" name="Rectangle 2"/>
          <p:cNvSpPr>
            <a:spLocks noGrp="1" noRot="1" noChangeAspect="1" noChangeArrowheads="1" noTextEdit="1"/>
          </p:cNvSpPr>
          <p:nvPr>
            <p:ph type="sldImg"/>
          </p:nvPr>
        </p:nvSpPr>
        <p:spPr>
          <a:xfrm>
            <a:off x="406400" y="696913"/>
            <a:ext cx="6197600" cy="3486150"/>
          </a:xfrm>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I’ve made the mistake many times of specifying a border width without specifying a border style, and that leads to no border.</a:t>
            </a:r>
          </a:p>
          <a:p>
            <a:pPr marL="228600" indent="-228600" eaLnBrk="1" hangingPunct="1"/>
            <a:r>
              <a:rPr lang="en-US" altLang="en-US" sz="1000" dirty="0"/>
              <a:t>That should make sense - an element must have a visible border for the border’s width to be relevant.</a:t>
            </a:r>
          </a:p>
          <a:p>
            <a:pPr marL="228600" indent="-228600" eaLnBrk="1" hangingPunct="1"/>
            <a:r>
              <a:rPr lang="en-US" altLang="en-US" sz="1000" dirty="0"/>
              <a:t>[It's OK to write the border-width property before the border-style property or vice versa – the order doesn’t matter.]</a:t>
            </a:r>
          </a:p>
          <a:p>
            <a:pPr marL="228600" indent="-228600" eaLnBrk="1" hangingPunct="1"/>
            <a:endParaRPr lang="en-US" altLang="en-US" sz="1000" dirty="0"/>
          </a:p>
          <a:p>
            <a:pPr marL="228600" indent="-228600" eaLnBrk="1" hangingPunct="1"/>
            <a:r>
              <a:rPr lang="en-US" altLang="en-US" sz="1000" dirty="0"/>
              <a:t>2. The default value is medium.</a:t>
            </a:r>
          </a:p>
          <a:p>
            <a:pPr marL="228600" indent="-228600" eaLnBrk="1" hangingPunct="1"/>
            <a:endParaRPr lang="en-US" altLang="en-US" sz="1000" dirty="0"/>
          </a:p>
          <a:p>
            <a:pPr marL="228600" indent="-228600" eaLnBrk="1" hangingPunct="1"/>
            <a:r>
              <a:rPr lang="en-US" altLang="en-US" sz="1000" dirty="0"/>
              <a:t>3. More pixel details are on the next slide,</a:t>
            </a:r>
            <a:r>
              <a:rPr lang="en-US" altLang="en-US" sz="1000" baseline="0" dirty="0"/>
              <a:t> but </a:t>
            </a:r>
            <a:r>
              <a:rPr lang="en-US" altLang="en-US" sz="1000" dirty="0"/>
              <a:t>I should skip the next slide because it's pretty complex.</a:t>
            </a:r>
          </a:p>
          <a:p>
            <a:pPr marL="228600" indent="-228600" eaLnBrk="1" hangingPunct="1"/>
            <a:endParaRPr lang="en-US" altLang="en-US" sz="1000" dirty="0"/>
          </a:p>
          <a:p>
            <a:pPr marL="228600" indent="-228600" eaLnBrk="1" hangingPunct="1"/>
            <a:r>
              <a:rPr lang="en-US" altLang="en-US" sz="1000" dirty="0"/>
              <a:t>[4. As an alternative, you can use </a:t>
            </a:r>
            <a:r>
              <a:rPr lang="en-US" altLang="en-US" sz="1000" dirty="0" err="1"/>
              <a:t>em</a:t>
            </a:r>
            <a:r>
              <a:rPr lang="en-US" altLang="en-US" sz="1000" dirty="0"/>
              <a:t> values for border widths, but then the border width becomes tied to the element's font size.</a:t>
            </a:r>
          </a:p>
          <a:p>
            <a:pPr marL="228600" indent="-228600" eaLnBrk="1" hangingPunct="1"/>
            <a:r>
              <a:rPr lang="en-US" altLang="en-US" sz="1000" dirty="0"/>
              <a:t>You might want a larger border width around larger font text, but that's not normally the case.]</a:t>
            </a:r>
          </a:p>
        </p:txBody>
      </p:sp>
    </p:spTree>
    <p:extLst>
      <p:ext uri="{BB962C8B-B14F-4D97-AF65-F5344CB8AC3E}">
        <p14:creationId xmlns:p14="http://schemas.microsoft.com/office/powerpoint/2010/main" val="142038244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597201A-939C-4051-BDFB-E04F745AAF51}" type="slidenum">
              <a:rPr lang="en-US" altLang="en-US" smtClean="0">
                <a:latin typeface="Tahoma" panose="020B0604030504040204" pitchFamily="34" charset="0"/>
              </a:rPr>
              <a:pPr>
                <a:spcBef>
                  <a:spcPct val="0"/>
                </a:spcBef>
              </a:pPr>
              <a:t>61</a:t>
            </a:fld>
            <a:endParaRPr lang="en-US" altLang="en-US">
              <a:latin typeface="Tahoma" panose="020B0604030504040204" pitchFamily="34" charset="0"/>
            </a:endParaRPr>
          </a:p>
        </p:txBody>
      </p:sp>
      <p:sp>
        <p:nvSpPr>
          <p:cNvPr id="112643" name="Rectangle 2"/>
          <p:cNvSpPr>
            <a:spLocks noGrp="1" noRot="1" noChangeAspect="1" noChangeArrowheads="1" noTextEdit="1"/>
          </p:cNvSpPr>
          <p:nvPr>
            <p:ph type="sldImg"/>
          </p:nvPr>
        </p:nvSpPr>
        <p:spPr>
          <a:xfrm>
            <a:off x="406400" y="696913"/>
            <a:ext cx="6197600" cy="3486150"/>
          </a:xfrm>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The following is an aside and unnecessary for most web programming efforts.</a:t>
            </a:r>
          </a:p>
          <a:p>
            <a:pPr marL="228600" indent="-228600" eaLnBrk="1" hangingPunct="1"/>
            <a:r>
              <a:rPr lang="en-US" altLang="en-US" sz="1000" dirty="0"/>
              <a:t>The "ideal pixel" concept is based on the concept of there being a particular angle that is sufficiently small such that if each projection of light (where each projection forms one dot of light on the monitor's screen) uses that angle, then the resulting picture looks good to normal humans (but not all that great for eagle users - sorry).</a:t>
            </a:r>
          </a:p>
          <a:p>
            <a:pPr marL="228600" indent="-228600" eaLnBrk="1" hangingPunct="1"/>
            <a:r>
              <a:rPr lang="en-US" altLang="en-US" sz="1000" dirty="0"/>
              <a:t>I show the trigonometry picture.</a:t>
            </a:r>
          </a:p>
          <a:p>
            <a:pPr marL="228600" indent="-228600" eaLnBrk="1" hangingPunct="1"/>
            <a:r>
              <a:rPr lang="en-US" altLang="en-US" sz="1000" dirty="0"/>
              <a:t>Monitor manufacturers will guess the typical distance from a user's eyes to their monitor and use that to determine their actual ("physical") pixel size for their default resolution setting.</a:t>
            </a:r>
          </a:p>
          <a:p>
            <a:pPr marL="228600" indent="-228600" eaLnBrk="1" hangingPunct="1"/>
            <a:r>
              <a:rPr lang="en-US" altLang="en-US" sz="1000" dirty="0"/>
              <a:t>If a user adjusts the resolution, then the actual ("physical") pixel size changes.</a:t>
            </a:r>
          </a:p>
          <a:p>
            <a:pPr marL="228600" indent="-228600" eaLnBrk="1" hangingPunct="1"/>
            <a:endParaRPr lang="en-US" altLang="en-US" sz="1000" dirty="0"/>
          </a:p>
          <a:p>
            <a:pPr marL="228600" indent="-228600" eaLnBrk="1" hangingPunct="1"/>
            <a:r>
              <a:rPr lang="en-US" altLang="en-US" sz="1000" dirty="0"/>
              <a:t>The W3C explains CSS3 pixels at http://www.w3.org/TR/css3-values/#absolute-lengths.]</a:t>
            </a:r>
          </a:p>
          <a:p>
            <a:pPr marL="228600" indent="-228600" eaLnBrk="1" hangingPunct="1"/>
            <a:endParaRPr lang="en-US" altLang="en-US" sz="1000" dirty="0"/>
          </a:p>
          <a:p>
            <a:pPr marL="228600" indent="-228600" eaLnBrk="1" hangingPunct="1"/>
            <a:r>
              <a:rPr lang="en-US" altLang="en-US" sz="1000" dirty="0"/>
              <a:t>[2. That makes sense when you realize that monitor manufacturers have different opinions about the typical distance from a user's eyes to their monitor.]</a:t>
            </a:r>
          </a:p>
        </p:txBody>
      </p:sp>
    </p:spTree>
    <p:extLst>
      <p:ext uri="{BB962C8B-B14F-4D97-AF65-F5344CB8AC3E}">
        <p14:creationId xmlns:p14="http://schemas.microsoft.com/office/powerpoint/2010/main" val="314308271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597201A-939C-4051-BDFB-E04F745AAF51}" type="slidenum">
              <a:rPr lang="en-US" altLang="en-US" smtClean="0">
                <a:latin typeface="Tahoma" panose="020B0604030504040204" pitchFamily="34" charset="0"/>
              </a:rPr>
              <a:pPr>
                <a:spcBef>
                  <a:spcPct val="0"/>
                </a:spcBef>
              </a:pPr>
              <a:t>62</a:t>
            </a:fld>
            <a:endParaRPr lang="en-US" altLang="en-US">
              <a:latin typeface="Tahoma" panose="020B0604030504040204" pitchFamily="34" charset="0"/>
            </a:endParaRPr>
          </a:p>
        </p:txBody>
      </p:sp>
      <p:sp>
        <p:nvSpPr>
          <p:cNvPr id="112643" name="Rectangle 2"/>
          <p:cNvSpPr>
            <a:spLocks noGrp="1" noRot="1" noChangeAspect="1" noChangeArrowheads="1" noTextEdit="1"/>
          </p:cNvSpPr>
          <p:nvPr>
            <p:ph type="sldImg"/>
          </p:nvPr>
        </p:nvSpPr>
        <p:spPr>
          <a:xfrm>
            <a:off x="406400" y="696913"/>
            <a:ext cx="6197600" cy="3486150"/>
          </a:xfrm>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The following is an aside and unnecessary for most web programming efforts.</a:t>
            </a:r>
          </a:p>
          <a:p>
            <a:pPr marL="228600" indent="-228600" eaLnBrk="1" hangingPunct="1"/>
            <a:r>
              <a:rPr lang="en-US" altLang="en-US" sz="1000" dirty="0"/>
              <a:t>The "ideal pixel" concept is based on the concept of there being a particular angle that is sufficiently small such that if each projection of light (where each projection forms one dot of light on the monitor's screen) uses that angle, then the resulting picture looks good to normal humans (but not all that great for eagle users - sorry).</a:t>
            </a:r>
          </a:p>
          <a:p>
            <a:pPr marL="228600" indent="-228600" eaLnBrk="1" hangingPunct="1"/>
            <a:r>
              <a:rPr lang="en-US" altLang="en-US" sz="1000" dirty="0"/>
              <a:t>I show the trigonometry picture.</a:t>
            </a:r>
          </a:p>
          <a:p>
            <a:pPr marL="228600" indent="-228600" eaLnBrk="1" hangingPunct="1"/>
            <a:r>
              <a:rPr lang="en-US" altLang="en-US" sz="1000" dirty="0"/>
              <a:t>Monitor manufacturers will guess the typical distance from a user's eyes to their monitor and use that to determine their actual ("physical") pixel size for their default resolution setting.</a:t>
            </a:r>
          </a:p>
          <a:p>
            <a:pPr marL="228600" indent="-228600" eaLnBrk="1" hangingPunct="1"/>
            <a:r>
              <a:rPr lang="en-US" altLang="en-US" sz="1000" dirty="0"/>
              <a:t>If a user adjusts the resolution, then the actual ("physical") pixel size changes.</a:t>
            </a:r>
          </a:p>
          <a:p>
            <a:pPr marL="228600" indent="-228600" eaLnBrk="1" hangingPunct="1"/>
            <a:endParaRPr lang="en-US" altLang="en-US" sz="1000" dirty="0"/>
          </a:p>
          <a:p>
            <a:pPr marL="228600" indent="-228600" eaLnBrk="1" hangingPunct="1"/>
            <a:r>
              <a:rPr lang="en-US" altLang="en-US" sz="1000" dirty="0"/>
              <a:t>The W3C explains CSS3 pixels at http://www.w3.org/TR/css3-values/#absolute-lengths.]</a:t>
            </a:r>
          </a:p>
          <a:p>
            <a:pPr marL="228600" indent="-228600" eaLnBrk="1" hangingPunct="1"/>
            <a:endParaRPr lang="en-US" altLang="en-US" sz="1000" dirty="0"/>
          </a:p>
          <a:p>
            <a:pPr marL="228600" indent="-228600" eaLnBrk="1" hangingPunct="1"/>
            <a:r>
              <a:rPr lang="en-US" altLang="en-US" sz="1000" dirty="0"/>
              <a:t>[2. That makes sense when you realize that monitor manufacturers have different opinions about the typical distance from a user's eyes to their monitor.]</a:t>
            </a:r>
          </a:p>
        </p:txBody>
      </p:sp>
    </p:spTree>
    <p:extLst>
      <p:ext uri="{BB962C8B-B14F-4D97-AF65-F5344CB8AC3E}">
        <p14:creationId xmlns:p14="http://schemas.microsoft.com/office/powerpoint/2010/main" val="159521040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30F7F94-A6FF-4A0E-B287-9C2DEB047FDD}" type="slidenum">
              <a:rPr lang="en-US" altLang="en-US" smtClean="0">
                <a:latin typeface="Tahoma" panose="020B0604030504040204" pitchFamily="34" charset="0"/>
              </a:rPr>
              <a:pPr>
                <a:spcBef>
                  <a:spcPct val="0"/>
                </a:spcBef>
              </a:pPr>
              <a:t>63</a:t>
            </a:fld>
            <a:endParaRPr lang="en-US" altLang="en-US">
              <a:latin typeface="Tahoma" panose="020B0604030504040204" pitchFamily="34" charset="0"/>
            </a:endParaRPr>
          </a:p>
        </p:txBody>
      </p:sp>
      <p:sp>
        <p:nvSpPr>
          <p:cNvPr id="114691" name="Rectangle 2"/>
          <p:cNvSpPr>
            <a:spLocks noGrp="1" noRot="1" noChangeAspect="1" noChangeArrowheads="1" noTextEdit="1"/>
          </p:cNvSpPr>
          <p:nvPr>
            <p:ph type="sldImg"/>
          </p:nvPr>
        </p:nvSpPr>
        <p:spPr>
          <a:xfrm>
            <a:off x="406400" y="696913"/>
            <a:ext cx="6197600" cy="3486150"/>
          </a:xfrm>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Google's style guideline says to omit the unit for values of 0, but in the interest of parallelism, I prefer including the px for this particular example.</a:t>
            </a:r>
          </a:p>
          <a:p>
            <a:pPr marL="228600" indent="-228600" eaLnBrk="1" hangingPunct="1"/>
            <a:endParaRPr lang="en-US" altLang="en-US" sz="1000" dirty="0"/>
          </a:p>
          <a:p>
            <a:pPr marL="228600" indent="-228600" eaLnBrk="1" hangingPunct="1"/>
            <a:r>
              <a:rPr lang="en-US" altLang="en-US" sz="1000" dirty="0"/>
              <a:t>What does the border-width rule do?</a:t>
            </a:r>
          </a:p>
          <a:p>
            <a:pPr marL="228600" indent="-228600" eaLnBrk="1" hangingPunct="1"/>
            <a:r>
              <a:rPr lang="en-US" altLang="en-US" sz="1000" dirty="0"/>
              <a:t>I draw the top, right, and left sides, with the top one thickest.</a:t>
            </a:r>
          </a:p>
          <a:p>
            <a:pPr marL="228600" indent="-228600" eaLnBrk="1" hangingPunct="1"/>
            <a:endParaRPr lang="en-US" altLang="en-US" sz="1000" dirty="0"/>
          </a:p>
          <a:p>
            <a:pPr marL="228600" indent="-228600" eaLnBrk="1" hangingPunct="1"/>
            <a:r>
              <a:rPr lang="en-US" altLang="en-US" sz="1000" dirty="0"/>
              <a:t>2. Can you rewrite the border-width rule with just 3 values?</a:t>
            </a:r>
          </a:p>
          <a:p>
            <a:pPr marL="228600" indent="-228600" eaLnBrk="1" hangingPunct="1"/>
            <a:r>
              <a:rPr lang="en-US" altLang="en-US" sz="1000" dirty="0"/>
              <a:t>4px 2px 0px</a:t>
            </a:r>
          </a:p>
          <a:p>
            <a:pPr marL="228600" indent="-228600" eaLnBrk="1" hangingPunct="1"/>
            <a:endParaRPr lang="en-US" altLang="en-US" sz="1000" dirty="0"/>
          </a:p>
          <a:p>
            <a:pPr marL="228600" indent="-228600" eaLnBrk="1" hangingPunct="1"/>
            <a:r>
              <a:rPr lang="en-US" altLang="en-US" sz="1000" dirty="0"/>
              <a:t>3. As an alternative, you can use more specific font properties to set each side's border width separately - border-top-width, border-right-width, etc.</a:t>
            </a:r>
          </a:p>
          <a:p>
            <a:pPr marL="228600" indent="-228600" eaLnBrk="1" hangingPunct="1"/>
            <a:r>
              <a:rPr lang="en-US" altLang="en-US" sz="1000" dirty="0"/>
              <a:t>Google recommends not using those properties - too wordy - and I agree with them.</a:t>
            </a:r>
          </a:p>
          <a:p>
            <a:pPr marL="228600" indent="-228600" eaLnBrk="1" hangingPunct="1"/>
            <a:endParaRPr lang="en-US" altLang="en-US" sz="1000" dirty="0"/>
          </a:p>
          <a:p>
            <a:pPr marL="228600" indent="-228600" eaLnBrk="1" hangingPunct="1"/>
            <a:r>
              <a:rPr lang="en-US" altLang="en-US" sz="1000" dirty="0"/>
              <a:t>4. Normally, you'll want the same width for all 4 sides of a border, and to make that happen, you just specify one value for the border-width property.</a:t>
            </a:r>
          </a:p>
          <a:p>
            <a:pPr marL="228600" indent="-228600" eaLnBrk="1" hangingPunct="1"/>
            <a:r>
              <a:rPr lang="en-US" altLang="en-US" sz="1000" dirty="0"/>
              <a:t>That single value will then apply to all 4 sides.</a:t>
            </a:r>
          </a:p>
        </p:txBody>
      </p:sp>
    </p:spTree>
    <p:extLst>
      <p:ext uri="{BB962C8B-B14F-4D97-AF65-F5344CB8AC3E}">
        <p14:creationId xmlns:p14="http://schemas.microsoft.com/office/powerpoint/2010/main" val="157607919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47355D6-A7DF-43BA-80F1-02CF57A59DC5}" type="slidenum">
              <a:rPr lang="en-US" altLang="en-US" smtClean="0">
                <a:latin typeface="Tahoma" panose="020B0604030504040204" pitchFamily="34" charset="0"/>
              </a:rPr>
              <a:pPr>
                <a:spcBef>
                  <a:spcPct val="0"/>
                </a:spcBef>
              </a:pPr>
              <a:t>64</a:t>
            </a:fld>
            <a:endParaRPr lang="en-US" altLang="en-US">
              <a:latin typeface="Tahoma" panose="020B0604030504040204" pitchFamily="34" charset="0"/>
            </a:endParaRPr>
          </a:p>
        </p:txBody>
      </p:sp>
      <p:sp>
        <p:nvSpPr>
          <p:cNvPr id="116739" name="Rectangle 2"/>
          <p:cNvSpPr>
            <a:spLocks noGrp="1" noRot="1" noChangeAspect="1" noChangeArrowheads="1" noTextEdit="1"/>
          </p:cNvSpPr>
          <p:nvPr>
            <p:ph type="sldImg"/>
          </p:nvPr>
        </p:nvSpPr>
        <p:spPr>
          <a:xfrm>
            <a:off x="406400" y="696913"/>
            <a:ext cx="6197600" cy="3486150"/>
          </a:xfrm>
          <a:ln/>
        </p:spPr>
      </p:sp>
      <p:sp>
        <p:nvSpPr>
          <p:cNvPr id="1167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That should make sense - an element must have a visible border for the border’s color to be relevant.</a:t>
            </a:r>
          </a:p>
        </p:txBody>
      </p:sp>
    </p:spTree>
    <p:extLst>
      <p:ext uri="{BB962C8B-B14F-4D97-AF65-F5344CB8AC3E}">
        <p14:creationId xmlns:p14="http://schemas.microsoft.com/office/powerpoint/2010/main" val="235839361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7D161DC-41EA-40A6-BEFC-7951AA9F4503}" type="slidenum">
              <a:rPr lang="en-US" altLang="en-US" smtClean="0">
                <a:latin typeface="Tahoma" panose="020B0604030504040204" pitchFamily="34" charset="0"/>
              </a:rPr>
              <a:pPr>
                <a:spcBef>
                  <a:spcPct val="0"/>
                </a:spcBef>
              </a:pPr>
              <a:t>65</a:t>
            </a:fld>
            <a:endParaRPr lang="en-US" altLang="en-US">
              <a:latin typeface="Tahoma" panose="020B0604030504040204" pitchFamily="34" charset="0"/>
            </a:endParaRPr>
          </a:p>
        </p:txBody>
      </p:sp>
      <p:sp>
        <p:nvSpPr>
          <p:cNvPr id="118787" name="Rectangle 2"/>
          <p:cNvSpPr>
            <a:spLocks noGrp="1" noRot="1" noChangeAspect="1" noChangeArrowheads="1" noTextEdit="1"/>
          </p:cNvSpPr>
          <p:nvPr>
            <p:ph type="sldImg"/>
          </p:nvPr>
        </p:nvSpPr>
        <p:spPr>
          <a:xfrm>
            <a:off x="406400" y="696913"/>
            <a:ext cx="6197600" cy="3486150"/>
          </a:xfrm>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In the examples above, style values are included (dotted and solid), so the borders are visible.</a:t>
            </a:r>
          </a:p>
        </p:txBody>
      </p:sp>
    </p:spTree>
    <p:extLst>
      <p:ext uri="{BB962C8B-B14F-4D97-AF65-F5344CB8AC3E}">
        <p14:creationId xmlns:p14="http://schemas.microsoft.com/office/powerpoint/2010/main" val="70071395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22EA037-4AD9-4AA8-86DD-C7A0E40B96DE}" type="slidenum">
              <a:rPr lang="en-US" altLang="en-US" smtClean="0">
                <a:latin typeface="Tahoma" panose="020B0604030504040204" pitchFamily="34" charset="0"/>
              </a:rPr>
              <a:pPr>
                <a:spcBef>
                  <a:spcPct val="0"/>
                </a:spcBef>
              </a:pPr>
              <a:t>66</a:t>
            </a:fld>
            <a:endParaRPr lang="en-US" altLang="en-US">
              <a:latin typeface="Tahoma" panose="020B0604030504040204" pitchFamily="34" charset="0"/>
            </a:endParaRPr>
          </a:p>
        </p:txBody>
      </p:sp>
      <p:sp>
        <p:nvSpPr>
          <p:cNvPr id="120835" name="Rectangle 2"/>
          <p:cNvSpPr>
            <a:spLocks noGrp="1" noRot="1" noChangeAspect="1" noChangeArrowheads="1" noTextEdit="1"/>
          </p:cNvSpPr>
          <p:nvPr>
            <p:ph type="sldImg"/>
          </p:nvPr>
        </p:nvSpPr>
        <p:spPr>
          <a:xfrm>
            <a:off x="406400" y="696913"/>
            <a:ext cx="6197600" cy="3486150"/>
          </a:xfrm>
          <a:ln/>
        </p:spPr>
      </p:sp>
      <p:sp>
        <p:nvSpPr>
          <p:cNvPr id="120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When a web page is displayed, only the border can be made visible – the inner and outer boxes shown here are just for illustrative purposes.</a:t>
            </a:r>
          </a:p>
          <a:p>
            <a:pPr marL="228600" indent="-228600" eaLnBrk="1" hangingPunct="1"/>
            <a:endParaRPr lang="en-US" altLang="en-US" sz="1000" dirty="0"/>
          </a:p>
          <a:p>
            <a:pPr marL="228600" indent="-228600" eaLnBrk="1" hangingPunct="1"/>
            <a:r>
              <a:rPr lang="en-US" altLang="en-US" sz="1000" dirty="0"/>
              <a:t>2. It can be hard to remember which property is inside the border – padding or margin.</a:t>
            </a:r>
          </a:p>
          <a:p>
            <a:pPr marL="228600" indent="-228600" eaLnBrk="1" hangingPunct="1"/>
            <a:r>
              <a:rPr lang="en-US" altLang="en-US" sz="1000" dirty="0"/>
              <a:t>The way I remember is that you put padding on the inside of a fragile package’s box, so padding is inside the border.</a:t>
            </a:r>
          </a:p>
        </p:txBody>
      </p:sp>
    </p:spTree>
    <p:extLst>
      <p:ext uri="{BB962C8B-B14F-4D97-AF65-F5344CB8AC3E}">
        <p14:creationId xmlns:p14="http://schemas.microsoft.com/office/powerpoint/2010/main" val="412936805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9E67BA2-EC6D-4F53-9ECE-5C5AA275EE63}" type="slidenum">
              <a:rPr lang="en-US" altLang="en-US" smtClean="0">
                <a:latin typeface="Tahoma" panose="020B0604030504040204" pitchFamily="34" charset="0"/>
              </a:rPr>
              <a:pPr>
                <a:spcBef>
                  <a:spcPct val="0"/>
                </a:spcBef>
              </a:pPr>
              <a:t>67</a:t>
            </a:fld>
            <a:endParaRPr lang="en-US" altLang="en-US">
              <a:latin typeface="Tahoma" panose="020B0604030504040204" pitchFamily="34" charset="0"/>
            </a:endParaRPr>
          </a:p>
        </p:txBody>
      </p:sp>
      <p:sp>
        <p:nvSpPr>
          <p:cNvPr id="122883" name="Rectangle 2"/>
          <p:cNvSpPr>
            <a:spLocks noGrp="1" noRot="1" noChangeAspect="1" noChangeArrowheads="1" noTextEdit="1"/>
          </p:cNvSpPr>
          <p:nvPr>
            <p:ph type="sldImg"/>
          </p:nvPr>
        </p:nvSpPr>
        <p:spPr>
          <a:xfrm>
            <a:off x="406400" y="696913"/>
            <a:ext cx="6197600" cy="3486150"/>
          </a:xfrm>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As an alternative to using CSS pixel values, you can use </a:t>
            </a:r>
            <a:r>
              <a:rPr lang="en-US" altLang="en-US" sz="1000" dirty="0" err="1"/>
              <a:t>em</a:t>
            </a:r>
            <a:r>
              <a:rPr lang="en-US" altLang="en-US" sz="1000" dirty="0"/>
              <a:t> values for padding and margin widths, but then the widths become tied to the element's font size and that’s not normally what you want.</a:t>
            </a:r>
          </a:p>
          <a:p>
            <a:pPr marL="228600" indent="-228600" eaLnBrk="1" hangingPunct="1"/>
            <a:endParaRPr lang="en-US" altLang="en-US" sz="1000" dirty="0"/>
          </a:p>
          <a:p>
            <a:pPr marL="228600" indent="-228600" eaLnBrk="1" hangingPunct="1"/>
            <a:r>
              <a:rPr lang="en-US" altLang="en-US" sz="1000" dirty="0"/>
              <a:t>2. Just as with the border-width property, you can specify different padding widths for the 4 different sides.</a:t>
            </a:r>
          </a:p>
          <a:p>
            <a:pPr marL="228600" indent="-228600" eaLnBrk="1" hangingPunct="1"/>
            <a:r>
              <a:rPr lang="en-US" altLang="en-US" sz="1000" dirty="0"/>
              <a:t>Using multiple values</a:t>
            </a:r>
            <a:r>
              <a:rPr lang="en-US" altLang="en-US" sz="1000" baseline="0" dirty="0"/>
              <a:t> with one padding property</a:t>
            </a:r>
          </a:p>
          <a:p>
            <a:pPr marL="228600" indent="-228600" eaLnBrk="1" hangingPunct="1"/>
            <a:r>
              <a:rPr lang="en-US" altLang="en-US" sz="1000" baseline="0" dirty="0"/>
              <a:t>Or using separate padding side properties - </a:t>
            </a:r>
            <a:r>
              <a:rPr lang="en-US" altLang="en-US" sz="1000" dirty="0"/>
              <a:t>padding-top, padding-right, etc.</a:t>
            </a:r>
          </a:p>
          <a:p>
            <a:pPr marL="228600" indent="-228600" eaLnBrk="1" hangingPunct="1"/>
            <a:endParaRPr lang="en-US" altLang="en-US" sz="1000" dirty="0"/>
          </a:p>
          <a:p>
            <a:pPr marL="228600" indent="-228600" eaLnBrk="1" hangingPunct="1"/>
            <a:r>
              <a:rPr lang="en-US" altLang="en-US" sz="1000" dirty="0"/>
              <a:t>3. Just as with the border-width and padding properties, you can specify different margin widths for the 4 different sides.</a:t>
            </a:r>
          </a:p>
          <a:p>
            <a:pPr marL="228600" indent="-228600" eaLnBrk="1" hangingPunct="1"/>
            <a:r>
              <a:rPr lang="en-US" altLang="en-US" sz="1000" dirty="0"/>
              <a:t>Using multiple values</a:t>
            </a:r>
            <a:r>
              <a:rPr lang="en-US" altLang="en-US" sz="1000" baseline="0" dirty="0"/>
              <a:t> with one margin property</a:t>
            </a:r>
          </a:p>
          <a:p>
            <a:pPr marL="228600" indent="-228600" eaLnBrk="1" hangingPunct="1"/>
            <a:r>
              <a:rPr lang="en-US" altLang="en-US" sz="1000" baseline="0" dirty="0"/>
              <a:t>Or using separate margin side properties - margin</a:t>
            </a:r>
            <a:r>
              <a:rPr lang="en-US" altLang="en-US" sz="1000" dirty="0"/>
              <a:t>-top, </a:t>
            </a:r>
            <a:r>
              <a:rPr lang="en-US" altLang="en-US" sz="1000" baseline="0" dirty="0"/>
              <a:t>margin</a:t>
            </a:r>
            <a:r>
              <a:rPr lang="en-US" altLang="en-US" sz="1000" dirty="0"/>
              <a:t>-right, etc.</a:t>
            </a:r>
          </a:p>
          <a:p>
            <a:pPr marL="228600" indent="-228600" eaLnBrk="1" hangingPunct="1"/>
            <a:endParaRPr lang="en-US" altLang="en-US" sz="1000" dirty="0"/>
          </a:p>
          <a:p>
            <a:pPr marL="228600" indent="-228600" eaLnBrk="1" hangingPunct="1"/>
            <a:r>
              <a:rPr lang="en-US" altLang="en-US" sz="1000" dirty="0"/>
              <a:t>[4. The margin and padding properties allow negative values.</a:t>
            </a:r>
          </a:p>
          <a:p>
            <a:pPr marL="228600" indent="-228600" eaLnBrk="1" hangingPunct="1"/>
            <a:r>
              <a:rPr lang="en-US" altLang="en-US" sz="1000" dirty="0"/>
              <a:t>While a positive value forces two entities to be separated by a specified amount, a negative value causes two entities to overlap by a specified amount.]</a:t>
            </a:r>
          </a:p>
        </p:txBody>
      </p:sp>
    </p:spTree>
    <p:extLst>
      <p:ext uri="{BB962C8B-B14F-4D97-AF65-F5344CB8AC3E}">
        <p14:creationId xmlns:p14="http://schemas.microsoft.com/office/powerpoint/2010/main" val="347348025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2CB94D5-0A77-443D-ADCB-6B45D62BCD94}" type="slidenum">
              <a:rPr lang="en-US" altLang="en-US" smtClean="0">
                <a:latin typeface="Tahoma" panose="020B0604030504040204" pitchFamily="34" charset="0"/>
              </a:rPr>
              <a:pPr>
                <a:spcBef>
                  <a:spcPct val="0"/>
                </a:spcBef>
              </a:pPr>
              <a:t>68</a:t>
            </a:fld>
            <a:endParaRPr lang="en-US" altLang="en-US">
              <a:latin typeface="Tahoma" panose="020B0604030504040204" pitchFamily="34" charset="0"/>
            </a:endParaRPr>
          </a:p>
        </p:txBody>
      </p:sp>
      <p:sp>
        <p:nvSpPr>
          <p:cNvPr id="124931" name="Rectangle 2"/>
          <p:cNvSpPr>
            <a:spLocks noGrp="1" noRot="1" noChangeAspect="1" noChangeArrowheads="1" noTextEdit="1"/>
          </p:cNvSpPr>
          <p:nvPr>
            <p:ph type="sldImg"/>
          </p:nvPr>
        </p:nvSpPr>
        <p:spPr>
          <a:xfrm>
            <a:off x="406400" y="696913"/>
            <a:ext cx="6197600" cy="3486150"/>
          </a:xfrm>
          <a:ln/>
        </p:spPr>
      </p:sp>
      <p:sp>
        <p:nvSpPr>
          <p:cNvPr id="124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[1. CSS percentage values are relative to the element that surrounds the selector’s matching element.</a:t>
            </a:r>
          </a:p>
          <a:p>
            <a:pPr marL="228600" indent="-228600" eaLnBrk="1" hangingPunct="1"/>
            <a:r>
              <a:rPr lang="en-US" altLang="en-US" sz="1000" dirty="0"/>
              <a:t>The body element is surrounded by the html element.</a:t>
            </a:r>
          </a:p>
          <a:p>
            <a:pPr marL="228600" indent="-228600" eaLnBrk="1" hangingPunct="1"/>
            <a:r>
              <a:rPr lang="en-US" altLang="en-US" sz="1000" dirty="0"/>
              <a:t>You can use CSS to make the borders appear for both the html and body elements, but that would be pretty weird.]</a:t>
            </a:r>
          </a:p>
        </p:txBody>
      </p:sp>
    </p:spTree>
    <p:extLst>
      <p:ext uri="{BB962C8B-B14F-4D97-AF65-F5344CB8AC3E}">
        <p14:creationId xmlns:p14="http://schemas.microsoft.com/office/powerpoint/2010/main" val="173753986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sz="1200" dirty="0"/>
              <a:t>#1: c</a:t>
            </a:r>
          </a:p>
          <a:p>
            <a:pPr eaLnBrk="1" hangingPunct="1"/>
            <a:r>
              <a:rPr lang="en-US" altLang="en-US" sz="1200" dirty="0"/>
              <a:t>#2: c</a:t>
            </a:r>
          </a:p>
          <a:p>
            <a:endParaRPr lang="en-US" dirty="0"/>
          </a:p>
        </p:txBody>
      </p:sp>
      <p:sp>
        <p:nvSpPr>
          <p:cNvPr id="4" name="Slide Number Placeholder 3"/>
          <p:cNvSpPr>
            <a:spLocks noGrp="1"/>
          </p:cNvSpPr>
          <p:nvPr>
            <p:ph type="sldNum" sz="quarter" idx="5"/>
          </p:nvPr>
        </p:nvSpPr>
        <p:spPr/>
        <p:txBody>
          <a:bodyPr/>
          <a:lstStyle/>
          <a:p>
            <a:pPr>
              <a:defRPr/>
            </a:pPr>
            <a:fld id="{B58C3124-3325-4DBE-A7D8-E91B9C4D7986}" type="slidenum">
              <a:rPr lang="en-US" altLang="en-US" smtClean="0"/>
              <a:pPr>
                <a:defRPr/>
              </a:pPr>
              <a:t>69</a:t>
            </a:fld>
            <a:endParaRPr lang="en-US" altLang="en-US"/>
          </a:p>
        </p:txBody>
      </p:sp>
    </p:spTree>
    <p:extLst>
      <p:ext uri="{BB962C8B-B14F-4D97-AF65-F5344CB8AC3E}">
        <p14:creationId xmlns:p14="http://schemas.microsoft.com/office/powerpoint/2010/main" val="384963566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5E588D3-BFA1-43B8-B760-184E7F166FBF}" type="slidenum">
              <a:rPr lang="en-US" altLang="en-US" smtClean="0">
                <a:latin typeface="Tahoma" panose="020B0604030504040204" pitchFamily="34" charset="0"/>
              </a:rPr>
              <a:pPr>
                <a:spcBef>
                  <a:spcPct val="0"/>
                </a:spcBef>
              </a:pPr>
              <a:t>70</a:t>
            </a:fld>
            <a:endParaRPr lang="en-US" altLang="en-US">
              <a:latin typeface="Tahoma" panose="020B0604030504040204" pitchFamily="34" charset="0"/>
            </a:endParaRPr>
          </a:p>
        </p:txBody>
      </p:sp>
      <p:sp>
        <p:nvSpPr>
          <p:cNvPr id="71683" name="Rectangle 2"/>
          <p:cNvSpPr>
            <a:spLocks noGrp="1" noRot="1" noChangeAspect="1" noChangeArrowheads="1" noTextEdit="1"/>
          </p:cNvSpPr>
          <p:nvPr>
            <p:ph type="sldImg"/>
          </p:nvPr>
        </p:nvSpPr>
        <p:spPr>
          <a:xfrm>
            <a:off x="406400" y="619125"/>
            <a:ext cx="6197600" cy="3486150"/>
          </a:xfrm>
          <a:ln/>
        </p:spPr>
      </p:sp>
      <p:sp>
        <p:nvSpPr>
          <p:cNvPr id="71684" name="Rectangle 3"/>
          <p:cNvSpPr>
            <a:spLocks noGrp="1" noChangeArrowheads="1"/>
          </p:cNvSpPr>
          <p:nvPr>
            <p:ph type="body" idx="1"/>
          </p:nvPr>
        </p:nvSpPr>
        <p:spPr>
          <a:xfrm>
            <a:off x="701040" y="4338638"/>
            <a:ext cx="5686213" cy="44259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dirty="0"/>
              <a:t>0. I skip this slide and the next one in lecture.</a:t>
            </a:r>
          </a:p>
          <a:p>
            <a:pPr marL="228600" indent="-228600" eaLnBrk="1" hangingPunct="1"/>
            <a:endParaRPr lang="en-US" altLang="en-US" sz="1000" dirty="0"/>
          </a:p>
          <a:p>
            <a:pPr marL="228600" indent="-228600" eaLnBrk="1" hangingPunct="1"/>
            <a:r>
              <a:rPr lang="en-US" altLang="en-US" sz="1000" dirty="0"/>
              <a:t>1. Each hex symbol requires 4 bits (f = 1111), there are 6 hex symbols, so there are 24 total bits.</a:t>
            </a:r>
          </a:p>
          <a:p>
            <a:pPr marL="228600" indent="-228600" eaLnBrk="1" hangingPunct="1"/>
            <a:endParaRPr lang="en-US" altLang="en-US" sz="1000" dirty="0"/>
          </a:p>
          <a:p>
            <a:pPr marL="228600" indent="-228600" eaLnBrk="1" hangingPunct="1"/>
            <a:r>
              <a:rPr lang="en-US" altLang="en-US" sz="1000" dirty="0"/>
              <a:t>2. 24 bits provides for 2</a:t>
            </a:r>
            <a:r>
              <a:rPr lang="en-US" altLang="en-US" sz="1000" baseline="30000" dirty="0"/>
              <a:t>24</a:t>
            </a:r>
            <a:r>
              <a:rPr lang="en-US" altLang="en-US" sz="1000" dirty="0"/>
              <a:t> unique values.</a:t>
            </a:r>
          </a:p>
          <a:p>
            <a:pPr marL="228600" indent="-228600" eaLnBrk="1" hangingPunct="1"/>
            <a:r>
              <a:rPr lang="en-US" altLang="en-US" sz="1000" dirty="0"/>
              <a:t>2</a:t>
            </a:r>
            <a:r>
              <a:rPr lang="en-US" altLang="en-US" sz="1000" baseline="30000" dirty="0"/>
              <a:t>20</a:t>
            </a:r>
            <a:r>
              <a:rPr lang="en-US" altLang="en-US" sz="1000" dirty="0"/>
              <a:t> is approximately 1 million.</a:t>
            </a:r>
          </a:p>
          <a:p>
            <a:pPr marL="228600" indent="-228600" eaLnBrk="1" hangingPunct="1"/>
            <a:r>
              <a:rPr lang="en-US" altLang="en-US" sz="1000" dirty="0"/>
              <a:t>If you double 1 million 4 times, you get 16 million.</a:t>
            </a:r>
          </a:p>
          <a:p>
            <a:pPr marL="228600" indent="-228600" eaLnBrk="1" hangingPunct="1"/>
            <a:endParaRPr lang="en-US" altLang="en-US" sz="1000" dirty="0"/>
          </a:p>
          <a:p>
            <a:pPr marL="228600" indent="-228600" eaLnBrk="1" hangingPunct="1"/>
            <a:r>
              <a:rPr lang="en-US" altLang="en-US" sz="1000" dirty="0"/>
              <a:t>3. http://www.quora.com/Color-and-Colors/Does-all-the-RGB-values-have-a-HSL-HSV-equivalent:</a:t>
            </a:r>
          </a:p>
          <a:p>
            <a:pPr marL="228600" indent="-228600" eaLnBrk="1" hangingPunct="1"/>
            <a:r>
              <a:rPr lang="en-US" altLang="en-US" sz="1000" dirty="0"/>
              <a:t>HSL sometimes uses more bits than RGB.</a:t>
            </a:r>
          </a:p>
          <a:p>
            <a:pPr marL="228600" indent="-228600" eaLnBrk="1" hangingPunct="1"/>
            <a:endParaRPr lang="en-US" altLang="en-US" sz="1000" dirty="0"/>
          </a:p>
          <a:p>
            <a:pPr marL="228600" indent="-228600" eaLnBrk="1" hangingPunct="1"/>
            <a:r>
              <a:rPr lang="en-US" altLang="en-US" sz="1000" dirty="0"/>
              <a:t>To represent 0-360 for hue, HSL will use 9 bits.</a:t>
            </a:r>
          </a:p>
          <a:p>
            <a:pPr marL="228600" indent="-228600" eaLnBrk="1" hangingPunct="1"/>
            <a:r>
              <a:rPr lang="en-US" altLang="en-US" sz="1000" dirty="0"/>
              <a:t>To represent 0%-100% for each saturation and lightness value, HSL will use 7 bits.</a:t>
            </a:r>
          </a:p>
          <a:p>
            <a:pPr marL="228600" indent="-228600" eaLnBrk="1" hangingPunct="1"/>
            <a:r>
              <a:rPr lang="en-US" altLang="en-US" sz="1000" dirty="0"/>
              <a:t>(https://answers.launchpad.net/inkscape/+question/105932:)</a:t>
            </a:r>
          </a:p>
          <a:p>
            <a:pPr marL="228600" indent="-228600" eaLnBrk="1" hangingPunct="1"/>
            <a:r>
              <a:rPr lang="en-US" altLang="en-US" sz="1000" dirty="0"/>
              <a:t>But saturation and lightness values are sometimes sub-ranged to one decimal place. (0.1 to 100.0).</a:t>
            </a:r>
          </a:p>
          <a:p>
            <a:pPr marL="228600" indent="-228600" eaLnBrk="1" hangingPunct="1"/>
            <a:r>
              <a:rPr lang="en-US" altLang="en-US" sz="1000" dirty="0"/>
              <a:t>To handle the additional precision, some monitors will use 10 bits for each saturation and lightness value.</a:t>
            </a:r>
          </a:p>
          <a:p>
            <a:pPr marL="228600" indent="-228600" eaLnBrk="1" hangingPunct="1"/>
            <a:endParaRPr lang="en-US" altLang="en-US" sz="1000" dirty="0"/>
          </a:p>
          <a:p>
            <a:pPr marL="228600" indent="-228600" eaLnBrk="1" hangingPunct="1"/>
            <a:r>
              <a:rPr lang="en-US" altLang="en-US" sz="1000" dirty="0"/>
              <a:t>4. Most new monitors are capable of handling 32 bits for color values.</a:t>
            </a:r>
          </a:p>
          <a:p>
            <a:pPr marL="228600" indent="-228600" eaLnBrk="1" hangingPunct="1"/>
            <a:r>
              <a:rPr lang="en-US" altLang="en-US" sz="1000" dirty="0"/>
              <a:t>The extra bits are used for the alpha value in RGBA and HSLA, and sometimes the extra digit of precision in HSL saturation and lightness values.</a:t>
            </a:r>
          </a:p>
        </p:txBody>
      </p:sp>
    </p:spTree>
    <p:extLst>
      <p:ext uri="{BB962C8B-B14F-4D97-AF65-F5344CB8AC3E}">
        <p14:creationId xmlns:p14="http://schemas.microsoft.com/office/powerpoint/2010/main" val="93453775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2CBD824-C011-4051-91CA-117C36F8843E}" type="slidenum">
              <a:rPr lang="en-US" altLang="en-US" smtClean="0">
                <a:latin typeface="Tahoma" panose="020B0604030504040204" pitchFamily="34" charset="0"/>
              </a:rPr>
              <a:pPr>
                <a:spcBef>
                  <a:spcPct val="0"/>
                </a:spcBef>
              </a:pPr>
              <a:t>71</a:t>
            </a:fld>
            <a:endParaRPr lang="en-US" altLang="en-US">
              <a:latin typeface="Tahoma" panose="020B0604030504040204" pitchFamily="34" charset="0"/>
            </a:endParaRPr>
          </a:p>
        </p:txBody>
      </p:sp>
      <p:sp>
        <p:nvSpPr>
          <p:cNvPr id="73731" name="Rectangle 2"/>
          <p:cNvSpPr>
            <a:spLocks noGrp="1" noRot="1" noChangeAspect="1" noChangeArrowheads="1" noTextEdit="1"/>
          </p:cNvSpPr>
          <p:nvPr>
            <p:ph type="sldImg"/>
          </p:nvPr>
        </p:nvSpPr>
        <p:spPr>
          <a:xfrm>
            <a:off x="406400" y="619125"/>
            <a:ext cx="6197600" cy="3486150"/>
          </a:xfrm>
          <a:ln/>
        </p:spPr>
      </p:sp>
      <p:sp>
        <p:nvSpPr>
          <p:cNvPr id="73732" name="Rectangle 3"/>
          <p:cNvSpPr>
            <a:spLocks noGrp="1" noChangeArrowheads="1"/>
          </p:cNvSpPr>
          <p:nvPr>
            <p:ph type="body" idx="1"/>
          </p:nvPr>
        </p:nvSpPr>
        <p:spPr>
          <a:xfrm>
            <a:off x="701040" y="4338641"/>
            <a:ext cx="5686213" cy="43386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a:t>(1. From http://hypertextbook.com/facts/2006/JenniferLeong.shtml)</a:t>
            </a:r>
          </a:p>
          <a:p>
            <a:pPr marL="228600" indent="-228600" eaLnBrk="1" hangingPunct="1"/>
            <a:endParaRPr lang="en-US" altLang="en-US" sz="1000"/>
          </a:p>
          <a:p>
            <a:pPr marL="228600" indent="-228600" eaLnBrk="1" hangingPunct="1"/>
            <a:r>
              <a:rPr lang="en-US" altLang="en-US" sz="1000"/>
              <a:t>2. From http://www.mywebsite.force9.co.uk/web-colors/color-guide.htm:</a:t>
            </a:r>
          </a:p>
          <a:p>
            <a:pPr marL="228600" indent="-228600" eaLnBrk="1" hangingPunct="1"/>
            <a:r>
              <a:rPr lang="en-US" altLang="en-US" sz="1000"/>
              <a:t>Using the nearest available color is faster. Dithering leads to a more accurate color.</a:t>
            </a:r>
          </a:p>
          <a:p>
            <a:pPr marL="228600" indent="-228600" eaLnBrk="1" hangingPunct="1"/>
            <a:endParaRPr lang="en-US" altLang="en-US" sz="1000"/>
          </a:p>
          <a:p>
            <a:pPr marL="228600" indent="-228600" eaLnBrk="1" hangingPunct="1"/>
            <a:r>
              <a:rPr lang="en-US" altLang="en-US" sz="1000"/>
              <a:t>3. Can 24-bit colors represent all the colors a human can see?</a:t>
            </a:r>
          </a:p>
          <a:p>
            <a:pPr marL="228600" indent="-228600" eaLnBrk="1" hangingPunct="1"/>
            <a:r>
              <a:rPr lang="en-US" altLang="en-US" sz="1000"/>
              <a:t>Yes, 24-bit colors can display 2</a:t>
            </a:r>
            <a:r>
              <a:rPr lang="en-US" altLang="en-US" sz="1000" baseline="30000"/>
              <a:t>24</a:t>
            </a:r>
            <a:r>
              <a:rPr lang="en-US" altLang="en-US" sz="1000"/>
              <a:t> = 16,777,216 different values.</a:t>
            </a:r>
          </a:p>
        </p:txBody>
      </p:sp>
    </p:spTree>
    <p:extLst>
      <p:ext uri="{BB962C8B-B14F-4D97-AF65-F5344CB8AC3E}">
        <p14:creationId xmlns:p14="http://schemas.microsoft.com/office/powerpoint/2010/main" val="406077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bwMode="invGray">
      <p:bgPr>
        <a:solidFill>
          <a:srgbClr val="003B74"/>
        </a:solidFill>
        <a:effectLst/>
      </p:bgPr>
    </p:bg>
    <p:spTree>
      <p:nvGrpSpPr>
        <p:cNvPr id="1" name=""/>
        <p:cNvGrpSpPr/>
        <p:nvPr/>
      </p:nvGrpSpPr>
      <p:grpSpPr>
        <a:xfrm>
          <a:off x="0" y="0"/>
          <a:ext cx="0" cy="0"/>
          <a:chOff x="0" y="0"/>
          <a:chExt cx="0" cy="0"/>
        </a:xfrm>
      </p:grpSpPr>
      <p:sp>
        <p:nvSpPr>
          <p:cNvPr id="9" name="Rectangle 8"/>
          <p:cNvSpPr/>
          <p:nvPr/>
        </p:nvSpPr>
        <p:spPr>
          <a:xfrm>
            <a:off x="0" y="1851660"/>
            <a:ext cx="12192000" cy="377190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10" name="Rectangle 9"/>
          <p:cNvSpPr/>
          <p:nvPr/>
        </p:nvSpPr>
        <p:spPr>
          <a:xfrm>
            <a:off x="-1" y="701802"/>
            <a:ext cx="12192001" cy="10332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1"/>
          <p:cNvSpPr>
            <a:spLocks noGrp="1"/>
          </p:cNvSpPr>
          <p:nvPr>
            <p:ph type="ctrTitle" hasCustomPrompt="1"/>
          </p:nvPr>
        </p:nvSpPr>
        <p:spPr bwMode="black">
          <a:xfrm>
            <a:off x="882217" y="2200275"/>
            <a:ext cx="6421553" cy="3074670"/>
          </a:xfrm>
          <a:noFill/>
        </p:spPr>
        <p:txBody>
          <a:bodyPr lIns="0" tIns="0" rIns="0" bIns="0" anchor="ctr" anchorCtr="0">
            <a:normAutofit/>
          </a:bodyPr>
          <a:lstStyle>
            <a:lvl1pPr algn="l">
              <a:lnSpc>
                <a:spcPct val="90000"/>
              </a:lnSpc>
              <a:defRPr sz="6000" b="1">
                <a:solidFill>
                  <a:schemeClr val="tx1"/>
                </a:solidFill>
              </a:defRPr>
            </a:lvl1pPr>
          </a:lstStyle>
          <a:p>
            <a:r>
              <a:rPr lang="en-US" dirty="0"/>
              <a:t>Chapter Title</a:t>
            </a:r>
            <a:endParaRPr dirty="0"/>
          </a:p>
        </p:txBody>
      </p:sp>
      <p:sp>
        <p:nvSpPr>
          <p:cNvPr id="3" name="Subtitle 2"/>
          <p:cNvSpPr>
            <a:spLocks noGrp="1"/>
          </p:cNvSpPr>
          <p:nvPr>
            <p:ph type="subTitle" idx="1" hasCustomPrompt="1"/>
          </p:nvPr>
        </p:nvSpPr>
        <p:spPr>
          <a:xfrm>
            <a:off x="882217" y="845820"/>
            <a:ext cx="6524423" cy="777639"/>
          </a:xfrm>
        </p:spPr>
        <p:txBody>
          <a:bodyPr lIns="0" tIns="0" rIns="0" bIns="0" anchor="ctr" anchorCtr="0">
            <a:normAutofit/>
          </a:bodyPr>
          <a:lstStyle>
            <a:lvl1pPr marL="0" indent="0" algn="l">
              <a:spcBef>
                <a:spcPts val="0"/>
              </a:spcBef>
              <a:buNone/>
              <a:defRPr sz="32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1</a:t>
            </a:r>
            <a:endParaRPr dirty="0"/>
          </a:p>
        </p:txBody>
      </p:sp>
      <p:sp>
        <p:nvSpPr>
          <p:cNvPr id="7" name="Picture Placeholder 6">
            <a:extLst>
              <a:ext uri="{FF2B5EF4-FFF2-40B4-BE49-F238E27FC236}">
                <a16:creationId xmlns:a16="http://schemas.microsoft.com/office/drawing/2014/main" id="{EC9CFE91-0E8B-934B-8D25-5CBB7FD65D50}"/>
              </a:ext>
            </a:extLst>
          </p:cNvPr>
          <p:cNvSpPr>
            <a:spLocks noGrp="1"/>
          </p:cNvSpPr>
          <p:nvPr>
            <p:ph type="pic" sz="quarter" idx="10"/>
          </p:nvPr>
        </p:nvSpPr>
        <p:spPr>
          <a:xfrm>
            <a:off x="8100060" y="388500"/>
            <a:ext cx="3604981" cy="6081000"/>
          </a:xfrm>
        </p:spPr>
        <p:txBody>
          <a:bodyPr/>
          <a:lstStyle/>
          <a:p>
            <a:r>
              <a:rPr lang="en-US"/>
              <a:t>Click icon to add picture</a:t>
            </a:r>
          </a:p>
        </p:txBody>
      </p:sp>
      <p:sp>
        <p:nvSpPr>
          <p:cNvPr id="17" name="Rectangle 16">
            <a:extLst>
              <a:ext uri="{FF2B5EF4-FFF2-40B4-BE49-F238E27FC236}">
                <a16:creationId xmlns:a16="http://schemas.microsoft.com/office/drawing/2014/main" id="{BEEECFBC-FB4D-9945-A4FF-28E342055AC3}"/>
              </a:ext>
            </a:extLst>
          </p:cNvPr>
          <p:cNvSpPr/>
          <p:nvPr/>
        </p:nvSpPr>
        <p:spPr>
          <a:xfrm>
            <a:off x="0" y="6503670"/>
            <a:ext cx="12192000" cy="215444"/>
          </a:xfrm>
          <a:prstGeom prst="rect">
            <a:avLst/>
          </a:prstGeom>
        </p:spPr>
        <p:txBody>
          <a:bodyPr wrap="square">
            <a:spAutoFit/>
          </a:bodyPr>
          <a:lstStyle/>
          <a:p>
            <a:pPr algn="ctr"/>
            <a:r>
              <a:rPr lang="en-US" sz="800" dirty="0">
                <a:solidFill>
                  <a:schemeClr val="bg2"/>
                </a:solidFill>
                <a:latin typeface="Arial" panose="020B0604020202020204" pitchFamily="34" charset="0"/>
                <a:cs typeface="Arial" panose="020B0604020202020204" pitchFamily="34" charset="0"/>
              </a:rPr>
              <a:t>Copyright © 2025 by Jones &amp; Bartlett Learning, LLC an Ascend Learning Company. </a:t>
            </a:r>
            <a:r>
              <a:rPr lang="en-US" sz="800" dirty="0" err="1">
                <a:solidFill>
                  <a:schemeClr val="bg2"/>
                </a:solidFill>
                <a:latin typeface="Arial" panose="020B0604020202020204" pitchFamily="34" charset="0"/>
                <a:cs typeface="Arial" panose="020B0604020202020204" pitchFamily="34" charset="0"/>
              </a:rPr>
              <a:t>www.jblearning.com</a:t>
            </a:r>
            <a:r>
              <a:rPr lang="en-US" sz="800" dirty="0">
                <a:solidFill>
                  <a:schemeClr val="bg2"/>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269041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Blank">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1E3BDFD-7FA5-2143-88E5-0CEE0A6011AD}"/>
              </a:ext>
            </a:extLst>
          </p:cNvPr>
          <p:cNvSpPr/>
          <p:nvPr/>
        </p:nvSpPr>
        <p:spPr>
          <a:xfrm>
            <a:off x="0" y="6503670"/>
            <a:ext cx="12192000" cy="215444"/>
          </a:xfrm>
          <a:prstGeom prst="rect">
            <a:avLst/>
          </a:prstGeom>
        </p:spPr>
        <p:txBody>
          <a:bodyPr wrap="square">
            <a:spAutoFit/>
          </a:bodyPr>
          <a:lstStyle/>
          <a:p>
            <a:pPr algn="ctr"/>
            <a:r>
              <a:rPr lang="en-US" sz="800" dirty="0">
                <a:latin typeface="Arial" panose="020B0604020202020204" pitchFamily="34" charset="0"/>
                <a:cs typeface="Arial" panose="020B0604020202020204" pitchFamily="34" charset="0"/>
              </a:rPr>
              <a:t>Copyright © 2025 by Jones &amp; Bartlett Learning, LLC an Ascend Learning Company. www.jblearning.com. Background texture © </a:t>
            </a:r>
            <a:r>
              <a:rPr lang="en-US" sz="800" dirty="0" err="1">
                <a:latin typeface="Arial" panose="020B0604020202020204" pitchFamily="34" charset="0"/>
                <a:cs typeface="Arial" panose="020B0604020202020204" pitchFamily="34" charset="0"/>
              </a:rPr>
              <a:t>Bunphot</a:t>
            </a:r>
            <a:r>
              <a:rPr lang="en-US" sz="800" dirty="0">
                <a:latin typeface="Arial" panose="020B0604020202020204" pitchFamily="34" charset="0"/>
                <a:cs typeface="Arial" panose="020B0604020202020204" pitchFamily="34" charset="0"/>
              </a:rPr>
              <a:t>/Getty Images.</a:t>
            </a:r>
          </a:p>
        </p:txBody>
      </p:sp>
      <p:sp>
        <p:nvSpPr>
          <p:cNvPr id="6" name="Rectangle 5">
            <a:extLst>
              <a:ext uri="{FF2B5EF4-FFF2-40B4-BE49-F238E27FC236}">
                <a16:creationId xmlns:a16="http://schemas.microsoft.com/office/drawing/2014/main" id="{A4FD052D-18CE-1249-A891-AB3E165F4441}"/>
              </a:ext>
            </a:extLst>
          </p:cNvPr>
          <p:cNvSpPr/>
          <p:nvPr/>
        </p:nvSpPr>
        <p:spPr>
          <a:xfrm>
            <a:off x="0" y="2274570"/>
            <a:ext cx="12192000" cy="1760220"/>
          </a:xfrm>
          <a:prstGeom prst="rect">
            <a:avLst/>
          </a:prstGeom>
          <a:solidFill>
            <a:srgbClr val="003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8C0E0F34-F7A9-8D4B-9F49-A76F8B00661D}"/>
              </a:ext>
            </a:extLst>
          </p:cNvPr>
          <p:cNvSpPr>
            <a:spLocks noGrp="1"/>
          </p:cNvSpPr>
          <p:nvPr>
            <p:ph type="body" sz="quarter" idx="10" hasCustomPrompt="1"/>
          </p:nvPr>
        </p:nvSpPr>
        <p:spPr>
          <a:xfrm>
            <a:off x="935038" y="2571750"/>
            <a:ext cx="10321925" cy="1165225"/>
          </a:xfrm>
        </p:spPr>
        <p:txBody>
          <a:bodyPr anchor="ctr" anchorCtr="0"/>
          <a:lstStyle>
            <a:lvl1pPr marL="0" indent="0" algn="ctr">
              <a:buNone/>
              <a:defRPr sz="4800" b="1">
                <a:solidFill>
                  <a:srgbClr val="FFFFFF"/>
                </a:solidFill>
              </a:defRPr>
            </a:lvl1pPr>
          </a:lstStyle>
          <a:p>
            <a:pPr lvl="0"/>
            <a:r>
              <a:rPr lang="en-US" dirty="0"/>
              <a:t>Divider</a:t>
            </a:r>
          </a:p>
        </p:txBody>
      </p:sp>
    </p:spTree>
    <p:extLst>
      <p:ext uri="{BB962C8B-B14F-4D97-AF65-F5344CB8AC3E}">
        <p14:creationId xmlns:p14="http://schemas.microsoft.com/office/powerpoint/2010/main" val="3244798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idx="1"/>
          </p:nvPr>
        </p:nvSpPr>
        <p:spPr>
          <a:xfrm>
            <a:off x="925830" y="1490870"/>
            <a:ext cx="10287000" cy="469904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849518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sz="half" idx="1"/>
          </p:nvPr>
        </p:nvSpPr>
        <p:spPr>
          <a:xfrm>
            <a:off x="914400" y="1461052"/>
            <a:ext cx="4855464" cy="47294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6415368" y="1461052"/>
            <a:ext cx="4862232" cy="47294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162253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Text Placeholder 2"/>
          <p:cNvSpPr>
            <a:spLocks noGrp="1"/>
          </p:cNvSpPr>
          <p:nvPr>
            <p:ph type="body" idx="1"/>
          </p:nvPr>
        </p:nvSpPr>
        <p:spPr>
          <a:xfrm>
            <a:off x="777240" y="1496187"/>
            <a:ext cx="4992624" cy="470916"/>
          </a:xfrm>
        </p:spPr>
        <p:txBody>
          <a:bodyPr anchor="t" anchorCtr="0"/>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77240" y="2077278"/>
            <a:ext cx="4992624" cy="43908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1" name="Picture Placeholder 10">
            <a:extLst>
              <a:ext uri="{FF2B5EF4-FFF2-40B4-BE49-F238E27FC236}">
                <a16:creationId xmlns:a16="http://schemas.microsoft.com/office/drawing/2014/main" id="{A3169499-437D-8F4D-94AA-E2299357328F}"/>
              </a:ext>
            </a:extLst>
          </p:cNvPr>
          <p:cNvSpPr>
            <a:spLocks noGrp="1"/>
          </p:cNvSpPr>
          <p:nvPr>
            <p:ph type="pic" sz="quarter" idx="10"/>
          </p:nvPr>
        </p:nvSpPr>
        <p:spPr>
          <a:xfrm>
            <a:off x="6096000" y="1496186"/>
            <a:ext cx="5208588" cy="4556743"/>
          </a:xfrm>
        </p:spPr>
        <p:txBody>
          <a:bodyPr/>
          <a:lstStyle/>
          <a:p>
            <a:r>
              <a:rPr lang="en-US"/>
              <a:t>Click icon to add picture</a:t>
            </a:r>
          </a:p>
        </p:txBody>
      </p:sp>
      <p:sp>
        <p:nvSpPr>
          <p:cNvPr id="12" name="Text Placeholder 8">
            <a:extLst>
              <a:ext uri="{FF2B5EF4-FFF2-40B4-BE49-F238E27FC236}">
                <a16:creationId xmlns:a16="http://schemas.microsoft.com/office/drawing/2014/main" id="{B116746D-2971-C346-AB96-03BED323E049}"/>
              </a:ext>
            </a:extLst>
          </p:cNvPr>
          <p:cNvSpPr>
            <a:spLocks noGrp="1"/>
          </p:cNvSpPr>
          <p:nvPr>
            <p:ph type="body" sz="quarter" idx="11" hasCustomPrompt="1"/>
          </p:nvPr>
        </p:nvSpPr>
        <p:spPr>
          <a:xfrm>
            <a:off x="6096000" y="6142515"/>
            <a:ext cx="5208588" cy="651192"/>
          </a:xfrm>
        </p:spPr>
        <p:txBody>
          <a:bodyPr/>
          <a:lstStyle>
            <a:lvl1pPr marL="0" indent="0">
              <a:buNone/>
              <a:defRPr sz="1000"/>
            </a:lvl1pPr>
          </a:lstStyle>
          <a:p>
            <a:pPr lvl="0"/>
            <a:r>
              <a:rPr lang="en-US" dirty="0"/>
              <a:t>Credit line FPO</a:t>
            </a:r>
          </a:p>
        </p:txBody>
      </p:sp>
    </p:spTree>
    <p:extLst>
      <p:ext uri="{BB962C8B-B14F-4D97-AF65-F5344CB8AC3E}">
        <p14:creationId xmlns:p14="http://schemas.microsoft.com/office/powerpoint/2010/main" val="354284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Tree>
    <p:extLst>
      <p:ext uri="{BB962C8B-B14F-4D97-AF65-F5344CB8AC3E}">
        <p14:creationId xmlns:p14="http://schemas.microsoft.com/office/powerpoint/2010/main" val="3737281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4" name="Text Placeholder 2"/>
          <p:cNvSpPr>
            <a:spLocks noGrp="1"/>
          </p:cNvSpPr>
          <p:nvPr>
            <p:ph type="body" sz="half" idx="2"/>
          </p:nvPr>
        </p:nvSpPr>
        <p:spPr>
          <a:xfrm>
            <a:off x="880110" y="1510748"/>
            <a:ext cx="4246582" cy="4404625"/>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ext Placeholder 8">
            <a:extLst>
              <a:ext uri="{FF2B5EF4-FFF2-40B4-BE49-F238E27FC236}">
                <a16:creationId xmlns:a16="http://schemas.microsoft.com/office/drawing/2014/main" id="{752B3F09-47B3-324C-BCD8-DE2A52443CC0}"/>
              </a:ext>
            </a:extLst>
          </p:cNvPr>
          <p:cNvSpPr>
            <a:spLocks noGrp="1"/>
          </p:cNvSpPr>
          <p:nvPr>
            <p:ph type="body" sz="quarter" idx="10" hasCustomPrompt="1"/>
          </p:nvPr>
        </p:nvSpPr>
        <p:spPr>
          <a:xfrm>
            <a:off x="5518150" y="6046788"/>
            <a:ext cx="5792992" cy="651192"/>
          </a:xfrm>
        </p:spPr>
        <p:txBody>
          <a:bodyPr/>
          <a:lstStyle>
            <a:lvl1pPr marL="0" indent="0">
              <a:buNone/>
              <a:defRPr sz="1000"/>
            </a:lvl1pPr>
          </a:lstStyle>
          <a:p>
            <a:pPr lvl="0"/>
            <a:r>
              <a:rPr lang="en-US" dirty="0"/>
              <a:t>Credit line FPO</a:t>
            </a:r>
          </a:p>
        </p:txBody>
      </p:sp>
      <p:sp>
        <p:nvSpPr>
          <p:cNvPr id="11" name="Picture Placeholder 10">
            <a:extLst>
              <a:ext uri="{FF2B5EF4-FFF2-40B4-BE49-F238E27FC236}">
                <a16:creationId xmlns:a16="http://schemas.microsoft.com/office/drawing/2014/main" id="{8A3226D5-00A8-E049-8469-4BFBE39DD467}"/>
              </a:ext>
            </a:extLst>
          </p:cNvPr>
          <p:cNvSpPr>
            <a:spLocks noGrp="1"/>
          </p:cNvSpPr>
          <p:nvPr>
            <p:ph type="pic" sz="quarter" idx="11"/>
          </p:nvPr>
        </p:nvSpPr>
        <p:spPr>
          <a:xfrm>
            <a:off x="5518150" y="1508815"/>
            <a:ext cx="5792788" cy="4404624"/>
          </a:xfrm>
        </p:spPr>
        <p:txBody>
          <a:bodyPr/>
          <a:lstStyle/>
          <a:p>
            <a:r>
              <a:rPr lang="en-US"/>
              <a:t>Click icon to add picture</a:t>
            </a:r>
          </a:p>
        </p:txBody>
      </p:sp>
    </p:spTree>
    <p:extLst>
      <p:ext uri="{BB962C8B-B14F-4D97-AF65-F5344CB8AC3E}">
        <p14:creationId xmlns:p14="http://schemas.microsoft.com/office/powerpoint/2010/main" val="3665136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3" name="Content Placeholder 3"/>
          <p:cNvSpPr>
            <a:spLocks noGrp="1"/>
          </p:cNvSpPr>
          <p:nvPr>
            <p:ph idx="1" hasCustomPrompt="1"/>
          </p:nvPr>
        </p:nvSpPr>
        <p:spPr>
          <a:xfrm>
            <a:off x="921496" y="1461052"/>
            <a:ext cx="3181874" cy="4895328"/>
          </a:xfrm>
        </p:spPr>
        <p:txBody>
          <a:bodyPr>
            <a:normAutofit/>
          </a:bodyPr>
          <a:lstStyle>
            <a:lvl1pPr marL="0" indent="0">
              <a:buNone/>
              <a:defRPr sz="2200"/>
            </a:lvl1pPr>
            <a:lvl2pPr marL="457200" indent="0">
              <a:buNone/>
              <a:defRPr sz="2000"/>
            </a:lvl2pPr>
            <a:lvl3pPr marL="914400" indent="0">
              <a:buNone/>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en-US" dirty="0"/>
              <a:t>Sample text</a:t>
            </a:r>
            <a:endParaRPr dirty="0"/>
          </a:p>
        </p:txBody>
      </p:sp>
      <p:sp>
        <p:nvSpPr>
          <p:cNvPr id="7" name="Content Placeholder 3">
            <a:extLst>
              <a:ext uri="{FF2B5EF4-FFF2-40B4-BE49-F238E27FC236}">
                <a16:creationId xmlns:a16="http://schemas.microsoft.com/office/drawing/2014/main" id="{40A1ED7B-82D7-5A47-A193-C7C24693D3C4}"/>
              </a:ext>
            </a:extLst>
          </p:cNvPr>
          <p:cNvSpPr>
            <a:spLocks noGrp="1"/>
          </p:cNvSpPr>
          <p:nvPr>
            <p:ph idx="10" hasCustomPrompt="1"/>
          </p:nvPr>
        </p:nvSpPr>
        <p:spPr>
          <a:xfrm>
            <a:off x="448765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
        <p:nvSpPr>
          <p:cNvPr id="8" name="Content Placeholder 3">
            <a:extLst>
              <a:ext uri="{FF2B5EF4-FFF2-40B4-BE49-F238E27FC236}">
                <a16:creationId xmlns:a16="http://schemas.microsoft.com/office/drawing/2014/main" id="{43872FE9-5E92-4F44-8A71-024A081C439C}"/>
              </a:ext>
            </a:extLst>
          </p:cNvPr>
          <p:cNvSpPr>
            <a:spLocks noGrp="1"/>
          </p:cNvSpPr>
          <p:nvPr>
            <p:ph idx="11" hasCustomPrompt="1"/>
          </p:nvPr>
        </p:nvSpPr>
        <p:spPr>
          <a:xfrm>
            <a:off x="805381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Tree>
    <p:extLst>
      <p:ext uri="{BB962C8B-B14F-4D97-AF65-F5344CB8AC3E}">
        <p14:creationId xmlns:p14="http://schemas.microsoft.com/office/powerpoint/2010/main" val="3029112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4" y="341313"/>
            <a:ext cx="9438216" cy="754062"/>
          </a:xfrm>
        </p:spPr>
        <p:txBody>
          <a:bodyPr/>
          <a:lstStyle/>
          <a:p>
            <a:r>
              <a:rPr lang="en-US"/>
              <a:t>Click to edit Master title style</a:t>
            </a:r>
          </a:p>
        </p:txBody>
      </p:sp>
      <p:sp>
        <p:nvSpPr>
          <p:cNvPr id="3" name="Text Placeholder 2"/>
          <p:cNvSpPr>
            <a:spLocks noGrp="1"/>
          </p:cNvSpPr>
          <p:nvPr>
            <p:ph type="body" sz="half" idx="1"/>
          </p:nvPr>
        </p:nvSpPr>
        <p:spPr>
          <a:xfrm>
            <a:off x="1016000" y="1524000"/>
            <a:ext cx="53594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78600" y="1524000"/>
            <a:ext cx="5361517"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4"/>
          <p:cNvSpPr>
            <a:spLocks noGrp="1" noChangeArrowheads="1"/>
          </p:cNvSpPr>
          <p:nvPr>
            <p:ph type="ftr" sz="quarter" idx="10"/>
          </p:nvPr>
        </p:nvSpPr>
        <p:spPr>
          <a:ln/>
        </p:spPr>
        <p:txBody>
          <a:bodyPr/>
          <a:lstStyle>
            <a:lvl1pPr>
              <a:defRPr/>
            </a:lvl1pPr>
          </a:lstStyle>
          <a:p>
            <a:pPr>
              <a:defRPr/>
            </a:pPr>
            <a:endParaRPr lang="en-US"/>
          </a:p>
        </p:txBody>
      </p:sp>
      <p:sp>
        <p:nvSpPr>
          <p:cNvPr id="6" name="Rectangle 15"/>
          <p:cNvSpPr>
            <a:spLocks noGrp="1" noChangeArrowheads="1"/>
          </p:cNvSpPr>
          <p:nvPr>
            <p:ph type="sldNum" sz="quarter" idx="11"/>
          </p:nvPr>
        </p:nvSpPr>
        <p:spPr>
          <a:ln/>
        </p:spPr>
        <p:txBody>
          <a:bodyPr/>
          <a:lstStyle>
            <a:lvl1pPr>
              <a:defRPr/>
            </a:lvl1pPr>
          </a:lstStyle>
          <a:p>
            <a:pPr>
              <a:defRPr/>
            </a:pPr>
            <a:fld id="{F068A555-36BE-4654-985E-91B52088A946}" type="slidenum">
              <a:rPr lang="en-US" altLang="en-US"/>
              <a:pPr>
                <a:defRPr/>
              </a:pPr>
              <a:t>‹#›</a:t>
            </a:fld>
            <a:endParaRPr lang="en-US" altLang="en-US"/>
          </a:p>
        </p:txBody>
      </p:sp>
    </p:spTree>
    <p:extLst>
      <p:ext uri="{BB962C8B-B14F-4D97-AF65-F5344CB8AC3E}">
        <p14:creationId xmlns:p14="http://schemas.microsoft.com/office/powerpoint/2010/main" val="527420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2188952" cy="1188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Placeholder 1"/>
          <p:cNvSpPr>
            <a:spLocks noGrp="1"/>
          </p:cNvSpPr>
          <p:nvPr>
            <p:ph type="title"/>
          </p:nvPr>
        </p:nvSpPr>
        <p:spPr bwMode="black">
          <a:xfrm>
            <a:off x="0" y="121033"/>
            <a:ext cx="12192000" cy="1002089"/>
          </a:xfrm>
          <a:prstGeom prst="rect">
            <a:avLst/>
          </a:prstGeom>
          <a:solidFill>
            <a:srgbClr val="003B74"/>
          </a:solidFill>
        </p:spPr>
        <p:txBody>
          <a:bodyPr vert="horz" lIns="914400" tIns="45720" rIns="91440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891540" y="2203704"/>
            <a:ext cx="10435590" cy="3986213"/>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Rectangle 6">
            <a:extLst>
              <a:ext uri="{FF2B5EF4-FFF2-40B4-BE49-F238E27FC236}">
                <a16:creationId xmlns:a16="http://schemas.microsoft.com/office/drawing/2014/main" id="{21F38BD8-3F75-CE4C-AFEF-0C6B45F77F8C}"/>
              </a:ext>
            </a:extLst>
          </p:cNvPr>
          <p:cNvSpPr/>
          <p:nvPr/>
        </p:nvSpPr>
        <p:spPr>
          <a:xfrm rot="5400000">
            <a:off x="9544258" y="4245031"/>
            <a:ext cx="5010495" cy="215444"/>
          </a:xfrm>
          <a:prstGeom prst="rect">
            <a:avLst/>
          </a:prstGeom>
        </p:spPr>
        <p:txBody>
          <a:bodyPr wrap="square">
            <a:spAutoFit/>
          </a:bodyPr>
          <a:lstStyle/>
          <a:p>
            <a:r>
              <a:rPr lang="en-US" sz="800" dirty="0">
                <a:latin typeface="Arial" panose="020B0604020202020204" pitchFamily="34" charset="0"/>
                <a:cs typeface="Arial" panose="020B0604020202020204" pitchFamily="34" charset="0"/>
              </a:rPr>
              <a:t>Copyright © 2025 by Jones &amp; Bartlett Learning, LLC an Ascend Learning Company. </a:t>
            </a:r>
            <a:r>
              <a:rPr lang="en-US" sz="800" dirty="0" err="1">
                <a:latin typeface="Arial" panose="020B0604020202020204" pitchFamily="34" charset="0"/>
                <a:cs typeface="Arial" panose="020B0604020202020204" pitchFamily="34" charset="0"/>
              </a:rPr>
              <a:t>www.jblearning.com</a:t>
            </a:r>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80792173"/>
      </p:ext>
    </p:extLst>
  </p:cSld>
  <p:clrMap bg1="lt1" tx1="dk1" bg2="lt2" tx2="dk2" accent1="accent1" accent2="accent2" accent3="accent3" accent4="accent4" accent5="accent5" accent6="accent6" hlink="hlink" folHlink="folHlink"/>
  <p:sldLayoutIdLst>
    <p:sldLayoutId id="2147486080" r:id="rId1"/>
    <p:sldLayoutId id="2147486081" r:id="rId2"/>
    <p:sldLayoutId id="2147486082" r:id="rId3"/>
    <p:sldLayoutId id="2147486083" r:id="rId4"/>
    <p:sldLayoutId id="2147486084" r:id="rId5"/>
    <p:sldLayoutId id="2147486085" r:id="rId6"/>
    <p:sldLayoutId id="2147486086" r:id="rId7"/>
    <p:sldLayoutId id="2147486087" r:id="rId8"/>
    <p:sldLayoutId id="2147486088" r:id="rId9"/>
  </p:sldLayoutIdLst>
  <p:hf sldNum="0" hdr="0" ftr="0" dt="0"/>
  <p:txStyles>
    <p:titleStyle>
      <a:lvl1pPr algn="l" defTabSz="914400" rtl="0" eaLnBrk="1" latinLnBrk="0" hangingPunct="1">
        <a:lnSpc>
          <a:spcPct val="95000"/>
        </a:lnSpc>
        <a:spcBef>
          <a:spcPct val="0"/>
        </a:spcBef>
        <a:buNone/>
        <a:defRPr sz="2800" b="1" kern="1200">
          <a:solidFill>
            <a:schemeClr val="bg2"/>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300"/>
        </a:spcBef>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300"/>
        </a:spcBef>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hyperlink" Target="http://jigsaw.w3.org/css-validator" TargetMode="External"/><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developer.mozilla.org/en-US/docs/Web/CSS/Reference" TargetMode="External"/><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hyperlink" Target="https://developer.mozilla.org/en-US/docs/Web/CSS/named-color" TargetMode="External"/><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hyperlink" Target="http://www.w3schools.com/colors/colors_hsl.asp" TargetMode="External"/><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hyperlink" Target="https://developer.mozilla.org/en-US/docs/Web/CSS/font-family" TargetMode="External"/><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hyperlink" Target="https://developer.mozilla.org/en-US/docs/Web/CSS/font-family" TargetMode="External"/><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hyperlink" Target="https://web.dev/articles/high-dpi" TargetMode="External"/><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EF4E523-B2C9-FB8D-6339-BEBDE88F897B}"/>
              </a:ext>
            </a:extLst>
          </p:cNvPr>
          <p:cNvSpPr>
            <a:spLocks noGrp="1"/>
          </p:cNvSpPr>
          <p:nvPr>
            <p:ph type="ctrTitle"/>
          </p:nvPr>
        </p:nvSpPr>
        <p:spPr/>
        <p:txBody>
          <a:bodyPr/>
          <a:lstStyle/>
          <a:p>
            <a:r>
              <a:rPr lang="en-US" dirty="0"/>
              <a:t>Cascading Style Sheets (CSS)</a:t>
            </a:r>
          </a:p>
        </p:txBody>
      </p:sp>
      <p:sp>
        <p:nvSpPr>
          <p:cNvPr id="5" name="Subtitle 4">
            <a:extLst>
              <a:ext uri="{FF2B5EF4-FFF2-40B4-BE49-F238E27FC236}">
                <a16:creationId xmlns:a16="http://schemas.microsoft.com/office/drawing/2014/main" id="{4AF84C7E-B24F-2438-33C9-BF4104B4056E}"/>
              </a:ext>
            </a:extLst>
          </p:cNvPr>
          <p:cNvSpPr>
            <a:spLocks noGrp="1"/>
          </p:cNvSpPr>
          <p:nvPr>
            <p:ph type="subTitle" idx="1"/>
          </p:nvPr>
        </p:nvSpPr>
        <p:spPr/>
        <p:txBody>
          <a:bodyPr/>
          <a:lstStyle/>
          <a:p>
            <a:r>
              <a:rPr lang="en-US" dirty="0"/>
              <a:t>CHAPTER 3</a:t>
            </a:r>
          </a:p>
        </p:txBody>
      </p:sp>
      <p:pic>
        <p:nvPicPr>
          <p:cNvPr id="7" name="Picture Placeholder 6" descr="The navigation page of Web Programming with HTML, CSS, and JavaScript (Second Edition) by John Dean. At the top, the text &quot;SECOND EDITION&quot; appears in small, uppercase font. Below it, the main title &quot;Web Programming&quot; is displayed in a large, bold font. Directly underneath, the subtitle &quot;with HTML, CSS, and JavaScript&quot; is written in a smaller, italicized font. Between the title and the author's name, there is a thin horizontal line that separates these sections. Further down, on the right side, the author's name, &quot;John Dean,&quot; is printed in a small, simple font. The lower half of the cover features an abstract digital illustration of a sphere composed of numerous interconnected thin lines connecting various small dots. These dots vary in size and are scattered throughout the sphere and beyond. On the left edge of the cover, there is a vertical sidebar. Within this sidebar, text is written that reads &quot;jblearning: cybersecurity plus IT. On the bottom left corner, the Navigate logo is present, accompanied by the text &quot;Navigate&quot; beside it. To the right of this text, &quot;Access Code Mode&quot; is mentioned. Below the &quot;Navigate&quot; text, the term &quot;eBook&quot; is written.">
            <a:extLst>
              <a:ext uri="{FF2B5EF4-FFF2-40B4-BE49-F238E27FC236}">
                <a16:creationId xmlns:a16="http://schemas.microsoft.com/office/drawing/2014/main" id="{70CF219B-EA95-EF03-FC66-040E8F837401}"/>
              </a:ext>
            </a:extLst>
          </p:cNvPr>
          <p:cNvPicPr>
            <a:picLocks noGrp="1" noChangeAspect="1"/>
          </p:cNvPicPr>
          <p:nvPr>
            <p:ph type="pic" sz="quarter" idx="10"/>
          </p:nvPr>
        </p:nvPicPr>
        <p:blipFill>
          <a:blip r:embed="rId2" cstate="print"/>
          <a:srcRect l="3" r="3"/>
          <a:stretch>
            <a:fillRect/>
          </a:stretch>
        </p:blipFill>
        <p:spPr>
          <a:prstGeom prst="rect">
            <a:avLst/>
          </a:prstGeom>
        </p:spPr>
      </p:pic>
    </p:spTree>
    <p:extLst>
      <p:ext uri="{BB962C8B-B14F-4D97-AF65-F5344CB8AC3E}">
        <p14:creationId xmlns:p14="http://schemas.microsoft.com/office/powerpoint/2010/main" val="617328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121033"/>
            <a:ext cx="12192000" cy="1002089"/>
          </a:xfrm>
        </p:spPr>
        <p:txBody>
          <a:bodyPr/>
          <a:lstStyle/>
          <a:p>
            <a:r>
              <a:rPr lang="en-US" altLang="en-US" dirty="0"/>
              <a:t>Chapter Objectives (1 of 3)</a:t>
            </a:r>
          </a:p>
        </p:txBody>
      </p:sp>
      <p:sp>
        <p:nvSpPr>
          <p:cNvPr id="5124" name="Rectangle 3"/>
          <p:cNvSpPr>
            <a:spLocks noGrp="1" noChangeArrowheads="1"/>
          </p:cNvSpPr>
          <p:nvPr>
            <p:ph idx="1"/>
          </p:nvPr>
        </p:nvSpPr>
        <p:spPr>
          <a:xfrm>
            <a:off x="838200" y="1219200"/>
            <a:ext cx="10287000" cy="4699000"/>
          </a:xfrm>
        </p:spPr>
        <p:txBody>
          <a:bodyPr/>
          <a:lstStyle/>
          <a:p>
            <a:r>
              <a:rPr lang="en-US" altLang="en-US" dirty="0"/>
              <a:t>CSS Overview</a:t>
            </a:r>
          </a:p>
          <a:p>
            <a:r>
              <a:rPr lang="en-US" altLang="en-US" dirty="0"/>
              <a:t>CSS Rules</a:t>
            </a:r>
          </a:p>
          <a:p>
            <a:r>
              <a:rPr lang="en-US" altLang="en-US" dirty="0"/>
              <a:t>Example with Universal and Type Selectors</a:t>
            </a:r>
          </a:p>
          <a:p>
            <a:r>
              <a:rPr lang="en-US" altLang="en-US" dirty="0"/>
              <a:t>CSS Syntax and Style</a:t>
            </a:r>
          </a:p>
          <a:p>
            <a:r>
              <a:rPr lang="en-US" altLang="en-US" dirty="0">
                <a:latin typeface="Courier New" panose="02070309020205020404" pitchFamily="49" charset="0"/>
                <a:cs typeface="Courier New" panose="02070309020205020404" pitchFamily="49" charset="0"/>
              </a:rPr>
              <a:t>class</a:t>
            </a:r>
            <a:r>
              <a:rPr lang="en-US" altLang="en-US" dirty="0"/>
              <a:t> Selectors</a:t>
            </a:r>
          </a:p>
          <a:p>
            <a:r>
              <a:rPr lang="en-US" altLang="en-US" dirty="0">
                <a:latin typeface="Courier New" panose="02070309020205020404" pitchFamily="49" charset="0"/>
                <a:cs typeface="Courier New" panose="02070309020205020404" pitchFamily="49" charset="0"/>
              </a:rPr>
              <a:t>id</a:t>
            </a:r>
            <a:r>
              <a:rPr lang="en-US" altLang="en-US" dirty="0"/>
              <a:t> Selectors</a:t>
            </a:r>
          </a:p>
          <a:p>
            <a:r>
              <a:rPr lang="en-US" altLang="en-US" dirty="0">
                <a:latin typeface="Courier New" panose="02070309020205020404" pitchFamily="49" charset="0"/>
                <a:cs typeface="Courier New" panose="02070309020205020404" pitchFamily="49" charset="0"/>
              </a:rPr>
              <a:t>span</a:t>
            </a:r>
            <a:r>
              <a:rPr lang="en-US" altLang="en-US" dirty="0"/>
              <a:t> and </a:t>
            </a:r>
            <a:r>
              <a:rPr lang="en-US" altLang="en-US" dirty="0">
                <a:latin typeface="Courier New" panose="02070309020205020404" pitchFamily="49" charset="0"/>
                <a:cs typeface="Courier New" panose="02070309020205020404" pitchFamily="49" charset="0"/>
              </a:rPr>
              <a:t>div</a:t>
            </a:r>
            <a:r>
              <a:rPr lang="en-US" altLang="en-US" dirty="0"/>
              <a:t> Elements</a:t>
            </a:r>
          </a:p>
          <a:p>
            <a:r>
              <a:rPr lang="en-US" altLang="en-US" dirty="0"/>
              <a:t>Cascading</a:t>
            </a:r>
          </a:p>
          <a:p>
            <a:r>
              <a:rPr lang="en-US" altLang="en-US" dirty="0">
                <a:latin typeface="Courier New" panose="02070309020205020404" pitchFamily="49" charset="0"/>
                <a:cs typeface="Courier New" panose="02070309020205020404" pitchFamily="49" charset="0"/>
              </a:rPr>
              <a:t>style</a:t>
            </a:r>
            <a:r>
              <a:rPr lang="en-US" altLang="en-US" dirty="0"/>
              <a:t> Attribute</a:t>
            </a:r>
          </a:p>
          <a:p>
            <a:r>
              <a:rPr lang="en-US" altLang="en-US" dirty="0">
                <a:latin typeface="Courier New" panose="02070309020205020404" pitchFamily="49" charset="0"/>
                <a:cs typeface="Courier New" panose="02070309020205020404" pitchFamily="49" charset="0"/>
              </a:rPr>
              <a:t>style</a:t>
            </a:r>
            <a:r>
              <a:rPr lang="en-US" altLang="en-US" dirty="0"/>
              <a:t> Container</a:t>
            </a:r>
          </a:p>
          <a:p>
            <a:endParaRPr lang="en-US" altLang="en-US" dirty="0"/>
          </a:p>
        </p:txBody>
      </p:sp>
      <p:sp>
        <p:nvSpPr>
          <p:cNvPr id="5125" name="Text Box 5" descr="note number"/>
          <p:cNvSpPr txBox="1">
            <a:spLocks noChangeArrowheads="1"/>
          </p:cNvSpPr>
          <p:nvPr/>
        </p:nvSpPr>
        <p:spPr bwMode="auto">
          <a:xfrm>
            <a:off x="457200" y="13335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121033"/>
            <a:ext cx="12192000" cy="1002089"/>
          </a:xfrm>
        </p:spPr>
        <p:txBody>
          <a:bodyPr/>
          <a:lstStyle/>
          <a:p>
            <a:r>
              <a:rPr lang="en-US" altLang="en-US" dirty="0"/>
              <a:t>Chapter Objectives (2 of 3)</a:t>
            </a:r>
          </a:p>
        </p:txBody>
      </p:sp>
      <p:sp>
        <p:nvSpPr>
          <p:cNvPr id="5124" name="Rectangle 3"/>
          <p:cNvSpPr>
            <a:spLocks noGrp="1" noChangeArrowheads="1"/>
          </p:cNvSpPr>
          <p:nvPr>
            <p:ph idx="1"/>
          </p:nvPr>
        </p:nvSpPr>
        <p:spPr>
          <a:xfrm>
            <a:off x="925830" y="1490870"/>
            <a:ext cx="10287000" cy="4699047"/>
          </a:xfrm>
        </p:spPr>
        <p:txBody>
          <a:bodyPr/>
          <a:lstStyle/>
          <a:p>
            <a:r>
              <a:rPr lang="en-US" altLang="en-US" dirty="0"/>
              <a:t>External CSS Files</a:t>
            </a:r>
          </a:p>
          <a:p>
            <a:r>
              <a:rPr lang="en-US" altLang="en-US" dirty="0"/>
              <a:t>CSS Properties</a:t>
            </a:r>
          </a:p>
          <a:p>
            <a:r>
              <a:rPr lang="en-US" altLang="en-US" dirty="0"/>
              <a:t>Color Properties</a:t>
            </a:r>
          </a:p>
          <a:p>
            <a:r>
              <a:rPr lang="en-US" altLang="en-US" dirty="0"/>
              <a:t>Color Names</a:t>
            </a:r>
          </a:p>
          <a:p>
            <a:r>
              <a:rPr lang="en-US" altLang="en-US" dirty="0"/>
              <a:t>RGB Values with Percentages</a:t>
            </a:r>
          </a:p>
          <a:p>
            <a:r>
              <a:rPr lang="en-US" altLang="en-US" dirty="0"/>
              <a:t>RGB Values with Integers</a:t>
            </a:r>
          </a:p>
          <a:p>
            <a:r>
              <a:rPr lang="en-US" altLang="en-US" dirty="0"/>
              <a:t>RGB Values with Hexadecimal</a:t>
            </a:r>
          </a:p>
          <a:p>
            <a:r>
              <a:rPr lang="en-US" altLang="en-US" dirty="0"/>
              <a:t>RGBA Values for Color</a:t>
            </a:r>
          </a:p>
          <a:p>
            <a:endParaRPr lang="en-US" altLang="en-US" dirty="0"/>
          </a:p>
        </p:txBody>
      </p:sp>
    </p:spTree>
    <p:extLst>
      <p:ext uri="{BB962C8B-B14F-4D97-AF65-F5344CB8AC3E}">
        <p14:creationId xmlns:p14="http://schemas.microsoft.com/office/powerpoint/2010/main" val="3206735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121033"/>
            <a:ext cx="12192000" cy="1002089"/>
          </a:xfrm>
        </p:spPr>
        <p:txBody>
          <a:bodyPr/>
          <a:lstStyle/>
          <a:p>
            <a:r>
              <a:rPr lang="en-US" altLang="en-US" dirty="0"/>
              <a:t>Chapter Objectives (3 of 3)</a:t>
            </a:r>
          </a:p>
        </p:txBody>
      </p:sp>
      <p:sp>
        <p:nvSpPr>
          <p:cNvPr id="5124" name="Rectangle 3"/>
          <p:cNvSpPr>
            <a:spLocks noGrp="1" noChangeArrowheads="1"/>
          </p:cNvSpPr>
          <p:nvPr>
            <p:ph idx="1"/>
          </p:nvPr>
        </p:nvSpPr>
        <p:spPr>
          <a:xfrm>
            <a:off x="925830" y="1490870"/>
            <a:ext cx="10287000" cy="4699047"/>
          </a:xfrm>
        </p:spPr>
        <p:txBody>
          <a:bodyPr/>
          <a:lstStyle/>
          <a:p>
            <a:r>
              <a:rPr lang="en-US" altLang="en-US" dirty="0"/>
              <a:t>HSL and HSLA Values for Color</a:t>
            </a:r>
          </a:p>
          <a:p>
            <a:r>
              <a:rPr lang="en-US" altLang="en-US" dirty="0"/>
              <a:t>Font Properties</a:t>
            </a:r>
          </a:p>
          <a:p>
            <a:r>
              <a:rPr lang="en-US" altLang="en-US" dirty="0">
                <a:latin typeface="Courier New" panose="02070309020205020404" pitchFamily="49" charset="0"/>
                <a:cs typeface="Courier New" panose="02070309020205020404" pitchFamily="49" charset="0"/>
              </a:rPr>
              <a:t>line-height</a:t>
            </a:r>
            <a:r>
              <a:rPr lang="en-US" altLang="en-US" dirty="0"/>
              <a:t> Property</a:t>
            </a:r>
          </a:p>
          <a:p>
            <a:r>
              <a:rPr lang="en-US" altLang="en-US" dirty="0"/>
              <a:t>Text Properties</a:t>
            </a:r>
          </a:p>
          <a:p>
            <a:r>
              <a:rPr lang="en-US" altLang="en-US" dirty="0"/>
              <a:t>Border Properties</a:t>
            </a:r>
          </a:p>
          <a:p>
            <a:r>
              <a:rPr lang="en-US" altLang="en-US" dirty="0"/>
              <a:t>Element Box</a:t>
            </a:r>
          </a:p>
          <a:p>
            <a:r>
              <a:rPr lang="en-US" altLang="en-US" dirty="0">
                <a:latin typeface="Courier New" panose="02070309020205020404" pitchFamily="49" charset="0"/>
                <a:cs typeface="Courier New" panose="02070309020205020404" pitchFamily="49" charset="0"/>
              </a:rPr>
              <a:t>padding</a:t>
            </a:r>
            <a:r>
              <a:rPr lang="en-US" altLang="en-US" dirty="0"/>
              <a:t> and </a:t>
            </a:r>
            <a:r>
              <a:rPr lang="en-US" altLang="en-US" dirty="0">
                <a:latin typeface="Courier New" panose="02070309020205020404" pitchFamily="49" charset="0"/>
                <a:cs typeface="Courier New" panose="02070309020205020404" pitchFamily="49" charset="0"/>
              </a:rPr>
              <a:t>margin</a:t>
            </a:r>
            <a:r>
              <a:rPr lang="en-US" altLang="en-US" dirty="0"/>
              <a:t> Properties</a:t>
            </a:r>
          </a:p>
          <a:p>
            <a:r>
              <a:rPr lang="en-US" altLang="en-US" dirty="0"/>
              <a:t>Using % for a Web Page’s Margin</a:t>
            </a:r>
          </a:p>
        </p:txBody>
      </p:sp>
    </p:spTree>
    <p:extLst>
      <p:ext uri="{BB962C8B-B14F-4D97-AF65-F5344CB8AC3E}">
        <p14:creationId xmlns:p14="http://schemas.microsoft.com/office/powerpoint/2010/main" val="3749651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0" y="121033"/>
            <a:ext cx="12192000" cy="1002089"/>
          </a:xfrm>
        </p:spPr>
        <p:txBody>
          <a:bodyPr/>
          <a:lstStyle/>
          <a:p>
            <a:r>
              <a:rPr lang="en-US" altLang="en-US" dirty="0"/>
              <a:t>CSS Overview (1 of 2)</a:t>
            </a:r>
          </a:p>
        </p:txBody>
      </p:sp>
      <p:sp>
        <p:nvSpPr>
          <p:cNvPr id="6148" name="Rectangle 3"/>
          <p:cNvSpPr>
            <a:spLocks noGrp="1" noChangeArrowheads="1"/>
          </p:cNvSpPr>
          <p:nvPr>
            <p:ph idx="1"/>
          </p:nvPr>
        </p:nvSpPr>
        <p:spPr>
          <a:xfrm>
            <a:off x="925830" y="1490870"/>
            <a:ext cx="10287000" cy="4699047"/>
          </a:xfrm>
        </p:spPr>
        <p:txBody>
          <a:bodyPr/>
          <a:lstStyle/>
          <a:p>
            <a:r>
              <a:rPr lang="en-US" dirty="0"/>
              <a:t>W3C’s goal in terms of how HTML and CSS should fit together:</a:t>
            </a:r>
          </a:p>
          <a:p>
            <a:pPr lvl="1"/>
            <a:r>
              <a:rPr lang="en-US" dirty="0"/>
              <a:t>Use HTML to specify a web page’s content.</a:t>
            </a:r>
          </a:p>
          <a:p>
            <a:pPr lvl="1"/>
            <a:r>
              <a:rPr lang="en-US" dirty="0"/>
              <a:t>Use CSS to specify a web page’s appearance.</a:t>
            </a:r>
          </a:p>
          <a:p>
            <a:r>
              <a:rPr lang="en-US" dirty="0"/>
              <a:t>CSS provides the ability to specify many details about a web page’s appearance.</a:t>
            </a:r>
          </a:p>
          <a:p>
            <a:r>
              <a:rPr lang="en-US" dirty="0"/>
              <a:t>CSS code is normally separated from web page content. Why is that a good thing?</a:t>
            </a:r>
          </a:p>
          <a:p>
            <a:pPr lvl="1"/>
            <a:r>
              <a:rPr lang="en-US" dirty="0"/>
              <a:t>Because if you want to change the appearance of something, it’s easy to find the CSS code; it’s at the top of the web page or in an external file.</a:t>
            </a:r>
          </a:p>
        </p:txBody>
      </p:sp>
      <p:sp>
        <p:nvSpPr>
          <p:cNvPr id="7173" name="Text Box 6" descr="note number"/>
          <p:cNvSpPr txBox="1">
            <a:spLocks noChangeArrowheads="1"/>
          </p:cNvSpPr>
          <p:nvPr/>
        </p:nvSpPr>
        <p:spPr bwMode="auto">
          <a:xfrm>
            <a:off x="304800" y="3271837"/>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7174" name="Text Box 7" descr="note number"/>
          <p:cNvSpPr txBox="1">
            <a:spLocks noChangeArrowheads="1"/>
          </p:cNvSpPr>
          <p:nvPr/>
        </p:nvSpPr>
        <p:spPr bwMode="auto">
          <a:xfrm>
            <a:off x="304800" y="47244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0" y="121033"/>
            <a:ext cx="12192000" cy="1002089"/>
          </a:xfrm>
        </p:spPr>
        <p:txBody>
          <a:bodyPr/>
          <a:lstStyle/>
          <a:p>
            <a:r>
              <a:rPr lang="en-US" altLang="en-US" dirty="0"/>
              <a:t>CSS Overview (2 of 2)</a:t>
            </a:r>
          </a:p>
        </p:txBody>
      </p:sp>
      <p:sp>
        <p:nvSpPr>
          <p:cNvPr id="6148" name="Rectangle 3"/>
          <p:cNvSpPr>
            <a:spLocks noGrp="1" noChangeArrowheads="1"/>
          </p:cNvSpPr>
          <p:nvPr>
            <p:ph idx="1"/>
          </p:nvPr>
        </p:nvSpPr>
        <p:spPr>
          <a:xfrm>
            <a:off x="925830" y="1490870"/>
            <a:ext cx="10287000" cy="4699047"/>
          </a:xfrm>
        </p:spPr>
        <p:txBody>
          <a:bodyPr/>
          <a:lstStyle/>
          <a:p>
            <a:r>
              <a:rPr lang="en-US" dirty="0"/>
              <a:t>The current version of CSS is CSS3. All major browsers support it.</a:t>
            </a:r>
          </a:p>
          <a:p>
            <a:r>
              <a:rPr lang="en-US" dirty="0"/>
              <a:t>CSS3 is divided into separate modules. Each module has its own timeline for updates. As new features get dreamed up, they get added to CSS3 as new modules.</a:t>
            </a:r>
          </a:p>
        </p:txBody>
      </p:sp>
      <p:sp>
        <p:nvSpPr>
          <p:cNvPr id="7175" name="Text Box 7" descr="note number"/>
          <p:cNvSpPr txBox="1">
            <a:spLocks noChangeArrowheads="1"/>
          </p:cNvSpPr>
          <p:nvPr/>
        </p:nvSpPr>
        <p:spPr bwMode="auto">
          <a:xfrm>
            <a:off x="381000" y="3114675"/>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3</a:t>
            </a:r>
          </a:p>
        </p:txBody>
      </p:sp>
    </p:spTree>
    <p:extLst>
      <p:ext uri="{BB962C8B-B14F-4D97-AF65-F5344CB8AC3E}">
        <p14:creationId xmlns:p14="http://schemas.microsoft.com/office/powerpoint/2010/main" val="1834128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0" y="121033"/>
            <a:ext cx="12192000" cy="1002089"/>
          </a:xfrm>
        </p:spPr>
        <p:txBody>
          <a:bodyPr/>
          <a:lstStyle/>
          <a:p>
            <a:r>
              <a:rPr lang="en-US" altLang="en-US" dirty="0"/>
              <a:t>CSS Rules (1 of 2)</a:t>
            </a:r>
          </a:p>
        </p:txBody>
      </p:sp>
      <p:sp>
        <p:nvSpPr>
          <p:cNvPr id="9220" name="Rectangle 3"/>
          <p:cNvSpPr>
            <a:spLocks noGrp="1" noChangeArrowheads="1"/>
          </p:cNvSpPr>
          <p:nvPr>
            <p:ph idx="1"/>
          </p:nvPr>
        </p:nvSpPr>
        <p:spPr>
          <a:xfrm>
            <a:off x="925830" y="1490870"/>
            <a:ext cx="10287000" cy="4699047"/>
          </a:xfrm>
        </p:spPr>
        <p:txBody>
          <a:bodyPr/>
          <a:lstStyle/>
          <a:p>
            <a:r>
              <a:rPr lang="en-US" altLang="en-US" dirty="0"/>
              <a:t>The way CSS works is that CSS rules are applied to elements within a web page. Browsers determine which elements to apply the CSS rules to with the help of </a:t>
            </a:r>
            <a:r>
              <a:rPr lang="en-US" altLang="en-US" i="1" dirty="0"/>
              <a:t>selectors</a:t>
            </a:r>
            <a:r>
              <a:rPr lang="en-US" altLang="en-US" dirty="0"/>
              <a:t>.</a:t>
            </a:r>
          </a:p>
          <a:p>
            <a:r>
              <a:rPr lang="en-US" altLang="en-US" dirty="0"/>
              <a:t>There are quite a few different types of selectors.</a:t>
            </a:r>
          </a:p>
          <a:p>
            <a:r>
              <a:rPr lang="en-US" altLang="en-US" dirty="0"/>
              <a:t>One of the most popular selectors is the </a:t>
            </a:r>
            <a:r>
              <a:rPr lang="en-US" altLang="en-US" i="1" dirty="0"/>
              <a:t>type selector</a:t>
            </a:r>
            <a:r>
              <a:rPr lang="en-US" altLang="en-US" dirty="0"/>
              <a:t>. It uses an element type (e.g., </a:t>
            </a:r>
            <a:r>
              <a:rPr lang="en-US" altLang="en-US" dirty="0" err="1">
                <a:latin typeface="Courier New" panose="02070309020205020404" pitchFamily="49" charset="0"/>
                <a:cs typeface="Courier New" panose="02070309020205020404" pitchFamily="49" charset="0"/>
              </a:rPr>
              <a:t>hr</a:t>
            </a:r>
            <a:r>
              <a:rPr lang="en-US" altLang="en-US" dirty="0"/>
              <a:t>) to match all instances of that element type.</a:t>
            </a:r>
          </a:p>
          <a:p>
            <a:r>
              <a:rPr lang="en-US" altLang="en-US" dirty="0"/>
              <a:t>For example, the following CSS rule uses a type selector with the</a:t>
            </a: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hr</a:t>
            </a:r>
            <a:r>
              <a:rPr lang="en-US" altLang="en-US" dirty="0">
                <a:latin typeface="Courier New" panose="02070309020205020404" pitchFamily="49" charset="0"/>
                <a:cs typeface="Courier New" panose="02070309020205020404" pitchFamily="49" charset="0"/>
              </a:rPr>
              <a:t> </a:t>
            </a:r>
            <a:r>
              <a:rPr lang="en-US" altLang="en-US" dirty="0"/>
              <a:t>element type and applies a width of 50% to all the </a:t>
            </a:r>
            <a:r>
              <a:rPr lang="en-US" altLang="en-US" dirty="0" err="1">
                <a:latin typeface="Courier New" panose="02070309020205020404" pitchFamily="49" charset="0"/>
                <a:cs typeface="Courier New" panose="02070309020205020404" pitchFamily="49" charset="0"/>
              </a:rPr>
              <a:t>hr</a:t>
            </a:r>
            <a:r>
              <a:rPr lang="en-US" altLang="en-US" dirty="0"/>
              <a:t> elements in the current web page:</a:t>
            </a:r>
          </a:p>
          <a:p>
            <a:pPr marL="457200" lvl="1" indent="0">
              <a:buNone/>
            </a:pPr>
            <a:r>
              <a:rPr lang="en-US" altLang="en-US" sz="2000" dirty="0" err="1">
                <a:latin typeface="Courier New" panose="02070309020205020404" pitchFamily="49" charset="0"/>
                <a:cs typeface="Courier New" panose="02070309020205020404" pitchFamily="49" charset="0"/>
              </a:rPr>
              <a:t>hr</a:t>
            </a:r>
            <a:r>
              <a:rPr lang="en-US" altLang="en-US" sz="2000" dirty="0">
                <a:latin typeface="Courier New" panose="02070309020205020404" pitchFamily="49" charset="0"/>
                <a:cs typeface="Courier New" panose="02070309020205020404" pitchFamily="49" charset="0"/>
              </a:rPr>
              <a:t> {width: 50%;}</a:t>
            </a:r>
          </a:p>
        </p:txBody>
      </p:sp>
      <p:sp>
        <p:nvSpPr>
          <p:cNvPr id="9221" name="Text Box 9" descr="note number"/>
          <p:cNvSpPr txBox="1">
            <a:spLocks noChangeArrowheads="1"/>
          </p:cNvSpPr>
          <p:nvPr/>
        </p:nvSpPr>
        <p:spPr bwMode="auto">
          <a:xfrm>
            <a:off x="457200" y="55626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9222" name="Text Box 9" descr="note number"/>
          <p:cNvSpPr txBox="1">
            <a:spLocks noChangeArrowheads="1"/>
          </p:cNvSpPr>
          <p:nvPr/>
        </p:nvSpPr>
        <p:spPr bwMode="auto">
          <a:xfrm>
            <a:off x="457200" y="60325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0" y="120650"/>
            <a:ext cx="12192000" cy="1001713"/>
          </a:xfrm>
        </p:spPr>
        <p:txBody>
          <a:bodyPr/>
          <a:lstStyle/>
          <a:p>
            <a:r>
              <a:rPr lang="en-US" altLang="en-US" dirty="0"/>
              <a:t>CSS Rules (2 of 2)</a:t>
            </a:r>
          </a:p>
        </p:txBody>
      </p:sp>
      <p:sp>
        <p:nvSpPr>
          <p:cNvPr id="5124" name="Rectangle 3"/>
          <p:cNvSpPr>
            <a:spLocks noGrp="1" noChangeArrowheads="1"/>
          </p:cNvSpPr>
          <p:nvPr>
            <p:ph idx="1"/>
          </p:nvPr>
        </p:nvSpPr>
        <p:spPr>
          <a:xfrm>
            <a:off x="925830" y="1490870"/>
            <a:ext cx="10287000" cy="4699047"/>
          </a:xfrm>
        </p:spPr>
        <p:txBody>
          <a:bodyPr/>
          <a:lstStyle/>
          <a:p>
            <a:r>
              <a:rPr lang="en-US" altLang="en-US" dirty="0"/>
              <a:t>The </a:t>
            </a:r>
            <a:r>
              <a:rPr lang="en-US" altLang="en-US" i="1" dirty="0"/>
              <a:t>universal selector </a:t>
            </a:r>
            <a:r>
              <a:rPr lang="en-US" altLang="en-US" dirty="0"/>
              <a:t>uses the same syntax as the type selector except that instead of specifying an element type, you specify *.</a:t>
            </a:r>
          </a:p>
          <a:p>
            <a:r>
              <a:rPr lang="en-US" altLang="en-US" dirty="0"/>
              <a:t>The asterisk is a wildcard, so the * matches every element in a web page.</a:t>
            </a:r>
          </a:p>
          <a:p>
            <a:r>
              <a:rPr lang="en-US" altLang="en-US" dirty="0"/>
              <a:t>For example, the following CSS rule centers the text for every element in the web page:</a:t>
            </a:r>
          </a:p>
          <a:p>
            <a:pPr marL="457200" lvl="1" indent="0">
              <a:buNone/>
            </a:pPr>
            <a:r>
              <a:rPr lang="en-US" altLang="en-US" sz="2000" dirty="0">
                <a:latin typeface="Courier New" panose="02070309020205020404" pitchFamily="49" charset="0"/>
                <a:cs typeface="Courier New" panose="02070309020205020404" pitchFamily="49" charset="0"/>
              </a:rPr>
              <a:t> * {text-align: center;}</a:t>
            </a:r>
          </a:p>
          <a:p>
            <a:r>
              <a:rPr lang="en-US" altLang="en-US" dirty="0"/>
              <a:t>The universal selector isn’t used all that much, but it’s important to understand it because you’ll see it referred to on various websites, including the WHATWG’s HTML standard website.</a:t>
            </a:r>
          </a:p>
        </p:txBody>
      </p:sp>
      <p:sp>
        <p:nvSpPr>
          <p:cNvPr id="11269" name="Text Box 9" descr="note number"/>
          <p:cNvSpPr txBox="1">
            <a:spLocks noChangeArrowheads="1"/>
          </p:cNvSpPr>
          <p:nvPr/>
        </p:nvSpPr>
        <p:spPr bwMode="auto">
          <a:xfrm>
            <a:off x="712787" y="41148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1</a:t>
            </a:r>
          </a:p>
        </p:txBody>
      </p:sp>
      <p:sp>
        <p:nvSpPr>
          <p:cNvPr id="11270" name="Text Box 9" descr="note number"/>
          <p:cNvSpPr txBox="1">
            <a:spLocks noChangeArrowheads="1"/>
          </p:cNvSpPr>
          <p:nvPr/>
        </p:nvSpPr>
        <p:spPr bwMode="auto">
          <a:xfrm>
            <a:off x="712787" y="57150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type="title"/>
          </p:nvPr>
        </p:nvSpPr>
        <p:spPr>
          <a:xfrm>
            <a:off x="0" y="121033"/>
            <a:ext cx="12192000" cy="1002089"/>
          </a:xfrm>
        </p:spPr>
        <p:txBody>
          <a:bodyPr/>
          <a:lstStyle/>
          <a:p>
            <a:r>
              <a:rPr lang="en-US" altLang="en-US"/>
              <a:t>Example with Type Selectors and the Universal Selector</a:t>
            </a:r>
          </a:p>
        </p:txBody>
      </p:sp>
      <p:sp>
        <p:nvSpPr>
          <p:cNvPr id="13316" name="Rectangle 4"/>
          <p:cNvSpPr>
            <a:spLocks noGrp="1" noChangeArrowheads="1"/>
          </p:cNvSpPr>
          <p:nvPr>
            <p:ph idx="1"/>
          </p:nvPr>
        </p:nvSpPr>
        <p:spPr>
          <a:xfrm>
            <a:off x="925830" y="1490870"/>
            <a:ext cx="10287000" cy="4699047"/>
          </a:xfrm>
        </p:spPr>
        <p:txBody>
          <a:bodyPr/>
          <a:lstStyle/>
          <a:p>
            <a:pPr marL="457200" lvl="1" indent="0">
              <a:buNone/>
            </a:pPr>
            <a:r>
              <a:rPr lang="en-US" altLang="en-US" sz="1400" dirty="0">
                <a:latin typeface="Courier New" panose="02070309020205020404" pitchFamily="49" charset="0"/>
                <a:cs typeface="Courier New" panose="02070309020205020404" pitchFamily="49" charset="0"/>
              </a:rPr>
              <a:t>&lt;head&gt;</a:t>
            </a:r>
          </a:p>
          <a:p>
            <a:pPr marL="457200" lvl="1" indent="0">
              <a:buNone/>
            </a:pPr>
            <a:r>
              <a:rPr lang="en-US" altLang="en-US" sz="1400" dirty="0">
                <a:latin typeface="Courier New" panose="02070309020205020404" pitchFamily="49" charset="0"/>
                <a:cs typeface="Courier New" panose="02070309020205020404" pitchFamily="49" charset="0"/>
              </a:rPr>
              <a:t>&lt;meta charset="utf-8"&gt;</a:t>
            </a:r>
          </a:p>
          <a:p>
            <a:pPr marL="457200" lvl="1" indent="0">
              <a:buNone/>
            </a:pPr>
            <a:r>
              <a:rPr lang="en-US" altLang="en-US" sz="1400" dirty="0">
                <a:latin typeface="Courier New" panose="02070309020205020404" pitchFamily="49" charset="0"/>
                <a:cs typeface="Courier New" panose="02070309020205020404" pitchFamily="49" charset="0"/>
              </a:rPr>
              <a:t>&lt;meta name="author" content="John Dean"&gt;</a:t>
            </a:r>
          </a:p>
          <a:p>
            <a:pPr marL="457200" lvl="1" indent="0">
              <a:buNone/>
            </a:pPr>
            <a:r>
              <a:rPr lang="en-US" altLang="en-US" sz="1400" dirty="0">
                <a:latin typeface="Courier New" panose="02070309020205020404" pitchFamily="49" charset="0"/>
                <a:cs typeface="Courier New" panose="02070309020205020404" pitchFamily="49" charset="0"/>
              </a:rPr>
              <a:t>&lt;title&gt;poem&lt;/title&gt;</a:t>
            </a:r>
          </a:p>
          <a:p>
            <a:pPr marL="457200" lvl="1" indent="0">
              <a:buNone/>
            </a:pPr>
            <a:r>
              <a:rPr lang="en-US" altLang="en-US" sz="1400" dirty="0">
                <a:latin typeface="Courier New" panose="02070309020205020404" pitchFamily="49" charset="0"/>
                <a:cs typeface="Courier New" panose="02070309020205020404" pitchFamily="49" charset="0"/>
              </a:rPr>
              <a:t>&lt;style&gt;</a:t>
            </a:r>
          </a:p>
          <a:p>
            <a:pPr marL="457200" lvl="1" indent="0">
              <a:buNone/>
            </a:pPr>
            <a:r>
              <a:rPr lang="en-US" altLang="en-US" sz="1400" dirty="0">
                <a:latin typeface="Courier New" panose="02070309020205020404" pitchFamily="49" charset="0"/>
                <a:cs typeface="Courier New" panose="02070309020205020404" pitchFamily="49" charset="0"/>
              </a:rPr>
              <a:t>  * {text-align: center;}</a:t>
            </a:r>
          </a:p>
          <a:p>
            <a:pPr marL="457200" lvl="1" indent="0">
              <a:buNone/>
            </a:pPr>
            <a:r>
              <a:rPr lang="en-US" altLang="en-US" sz="1400" dirty="0">
                <a:latin typeface="Courier New" panose="02070309020205020404" pitchFamily="49" charset="0"/>
                <a:cs typeface="Courier New" panose="02070309020205020404" pitchFamily="49" charset="0"/>
              </a:rPr>
              <a:t>  </a:t>
            </a:r>
            <a:r>
              <a:rPr lang="en-US" altLang="en-US" sz="1400" dirty="0" err="1">
                <a:latin typeface="Courier New" panose="02070309020205020404" pitchFamily="49" charset="0"/>
                <a:cs typeface="Courier New" panose="02070309020205020404" pitchFamily="49" charset="0"/>
              </a:rPr>
              <a:t>hr</a:t>
            </a:r>
            <a:r>
              <a:rPr lang="en-US" altLang="en-US" sz="1400" dirty="0">
                <a:latin typeface="Courier New" panose="02070309020205020404" pitchFamily="49" charset="0"/>
                <a:cs typeface="Courier New" panose="02070309020205020404" pitchFamily="49" charset="0"/>
              </a:rPr>
              <a:t> {width: 50%;}</a:t>
            </a:r>
          </a:p>
          <a:p>
            <a:pPr marL="457200" lvl="1" indent="0">
              <a:buNone/>
            </a:pPr>
            <a:r>
              <a:rPr lang="en-US" altLang="en-US" sz="1400" dirty="0">
                <a:latin typeface="Courier New" panose="02070309020205020404" pitchFamily="49" charset="0"/>
                <a:cs typeface="Courier New" panose="02070309020205020404" pitchFamily="49" charset="0"/>
              </a:rPr>
              <a:t>  h2, p {font-style: italic; color: blue;}</a:t>
            </a:r>
          </a:p>
          <a:p>
            <a:pPr marL="457200" lvl="1" indent="0">
              <a:buNone/>
            </a:pPr>
            <a:r>
              <a:rPr lang="en-US" altLang="en-US" sz="1400" dirty="0">
                <a:latin typeface="Courier New" panose="02070309020205020404" pitchFamily="49" charset="0"/>
                <a:cs typeface="Courier New" panose="02070309020205020404" pitchFamily="49" charset="0"/>
              </a:rPr>
              <a:t>&lt;/style&gt;</a:t>
            </a:r>
          </a:p>
          <a:p>
            <a:pPr marL="457200" lvl="1" indent="0">
              <a:buNone/>
            </a:pPr>
            <a:r>
              <a:rPr lang="en-US" altLang="en-US" sz="1400" dirty="0">
                <a:latin typeface="Courier New" panose="02070309020205020404" pitchFamily="49" charset="0"/>
                <a:cs typeface="Courier New" panose="02070309020205020404" pitchFamily="49" charset="0"/>
              </a:rPr>
              <a:t>&lt;/head&gt;</a:t>
            </a:r>
          </a:p>
          <a:p>
            <a:pPr marL="457200" lvl="1" indent="0">
              <a:buNone/>
            </a:pPr>
            <a:endParaRPr lang="en-US" altLang="en-US" sz="1400" dirty="0">
              <a:latin typeface="Courier New" panose="02070309020205020404" pitchFamily="49" charset="0"/>
              <a:cs typeface="Courier New" panose="02070309020205020404" pitchFamily="49" charset="0"/>
            </a:endParaRPr>
          </a:p>
          <a:p>
            <a:pPr marL="457200" lvl="1" indent="0">
              <a:buNone/>
            </a:pPr>
            <a:r>
              <a:rPr lang="en-US" altLang="en-US" sz="1400" dirty="0">
                <a:latin typeface="Courier New" panose="02070309020205020404" pitchFamily="49" charset="0"/>
                <a:cs typeface="Courier New" panose="02070309020205020404" pitchFamily="49" charset="0"/>
              </a:rPr>
              <a:t>&lt;body&gt;</a:t>
            </a:r>
          </a:p>
          <a:p>
            <a:pPr marL="457200" lvl="1" indent="0">
              <a:buNone/>
            </a:pPr>
            <a:r>
              <a:rPr lang="en-US" altLang="en-US" sz="1400" dirty="0">
                <a:latin typeface="Courier New" panose="02070309020205020404" pitchFamily="49" charset="0"/>
                <a:cs typeface="Courier New" panose="02070309020205020404" pitchFamily="49" charset="0"/>
              </a:rPr>
              <a:t>&lt;h2&gt;Trees, by Joyce Kilmer&lt;/h2&gt;</a:t>
            </a:r>
          </a:p>
          <a:p>
            <a:pPr marL="457200" lvl="1" indent="0">
              <a:buNone/>
            </a:pPr>
            <a:r>
              <a:rPr lang="en-US" altLang="en-US" sz="1400" dirty="0">
                <a:latin typeface="Courier New" panose="02070309020205020404" pitchFamily="49" charset="0"/>
                <a:cs typeface="Courier New" panose="02070309020205020404" pitchFamily="49" charset="0"/>
              </a:rPr>
              <a:t>&lt;</a:t>
            </a:r>
            <a:r>
              <a:rPr lang="en-US" altLang="en-US" sz="1400" dirty="0" err="1">
                <a:latin typeface="Courier New" panose="02070309020205020404" pitchFamily="49" charset="0"/>
                <a:cs typeface="Courier New" panose="02070309020205020404" pitchFamily="49" charset="0"/>
              </a:rPr>
              <a:t>hr</a:t>
            </a:r>
            <a:r>
              <a:rPr lang="en-US" altLang="en-US" sz="1400" dirty="0">
                <a:latin typeface="Courier New" panose="02070309020205020404" pitchFamily="49" charset="0"/>
                <a:cs typeface="Courier New" panose="02070309020205020404" pitchFamily="49" charset="0"/>
              </a:rPr>
              <a:t>&gt;</a:t>
            </a:r>
          </a:p>
          <a:p>
            <a:pPr marL="457200" lvl="1" indent="0">
              <a:buNone/>
            </a:pPr>
            <a:r>
              <a:rPr lang="en-US" altLang="en-US" sz="1400" dirty="0">
                <a:latin typeface="Courier New" panose="02070309020205020404" pitchFamily="49" charset="0"/>
                <a:cs typeface="Courier New" panose="02070309020205020404" pitchFamily="49" charset="0"/>
              </a:rPr>
              <a:t>&lt;p&gt;</a:t>
            </a:r>
          </a:p>
          <a:p>
            <a:pPr marL="457200" lvl="1" indent="0">
              <a:buNone/>
            </a:pPr>
            <a:r>
              <a:rPr lang="en-US" altLang="en-US" sz="1400" dirty="0">
                <a:latin typeface="Courier New" panose="02070309020205020404" pitchFamily="49" charset="0"/>
                <a:cs typeface="Courier New" panose="02070309020205020404" pitchFamily="49" charset="0"/>
              </a:rPr>
              <a:t>  I think that I shall never see&lt;</a:t>
            </a:r>
            <a:r>
              <a:rPr lang="en-US" altLang="en-US" sz="1400" dirty="0" err="1">
                <a:latin typeface="Courier New" panose="02070309020205020404" pitchFamily="49" charset="0"/>
                <a:cs typeface="Courier New" panose="02070309020205020404" pitchFamily="49" charset="0"/>
              </a:rPr>
              <a:t>br</a:t>
            </a:r>
            <a:r>
              <a:rPr lang="en-US" altLang="en-US" sz="1400" dirty="0">
                <a:latin typeface="Courier New" panose="02070309020205020404" pitchFamily="49" charset="0"/>
                <a:cs typeface="Courier New" panose="02070309020205020404" pitchFamily="49" charset="0"/>
              </a:rPr>
              <a:t>&gt;</a:t>
            </a:r>
          </a:p>
          <a:p>
            <a:pPr marL="457200" lvl="1" indent="0">
              <a:buNone/>
            </a:pPr>
            <a:r>
              <a:rPr lang="en-US" altLang="en-US" sz="1400" dirty="0">
                <a:latin typeface="Courier New" panose="02070309020205020404" pitchFamily="49" charset="0"/>
                <a:cs typeface="Courier New" panose="02070309020205020404" pitchFamily="49" charset="0"/>
              </a:rPr>
              <a:t>  A poem lovely as a tree.</a:t>
            </a:r>
          </a:p>
          <a:p>
            <a:pPr marL="457200" lvl="1" indent="0">
              <a:buNone/>
            </a:pPr>
            <a:r>
              <a:rPr lang="en-US" altLang="en-US" sz="1400" dirty="0">
                <a:latin typeface="Courier New" panose="02070309020205020404" pitchFamily="49" charset="0"/>
                <a:cs typeface="Courier New" panose="02070309020205020404" pitchFamily="49" charset="0"/>
              </a:rPr>
              <a:t>&lt;/p&gt;</a:t>
            </a:r>
          </a:p>
          <a:p>
            <a:pPr marL="457200" lvl="1" indent="0">
              <a:buNone/>
            </a:pPr>
            <a:r>
              <a:rPr lang="en-US" altLang="en-US" sz="1400" dirty="0">
                <a:latin typeface="Courier New" panose="02070309020205020404" pitchFamily="49" charset="0"/>
                <a:cs typeface="Courier New" panose="02070309020205020404" pitchFamily="49" charset="0"/>
              </a:rPr>
              <a:t>&lt;/body&gt;</a:t>
            </a:r>
          </a:p>
        </p:txBody>
      </p:sp>
      <p:sp>
        <p:nvSpPr>
          <p:cNvPr id="13317" name="Text Box 12" descr="note number"/>
          <p:cNvSpPr txBox="1">
            <a:spLocks noChangeArrowheads="1"/>
          </p:cNvSpPr>
          <p:nvPr/>
        </p:nvSpPr>
        <p:spPr bwMode="auto">
          <a:xfrm>
            <a:off x="712787" y="55626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solidFill>
                  <a:srgbClr val="000000"/>
                </a:solidFill>
              </a:rPr>
              <a:t>2</a:t>
            </a:r>
          </a:p>
        </p:txBody>
      </p:sp>
      <p:sp>
        <p:nvSpPr>
          <p:cNvPr id="13318" name="Rectangle 8"/>
          <p:cNvSpPr>
            <a:spLocks noChangeArrowheads="1"/>
          </p:cNvSpPr>
          <p:nvPr/>
        </p:nvSpPr>
        <p:spPr bwMode="auto">
          <a:xfrm>
            <a:off x="4419600" y="3905250"/>
            <a:ext cx="1828800" cy="381000"/>
          </a:xfrm>
          <a:prstGeom prst="rect">
            <a:avLst/>
          </a:prstGeom>
          <a:solidFill>
            <a:srgbClr val="CCFFCC"/>
          </a:solidFill>
          <a:ln w="9525">
            <a:solidFill>
              <a:srgbClr val="0000FF"/>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800"/>
              <a:t>CSS values</a:t>
            </a:r>
          </a:p>
        </p:txBody>
      </p:sp>
      <p:sp>
        <p:nvSpPr>
          <p:cNvPr id="13319" name="Line 9"/>
          <p:cNvSpPr>
            <a:spLocks noChangeShapeType="1"/>
          </p:cNvSpPr>
          <p:nvPr/>
        </p:nvSpPr>
        <p:spPr bwMode="auto">
          <a:xfrm flipH="1" flipV="1">
            <a:off x="3991122" y="3538573"/>
            <a:ext cx="685800" cy="354013"/>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320" name="Line 9"/>
          <p:cNvSpPr>
            <a:spLocks noChangeShapeType="1"/>
          </p:cNvSpPr>
          <p:nvPr/>
        </p:nvSpPr>
        <p:spPr bwMode="auto">
          <a:xfrm flipV="1">
            <a:off x="5486400" y="3557587"/>
            <a:ext cx="0" cy="347663"/>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321" name="Rectangle 12"/>
          <p:cNvSpPr>
            <a:spLocks noChangeArrowheads="1"/>
          </p:cNvSpPr>
          <p:nvPr/>
        </p:nvSpPr>
        <p:spPr bwMode="auto">
          <a:xfrm>
            <a:off x="4576909" y="2555298"/>
            <a:ext cx="1828800" cy="381000"/>
          </a:xfrm>
          <a:prstGeom prst="rect">
            <a:avLst/>
          </a:prstGeom>
          <a:solidFill>
            <a:srgbClr val="CCFFCC"/>
          </a:solidFill>
          <a:ln w="9525">
            <a:solidFill>
              <a:srgbClr val="0000FF"/>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800"/>
              <a:t>CSS properties</a:t>
            </a:r>
          </a:p>
        </p:txBody>
      </p:sp>
      <p:sp>
        <p:nvSpPr>
          <p:cNvPr id="13322" name="Line 9"/>
          <p:cNvSpPr>
            <a:spLocks noChangeShapeType="1"/>
          </p:cNvSpPr>
          <p:nvPr/>
        </p:nvSpPr>
        <p:spPr bwMode="auto">
          <a:xfrm flipH="1">
            <a:off x="3405334" y="2854289"/>
            <a:ext cx="1171575" cy="465138"/>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323" name="Line 9"/>
          <p:cNvSpPr>
            <a:spLocks noChangeShapeType="1"/>
          </p:cNvSpPr>
          <p:nvPr/>
        </p:nvSpPr>
        <p:spPr bwMode="auto">
          <a:xfrm flipH="1">
            <a:off x="4805002" y="2949539"/>
            <a:ext cx="0" cy="274638"/>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324" name="Text Box 11" descr="note number"/>
          <p:cNvSpPr txBox="1">
            <a:spLocks noChangeArrowheads="1"/>
          </p:cNvSpPr>
          <p:nvPr/>
        </p:nvSpPr>
        <p:spPr bwMode="auto">
          <a:xfrm>
            <a:off x="712787" y="2063714"/>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13325" name="Rectangle 8"/>
          <p:cNvSpPr>
            <a:spLocks noChangeArrowheads="1"/>
          </p:cNvSpPr>
          <p:nvPr/>
        </p:nvSpPr>
        <p:spPr bwMode="auto">
          <a:xfrm>
            <a:off x="79375" y="3510468"/>
            <a:ext cx="976313" cy="646113"/>
          </a:xfrm>
          <a:prstGeom prst="rect">
            <a:avLst/>
          </a:prstGeom>
          <a:solidFill>
            <a:srgbClr val="CCFFCC"/>
          </a:solidFill>
          <a:ln w="9525">
            <a:solidFill>
              <a:srgbClr val="0000FF"/>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eaLnBrk="1" hangingPunct="1">
              <a:spcBef>
                <a:spcPct val="0"/>
              </a:spcBef>
              <a:buClrTx/>
              <a:buSzTx/>
              <a:buFontTx/>
              <a:buNone/>
            </a:pPr>
            <a:r>
              <a:rPr lang="en-US" altLang="en-US" sz="1800" dirty="0"/>
              <a:t>type selector</a:t>
            </a:r>
          </a:p>
        </p:txBody>
      </p:sp>
      <p:sp>
        <p:nvSpPr>
          <p:cNvPr id="13326" name="Line 9"/>
          <p:cNvSpPr>
            <a:spLocks noChangeShapeType="1"/>
          </p:cNvSpPr>
          <p:nvPr/>
        </p:nvSpPr>
        <p:spPr bwMode="auto">
          <a:xfrm flipV="1">
            <a:off x="1055688" y="3254086"/>
            <a:ext cx="512763" cy="395287"/>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327" name="Rectangle 8"/>
          <p:cNvSpPr>
            <a:spLocks noChangeArrowheads="1"/>
          </p:cNvSpPr>
          <p:nvPr/>
        </p:nvSpPr>
        <p:spPr bwMode="auto">
          <a:xfrm>
            <a:off x="2867964" y="1212994"/>
            <a:ext cx="2246313" cy="369888"/>
          </a:xfrm>
          <a:prstGeom prst="rect">
            <a:avLst/>
          </a:prstGeom>
          <a:solidFill>
            <a:srgbClr val="CCFFCC"/>
          </a:solidFill>
          <a:ln w="9525">
            <a:solidFill>
              <a:srgbClr val="0000FF"/>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800"/>
              <a:t>universal selector</a:t>
            </a:r>
          </a:p>
        </p:txBody>
      </p:sp>
      <p:sp>
        <p:nvSpPr>
          <p:cNvPr id="13328" name="Line 9"/>
          <p:cNvSpPr>
            <a:spLocks noChangeShapeType="1"/>
          </p:cNvSpPr>
          <p:nvPr/>
        </p:nvSpPr>
        <p:spPr bwMode="auto">
          <a:xfrm flipH="1">
            <a:off x="1776414" y="1620801"/>
            <a:ext cx="914400" cy="1200150"/>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 name="Text Box 12" descr="note number">
            <a:extLst>
              <a:ext uri="{FF2B5EF4-FFF2-40B4-BE49-F238E27FC236}">
                <a16:creationId xmlns:a16="http://schemas.microsoft.com/office/drawing/2014/main" id="{E1257BA7-8815-9345-BF58-AC96E78B8130}"/>
              </a:ext>
            </a:extLst>
          </p:cNvPr>
          <p:cNvSpPr txBox="1">
            <a:spLocks noChangeArrowheads="1"/>
          </p:cNvSpPr>
          <p:nvPr/>
        </p:nvSpPr>
        <p:spPr bwMode="auto">
          <a:xfrm>
            <a:off x="712787" y="6039428"/>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solidFill>
                  <a:srgbClr val="000000"/>
                </a:solidFill>
              </a:rPr>
              <a:t>3</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0" y="121033"/>
            <a:ext cx="12192000" cy="1002089"/>
          </a:xfrm>
        </p:spPr>
        <p:txBody>
          <a:bodyPr/>
          <a:lstStyle/>
          <a:p>
            <a:r>
              <a:rPr lang="en-US" altLang="en-US"/>
              <a:t>CSS Syntax</a:t>
            </a:r>
          </a:p>
        </p:txBody>
      </p:sp>
      <p:sp>
        <p:nvSpPr>
          <p:cNvPr id="15364" name="Rectangle 3"/>
          <p:cNvSpPr>
            <a:spLocks noGrp="1" noChangeArrowheads="1"/>
          </p:cNvSpPr>
          <p:nvPr>
            <p:ph idx="1"/>
          </p:nvPr>
        </p:nvSpPr>
        <p:spPr>
          <a:xfrm>
            <a:off x="925830" y="1490870"/>
            <a:ext cx="10287000" cy="4699047"/>
          </a:xfrm>
        </p:spPr>
        <p:txBody>
          <a:bodyPr/>
          <a:lstStyle/>
          <a:p>
            <a:r>
              <a:rPr lang="en-US" altLang="en-US" dirty="0"/>
              <a:t>Put your CSS rules inside a </a:t>
            </a:r>
            <a:r>
              <a:rPr lang="en-US" altLang="en-US" dirty="0">
                <a:latin typeface="Courier New" panose="02070309020205020404" pitchFamily="49" charset="0"/>
                <a:cs typeface="Courier New" panose="02070309020205020404" pitchFamily="49" charset="0"/>
              </a:rPr>
              <a:t>style</a:t>
            </a:r>
            <a:r>
              <a:rPr lang="en-US" altLang="en-US" dirty="0"/>
              <a:t> container, and put the </a:t>
            </a:r>
            <a:r>
              <a:rPr lang="en-US" altLang="en-US" dirty="0">
                <a:latin typeface="Courier New" panose="02070309020205020404" pitchFamily="49" charset="0"/>
                <a:cs typeface="Courier New" panose="02070309020205020404" pitchFamily="49" charset="0"/>
              </a:rPr>
              <a:t>style</a:t>
            </a:r>
            <a:r>
              <a:rPr lang="en-US" altLang="en-US" dirty="0"/>
              <a:t> container at the bottom of your </a:t>
            </a:r>
            <a:r>
              <a:rPr lang="en-US" altLang="en-US" dirty="0">
                <a:latin typeface="Courier New" panose="02070309020205020404" pitchFamily="49" charset="0"/>
                <a:cs typeface="Courier New" panose="02070309020205020404" pitchFamily="49" charset="0"/>
              </a:rPr>
              <a:t>head</a:t>
            </a:r>
            <a:r>
              <a:rPr lang="en-US" altLang="en-US" dirty="0"/>
              <a:t> container (see the previous slide for an example).</a:t>
            </a:r>
          </a:p>
          <a:p>
            <a:r>
              <a:rPr lang="en-US" altLang="en-US" dirty="0"/>
              <a:t>Use this format for a short CSS rule:</a:t>
            </a:r>
          </a:p>
          <a:p>
            <a:pPr marL="457200" lvl="1" indent="0">
              <a:buNone/>
            </a:pPr>
            <a:r>
              <a:rPr lang="en-US" altLang="en-US" sz="1800" dirty="0">
                <a:latin typeface="Courier New" panose="02070309020205020404" pitchFamily="49" charset="0"/>
                <a:cs typeface="Courier New" panose="02070309020205020404" pitchFamily="49" charset="0"/>
              </a:rPr>
              <a:t>selector(s) {property1: value; property2: value;}</a:t>
            </a:r>
          </a:p>
          <a:p>
            <a:r>
              <a:rPr lang="en-US" altLang="en-US" dirty="0"/>
              <a:t>Use this block format for a long CSS rule:</a:t>
            </a:r>
          </a:p>
          <a:p>
            <a:pPr marL="457200" lvl="1" indent="0">
              <a:buNone/>
            </a:pPr>
            <a:r>
              <a:rPr lang="en-US" altLang="en-US" sz="1800" dirty="0">
                <a:latin typeface="Courier New" panose="02070309020205020404" pitchFamily="49" charset="0"/>
                <a:cs typeface="Courier New" panose="02070309020205020404" pitchFamily="49" charset="0"/>
              </a:rPr>
              <a:t>selector(s) {</a:t>
            </a:r>
          </a:p>
          <a:p>
            <a:pPr marL="457200" lvl="1" indent="0">
              <a:buNone/>
            </a:pPr>
            <a:r>
              <a:rPr lang="en-US" altLang="en-US" sz="1800" dirty="0">
                <a:latin typeface="Courier New" panose="02070309020205020404" pitchFamily="49" charset="0"/>
                <a:cs typeface="Courier New" panose="02070309020205020404" pitchFamily="49" charset="0"/>
              </a:rPr>
              <a:t>  property1: value;</a:t>
            </a:r>
          </a:p>
          <a:p>
            <a:pPr marL="457200" lvl="1" indent="0">
              <a:buNone/>
            </a:pPr>
            <a:r>
              <a:rPr lang="en-US" altLang="en-US" sz="1800" dirty="0">
                <a:latin typeface="Courier New" panose="02070309020205020404" pitchFamily="49" charset="0"/>
                <a:cs typeface="Courier New" panose="02070309020205020404" pitchFamily="49" charset="0"/>
              </a:rPr>
              <a:t>  property2: value;</a:t>
            </a:r>
          </a:p>
          <a:p>
            <a:pPr marL="457200" lvl="1" indent="0">
              <a:buNone/>
            </a:pPr>
            <a:r>
              <a:rPr lang="en-US" altLang="en-US" sz="1800" dirty="0">
                <a:latin typeface="Courier New" panose="02070309020205020404" pitchFamily="49" charset="0"/>
                <a:cs typeface="Courier New" panose="02070309020205020404" pitchFamily="49" charset="0"/>
              </a:rPr>
              <a:t>  ...</a:t>
            </a:r>
          </a:p>
          <a:p>
            <a:pPr marL="457200" lvl="1" indent="0">
              <a:buNone/>
            </a:pPr>
            <a:r>
              <a:rPr lang="en-US" altLang="en-US" sz="1800" dirty="0">
                <a:latin typeface="Courier New" panose="02070309020205020404" pitchFamily="49" charset="0"/>
                <a:cs typeface="Courier New" panose="02070309020205020404" pitchFamily="49" charset="0"/>
              </a:rPr>
              <a:t>  property#: value;</a:t>
            </a:r>
          </a:p>
          <a:p>
            <a:pPr marL="457200" lvl="1" indent="0">
              <a:buNone/>
            </a:pPr>
            <a:r>
              <a:rPr lang="en-US" altLang="en-US" sz="1800" dirty="0">
                <a:latin typeface="Courier New" panose="02070309020205020404" pitchFamily="49" charset="0"/>
                <a:cs typeface="Courier New" panose="02070309020205020404" pitchFamily="49" charset="0"/>
              </a:rPr>
              <a:t>}</a:t>
            </a:r>
          </a:p>
        </p:txBody>
      </p:sp>
      <p:sp>
        <p:nvSpPr>
          <p:cNvPr id="15365" name="Text Box 9" descr="note number"/>
          <p:cNvSpPr txBox="1">
            <a:spLocks noChangeArrowheads="1"/>
          </p:cNvSpPr>
          <p:nvPr/>
        </p:nvSpPr>
        <p:spPr bwMode="auto">
          <a:xfrm>
            <a:off x="393304" y="214172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15366" name="Text Box 10" descr="note number"/>
          <p:cNvSpPr txBox="1">
            <a:spLocks noChangeArrowheads="1"/>
          </p:cNvSpPr>
          <p:nvPr/>
        </p:nvSpPr>
        <p:spPr bwMode="auto">
          <a:xfrm>
            <a:off x="394494" y="3209458"/>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
        <p:nvSpPr>
          <p:cNvPr id="15368" name="Text Box 13" descr="note number"/>
          <p:cNvSpPr txBox="1">
            <a:spLocks noChangeArrowheads="1"/>
          </p:cNvSpPr>
          <p:nvPr/>
        </p:nvSpPr>
        <p:spPr bwMode="auto">
          <a:xfrm>
            <a:off x="395542" y="530337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4</a:t>
            </a:r>
          </a:p>
        </p:txBody>
      </p:sp>
      <p:sp>
        <p:nvSpPr>
          <p:cNvPr id="15369" name="Text Box 10" descr="note number"/>
          <p:cNvSpPr txBox="1">
            <a:spLocks noChangeArrowheads="1"/>
          </p:cNvSpPr>
          <p:nvPr/>
        </p:nvSpPr>
        <p:spPr bwMode="auto">
          <a:xfrm>
            <a:off x="394494" y="4208863"/>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3</a:t>
            </a:r>
          </a:p>
        </p:txBody>
      </p:sp>
      <p:sp>
        <p:nvSpPr>
          <p:cNvPr id="15370" name="Rectangle 12"/>
          <p:cNvSpPr>
            <a:spLocks noChangeArrowheads="1"/>
          </p:cNvSpPr>
          <p:nvPr/>
        </p:nvSpPr>
        <p:spPr bwMode="auto">
          <a:xfrm>
            <a:off x="6173642" y="2250144"/>
            <a:ext cx="2919413" cy="923925"/>
          </a:xfrm>
          <a:prstGeom prst="rect">
            <a:avLst/>
          </a:prstGeom>
          <a:solidFill>
            <a:srgbClr val="CCFFCC"/>
          </a:solidFill>
          <a:ln w="9525">
            <a:solidFill>
              <a:srgbClr val="0000FF"/>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eaLnBrk="1" hangingPunct="1">
              <a:spcBef>
                <a:spcPct val="0"/>
              </a:spcBef>
              <a:buClrTx/>
              <a:buSzTx/>
              <a:buFontTx/>
              <a:buNone/>
            </a:pPr>
            <a:r>
              <a:rPr lang="en-US" altLang="en-US" sz="1800"/>
              <a:t>If more than one selector, use a comma and a space between each selector.</a:t>
            </a:r>
          </a:p>
        </p:txBody>
      </p:sp>
      <p:sp>
        <p:nvSpPr>
          <p:cNvPr id="15371" name="Line 9"/>
          <p:cNvSpPr>
            <a:spLocks noChangeShapeType="1"/>
          </p:cNvSpPr>
          <p:nvPr/>
        </p:nvSpPr>
        <p:spPr bwMode="auto">
          <a:xfrm flipH="1">
            <a:off x="2381250" y="2685407"/>
            <a:ext cx="666750" cy="557213"/>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5372" name="Rectangle 12"/>
          <p:cNvSpPr>
            <a:spLocks noChangeArrowheads="1"/>
          </p:cNvSpPr>
          <p:nvPr/>
        </p:nvSpPr>
        <p:spPr bwMode="auto">
          <a:xfrm>
            <a:off x="4880121" y="4197428"/>
            <a:ext cx="911225" cy="381000"/>
          </a:xfrm>
          <a:prstGeom prst="rect">
            <a:avLst/>
          </a:prstGeom>
          <a:solidFill>
            <a:srgbClr val="CCFFCC"/>
          </a:solidFill>
          <a:ln w="9525">
            <a:solidFill>
              <a:srgbClr val="0000FF"/>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800"/>
              <a:t>space</a:t>
            </a:r>
          </a:p>
        </p:txBody>
      </p:sp>
      <p:sp>
        <p:nvSpPr>
          <p:cNvPr id="15373" name="Line 9"/>
          <p:cNvSpPr>
            <a:spLocks noChangeShapeType="1"/>
          </p:cNvSpPr>
          <p:nvPr/>
        </p:nvSpPr>
        <p:spPr bwMode="auto">
          <a:xfrm flipV="1">
            <a:off x="5409335" y="3496041"/>
            <a:ext cx="146050" cy="717550"/>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5374" name="Rectangle 12"/>
          <p:cNvSpPr>
            <a:spLocks noChangeArrowheads="1"/>
          </p:cNvSpPr>
          <p:nvPr/>
        </p:nvSpPr>
        <p:spPr bwMode="auto">
          <a:xfrm>
            <a:off x="6674427" y="4210673"/>
            <a:ext cx="1090612" cy="368300"/>
          </a:xfrm>
          <a:prstGeom prst="rect">
            <a:avLst/>
          </a:prstGeom>
          <a:solidFill>
            <a:srgbClr val="CCFFCC"/>
          </a:solidFill>
          <a:ln w="9525">
            <a:solidFill>
              <a:srgbClr val="0000FF"/>
            </a:solidFill>
            <a:miter lim="800000"/>
            <a:headEnd/>
            <a:tailEnd/>
          </a:ln>
        </p:spPr>
        <p:txBody>
          <a:bodyPr wrap="none" anchor="ct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800"/>
              <a:t>no space</a:t>
            </a:r>
          </a:p>
        </p:txBody>
      </p:sp>
      <p:sp>
        <p:nvSpPr>
          <p:cNvPr id="15375" name="Line 9"/>
          <p:cNvSpPr>
            <a:spLocks noChangeShapeType="1"/>
          </p:cNvSpPr>
          <p:nvPr/>
        </p:nvSpPr>
        <p:spPr bwMode="auto">
          <a:xfrm flipH="1" flipV="1">
            <a:off x="7009934" y="3480594"/>
            <a:ext cx="157163" cy="719137"/>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5376" name="Rectangle 12"/>
          <p:cNvSpPr>
            <a:spLocks noChangeArrowheads="1"/>
          </p:cNvSpPr>
          <p:nvPr/>
        </p:nvSpPr>
        <p:spPr bwMode="auto">
          <a:xfrm>
            <a:off x="5806644" y="4966001"/>
            <a:ext cx="2892425" cy="646112"/>
          </a:xfrm>
          <a:prstGeom prst="rect">
            <a:avLst/>
          </a:prstGeom>
          <a:solidFill>
            <a:srgbClr val="CCFFCC"/>
          </a:solidFill>
          <a:ln w="9525">
            <a:solidFill>
              <a:srgbClr val="0000FF"/>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eaLnBrk="1" hangingPunct="1">
              <a:spcBef>
                <a:spcPct val="0"/>
              </a:spcBef>
              <a:buClrTx/>
              <a:buSzTx/>
              <a:buFontTx/>
              <a:buNone/>
            </a:pPr>
            <a:r>
              <a:rPr lang="en-US" altLang="en-US" sz="1800"/>
              <a:t>Include a semicolon after every property-value pair.</a:t>
            </a:r>
          </a:p>
        </p:txBody>
      </p:sp>
      <p:sp>
        <p:nvSpPr>
          <p:cNvPr id="15377" name="Line 9"/>
          <p:cNvSpPr>
            <a:spLocks noChangeShapeType="1"/>
          </p:cNvSpPr>
          <p:nvPr/>
        </p:nvSpPr>
        <p:spPr bwMode="auto">
          <a:xfrm flipV="1">
            <a:off x="8001000" y="3559476"/>
            <a:ext cx="0" cy="1406525"/>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5378" name="Line 9"/>
          <p:cNvSpPr>
            <a:spLocks noChangeShapeType="1"/>
          </p:cNvSpPr>
          <p:nvPr/>
        </p:nvSpPr>
        <p:spPr bwMode="auto">
          <a:xfrm flipH="1" flipV="1">
            <a:off x="4111771" y="5460532"/>
            <a:ext cx="1679575" cy="0"/>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5380" name="Line 9"/>
          <p:cNvSpPr>
            <a:spLocks noChangeShapeType="1"/>
          </p:cNvSpPr>
          <p:nvPr/>
        </p:nvSpPr>
        <p:spPr bwMode="auto">
          <a:xfrm flipH="1" flipV="1">
            <a:off x="4706939" y="3449027"/>
            <a:ext cx="304800" cy="739775"/>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5381" name="Line 9"/>
          <p:cNvSpPr>
            <a:spLocks noChangeShapeType="1"/>
          </p:cNvSpPr>
          <p:nvPr/>
        </p:nvSpPr>
        <p:spPr bwMode="auto">
          <a:xfrm flipH="1">
            <a:off x="3041073" y="2590801"/>
            <a:ext cx="3115252" cy="102722"/>
          </a:xfrm>
          <a:prstGeom prst="line">
            <a:avLst/>
          </a:prstGeom>
          <a:noFill/>
          <a:ln w="9525">
            <a:solidFill>
              <a:srgbClr val="0000FF"/>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0" y="121033"/>
            <a:ext cx="12192000" cy="1002089"/>
          </a:xfrm>
        </p:spPr>
        <p:txBody>
          <a:bodyPr/>
          <a:lstStyle/>
          <a:p>
            <a:r>
              <a:rPr lang="en-US" altLang="en-US" dirty="0"/>
              <a:t>Class Selectors (1 of 2)</a:t>
            </a:r>
          </a:p>
        </p:txBody>
      </p:sp>
      <p:sp>
        <p:nvSpPr>
          <p:cNvPr id="17412" name="Rectangle 3"/>
          <p:cNvSpPr>
            <a:spLocks noGrp="1" noChangeArrowheads="1"/>
          </p:cNvSpPr>
          <p:nvPr>
            <p:ph idx="1"/>
          </p:nvPr>
        </p:nvSpPr>
        <p:spPr>
          <a:xfrm>
            <a:off x="925830" y="1490870"/>
            <a:ext cx="10287000" cy="4699047"/>
          </a:xfrm>
        </p:spPr>
        <p:txBody>
          <a:bodyPr/>
          <a:lstStyle/>
          <a:p>
            <a:r>
              <a:rPr lang="en-US" altLang="en-US" dirty="0"/>
              <a:t>To match all the elements with a particular </a:t>
            </a:r>
            <a:r>
              <a:rPr lang="en-US" altLang="en-US" dirty="0">
                <a:latin typeface="Courier New" panose="02070309020205020404" pitchFamily="49" charset="0"/>
                <a:cs typeface="Courier New" panose="02070309020205020404" pitchFamily="49" charset="0"/>
              </a:rPr>
              <a:t>class</a:t>
            </a:r>
            <a:r>
              <a:rPr lang="en-US" altLang="en-US" dirty="0"/>
              <a:t> attribute value, use a class selector.</a:t>
            </a:r>
          </a:p>
          <a:p>
            <a:r>
              <a:rPr lang="en-US" altLang="en-US" dirty="0"/>
              <a:t>Syntax for a CSS rule that uses a </a:t>
            </a:r>
            <a:r>
              <a:rPr lang="en-US" altLang="en-US" dirty="0">
                <a:latin typeface="Courier New" panose="02070309020205020404" pitchFamily="49" charset="0"/>
                <a:cs typeface="Courier New" panose="02070309020205020404" pitchFamily="49" charset="0"/>
              </a:rPr>
              <a:t>class</a:t>
            </a:r>
            <a:r>
              <a:rPr lang="en-US" altLang="en-US" dirty="0"/>
              <a:t> selector:</a:t>
            </a:r>
          </a:p>
          <a:p>
            <a:pPr marL="457200" lvl="1" indent="0">
              <a:buNone/>
            </a:pPr>
            <a:r>
              <a:rPr lang="en-US" altLang="en-US" sz="1800" dirty="0">
                <a:latin typeface="Courier New" panose="02070309020205020404" pitchFamily="49" charset="0"/>
                <a:cs typeface="Courier New" panose="02070309020205020404" pitchFamily="49" charset="0"/>
              </a:rPr>
              <a:t>.class-value {property1: value; property2: value;}</a:t>
            </a:r>
          </a:p>
          <a:p>
            <a:r>
              <a:rPr lang="en-US" altLang="en-US" dirty="0"/>
              <a:t>For example:</a:t>
            </a:r>
          </a:p>
          <a:p>
            <a:pPr marL="457200" lvl="1" indent="0">
              <a:buNone/>
            </a:pPr>
            <a:r>
              <a:rPr lang="en-US" altLang="en-US" sz="1800" dirty="0">
                <a:latin typeface="Courier New" panose="02070309020205020404" pitchFamily="49" charset="0"/>
                <a:cs typeface="Courier New" panose="02070309020205020404" pitchFamily="49" charset="0"/>
              </a:rPr>
              <a:t>.red {background-color: tomato;}</a:t>
            </a:r>
          </a:p>
          <a:p>
            <a:r>
              <a:rPr lang="en-US" altLang="en-US" dirty="0"/>
              <a:t>To apply a </a:t>
            </a:r>
            <a:r>
              <a:rPr lang="en-US" altLang="en-US" dirty="0">
                <a:latin typeface="Courier New" panose="02070309020205020404" pitchFamily="49" charset="0"/>
                <a:cs typeface="Courier New" panose="02070309020205020404" pitchFamily="49" charset="0"/>
              </a:rPr>
              <a:t>class</a:t>
            </a:r>
            <a:r>
              <a:rPr lang="en-US" altLang="en-US" dirty="0"/>
              <a:t> selector rule to an element, the element must include a </a:t>
            </a:r>
            <a:r>
              <a:rPr lang="en-US" altLang="en-US" dirty="0">
                <a:latin typeface="Courier New" panose="02070309020205020404" pitchFamily="49" charset="0"/>
                <a:cs typeface="Courier New" panose="02070309020205020404" pitchFamily="49" charset="0"/>
              </a:rPr>
              <a:t>class</a:t>
            </a:r>
            <a:r>
              <a:rPr lang="en-US" altLang="en-US" dirty="0"/>
              <a:t> attribute with the rule’s </a:t>
            </a:r>
            <a:r>
              <a:rPr lang="en-US" altLang="en-US" dirty="0">
                <a:latin typeface="Courier New" panose="02070309020205020404" pitchFamily="49" charset="0"/>
                <a:cs typeface="Courier New" panose="02070309020205020404" pitchFamily="49" charset="0"/>
              </a:rPr>
              <a:t>class</a:t>
            </a:r>
            <a:r>
              <a:rPr lang="en-US" altLang="en-US" dirty="0"/>
              <a:t> attribute value. For example:</a:t>
            </a:r>
          </a:p>
          <a:p>
            <a:pPr marL="457200" lvl="1" indent="0">
              <a:buNone/>
            </a:pPr>
            <a:r>
              <a:rPr lang="en-US" altLang="en-US" sz="1800" dirty="0">
                <a:latin typeface="Courier New" panose="02070309020205020404" pitchFamily="49" charset="0"/>
                <a:cs typeface="Courier New" panose="02070309020205020404" pitchFamily="49" charset="0"/>
              </a:rPr>
              <a:t>&lt;q class="red"&gt;I've now been in 57 states --</a:t>
            </a:r>
          </a:p>
          <a:p>
            <a:pPr marL="457200" lvl="1" indent="0">
              <a:buNone/>
            </a:pPr>
            <a:r>
              <a:rPr lang="en-US" altLang="en-US" sz="1800" dirty="0">
                <a:latin typeface="Courier New" panose="02070309020205020404" pitchFamily="49" charset="0"/>
                <a:cs typeface="Courier New" panose="02070309020205020404" pitchFamily="49" charset="0"/>
              </a:rPr>
              <a:t> I think one left to go.&lt;/q&gt;</a:t>
            </a:r>
          </a:p>
        </p:txBody>
      </p:sp>
      <p:sp>
        <p:nvSpPr>
          <p:cNvPr id="17413" name="Text Box 9" descr="note number"/>
          <p:cNvSpPr txBox="1">
            <a:spLocks noChangeArrowheads="1"/>
          </p:cNvSpPr>
          <p:nvPr/>
        </p:nvSpPr>
        <p:spPr bwMode="auto">
          <a:xfrm>
            <a:off x="457200" y="12954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17414" name="Text Box 9" descr="note number"/>
          <p:cNvSpPr txBox="1">
            <a:spLocks noChangeArrowheads="1"/>
          </p:cNvSpPr>
          <p:nvPr/>
        </p:nvSpPr>
        <p:spPr bwMode="auto">
          <a:xfrm>
            <a:off x="457200" y="2828925"/>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3</a:t>
            </a:r>
          </a:p>
        </p:txBody>
      </p:sp>
      <p:sp>
        <p:nvSpPr>
          <p:cNvPr id="17415" name="Text Box 9" descr="note number"/>
          <p:cNvSpPr txBox="1">
            <a:spLocks noChangeArrowheads="1"/>
          </p:cNvSpPr>
          <p:nvPr/>
        </p:nvSpPr>
        <p:spPr bwMode="auto">
          <a:xfrm>
            <a:off x="457200" y="25146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
        <p:nvSpPr>
          <p:cNvPr id="17416" name="Text Box 9" descr="note number"/>
          <p:cNvSpPr txBox="1">
            <a:spLocks noChangeArrowheads="1"/>
          </p:cNvSpPr>
          <p:nvPr/>
        </p:nvSpPr>
        <p:spPr bwMode="auto">
          <a:xfrm>
            <a:off x="457200" y="4948311"/>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4</a:t>
            </a:r>
          </a:p>
        </p:txBody>
      </p:sp>
      <p:sp>
        <p:nvSpPr>
          <p:cNvPr id="9" name="Text Box 9" descr="note number"/>
          <p:cNvSpPr txBox="1">
            <a:spLocks noChangeArrowheads="1"/>
          </p:cNvSpPr>
          <p:nvPr/>
        </p:nvSpPr>
        <p:spPr bwMode="auto">
          <a:xfrm>
            <a:off x="457200" y="5248275"/>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0" y="121033"/>
            <a:ext cx="12192000" cy="1002089"/>
          </a:xfrm>
        </p:spPr>
        <p:txBody>
          <a:bodyPr/>
          <a:lstStyle/>
          <a:p>
            <a:r>
              <a:rPr lang="en-US" altLang="en-US" dirty="0"/>
              <a:t>Class Selectors (2 of 2)</a:t>
            </a:r>
          </a:p>
        </p:txBody>
      </p:sp>
      <p:sp>
        <p:nvSpPr>
          <p:cNvPr id="19460" name="Rectangle 3"/>
          <p:cNvSpPr>
            <a:spLocks noGrp="1" noChangeArrowheads="1"/>
          </p:cNvSpPr>
          <p:nvPr>
            <p:ph idx="1"/>
          </p:nvPr>
        </p:nvSpPr>
        <p:spPr>
          <a:xfrm>
            <a:off x="925830" y="1490870"/>
            <a:ext cx="10287000" cy="4699047"/>
          </a:xfrm>
        </p:spPr>
        <p:txBody>
          <a:bodyPr/>
          <a:lstStyle/>
          <a:p>
            <a:r>
              <a:rPr lang="en-US" altLang="en-US" dirty="0"/>
              <a:t>Note the three </a:t>
            </a:r>
            <a:r>
              <a:rPr lang="en-US" altLang="en-US" dirty="0">
                <a:latin typeface="Courier New" panose="02070309020205020404" pitchFamily="49" charset="0"/>
                <a:cs typeface="Courier New" panose="02070309020205020404" pitchFamily="49" charset="0"/>
              </a:rPr>
              <a:t>class</a:t>
            </a:r>
            <a:r>
              <a:rPr lang="en-US" altLang="en-US" dirty="0"/>
              <a:t> selectors in this code fragment:</a:t>
            </a:r>
          </a:p>
          <a:p>
            <a:pPr marL="457200" lvl="1" indent="0">
              <a:buNone/>
            </a:pPr>
            <a:r>
              <a:rPr lang="en-US" altLang="en-US" sz="1400" dirty="0">
                <a:latin typeface="Courier New" panose="02070309020205020404" pitchFamily="49" charset="0"/>
                <a:cs typeface="Courier New" panose="02070309020205020404" pitchFamily="49" charset="0"/>
              </a:rPr>
              <a:t>&lt;head&gt;</a:t>
            </a:r>
          </a:p>
          <a:p>
            <a:pPr marL="457200" lvl="1" indent="0">
              <a:buNone/>
            </a:pPr>
            <a:r>
              <a:rPr lang="en-US" altLang="en-US" sz="1400" dirty="0">
                <a:latin typeface="Courier New" panose="02070309020205020404" pitchFamily="49" charset="0"/>
                <a:cs typeface="Courier New" panose="02070309020205020404" pitchFamily="49" charset="0"/>
              </a:rPr>
              <a:t>&lt;style&gt;</a:t>
            </a:r>
          </a:p>
          <a:p>
            <a:pPr marL="457200" lvl="1" indent="0">
              <a:buNone/>
            </a:pPr>
            <a:r>
              <a:rPr lang="en-US" altLang="en-US" sz="1400" dirty="0">
                <a:latin typeface="Courier New" panose="02070309020205020404" pitchFamily="49" charset="0"/>
                <a:cs typeface="Courier New" panose="02070309020205020404" pitchFamily="49" charset="0"/>
              </a:rPr>
              <a:t>  .red {background-color: tomato;}</a:t>
            </a:r>
          </a:p>
          <a:p>
            <a:pPr marL="457200" lvl="1" indent="0">
              <a:buNone/>
            </a:pPr>
            <a:r>
              <a:rPr lang="en-US" altLang="en-US" sz="1400" dirty="0">
                <a:latin typeface="Courier New" panose="02070309020205020404" pitchFamily="49" charset="0"/>
                <a:cs typeface="Courier New" panose="02070309020205020404" pitchFamily="49" charset="0"/>
              </a:rPr>
              <a:t>  .white {background-color: white;}</a:t>
            </a:r>
          </a:p>
          <a:p>
            <a:pPr marL="457200" lvl="1" indent="0">
              <a:buNone/>
            </a:pPr>
            <a:r>
              <a:rPr lang="en-US" altLang="en-US" sz="1400" dirty="0">
                <a:latin typeface="Courier New" panose="02070309020205020404" pitchFamily="49" charset="0"/>
                <a:cs typeface="Courier New" panose="02070309020205020404" pitchFamily="49" charset="0"/>
              </a:rPr>
              <a:t>  .blue {background-color: </a:t>
            </a:r>
            <a:r>
              <a:rPr lang="en-US" altLang="en-US" sz="1400" dirty="0" err="1">
                <a:latin typeface="Courier New" panose="02070309020205020404" pitchFamily="49" charset="0"/>
                <a:cs typeface="Courier New" panose="02070309020205020404" pitchFamily="49" charset="0"/>
              </a:rPr>
              <a:t>skyblue</a:t>
            </a:r>
            <a:r>
              <a:rPr lang="en-US" altLang="en-US" sz="1400" dirty="0">
                <a:latin typeface="Courier New" panose="02070309020205020404" pitchFamily="49" charset="0"/>
                <a:cs typeface="Courier New" panose="02070309020205020404" pitchFamily="49" charset="0"/>
              </a:rPr>
              <a:t>;}</a:t>
            </a:r>
          </a:p>
          <a:p>
            <a:pPr marL="457200" lvl="1" indent="0">
              <a:buNone/>
            </a:pPr>
            <a:r>
              <a:rPr lang="en-US" altLang="en-US" sz="1400" dirty="0">
                <a:latin typeface="Courier New" panose="02070309020205020404" pitchFamily="49" charset="0"/>
                <a:cs typeface="Courier New" panose="02070309020205020404" pitchFamily="49" charset="0"/>
              </a:rPr>
              <a:t>  q {font-family: Impact;}</a:t>
            </a:r>
          </a:p>
          <a:p>
            <a:pPr marL="457200" lvl="1" indent="0">
              <a:buNone/>
            </a:pPr>
            <a:r>
              <a:rPr lang="en-US" altLang="en-US" sz="1400" dirty="0">
                <a:latin typeface="Courier New" panose="02070309020205020404" pitchFamily="49" charset="0"/>
                <a:cs typeface="Courier New" panose="02070309020205020404" pitchFamily="49" charset="0"/>
              </a:rPr>
              <a:t>&lt;/style&gt;</a:t>
            </a:r>
          </a:p>
          <a:p>
            <a:pPr marL="457200" lvl="1" indent="0">
              <a:buNone/>
            </a:pPr>
            <a:r>
              <a:rPr lang="en-US" altLang="en-US" sz="1400" dirty="0">
                <a:latin typeface="Courier New" panose="02070309020205020404" pitchFamily="49" charset="0"/>
                <a:cs typeface="Courier New" panose="02070309020205020404" pitchFamily="49" charset="0"/>
              </a:rPr>
              <a:t>&lt;/head&gt;</a:t>
            </a:r>
          </a:p>
          <a:p>
            <a:pPr marL="457200" lvl="1" indent="0">
              <a:buNone/>
            </a:pPr>
            <a:endParaRPr lang="en-US" altLang="en-US" sz="1400" dirty="0">
              <a:latin typeface="Courier New" panose="02070309020205020404" pitchFamily="49" charset="0"/>
              <a:cs typeface="Courier New" panose="02070309020205020404" pitchFamily="49" charset="0"/>
            </a:endParaRPr>
          </a:p>
          <a:p>
            <a:pPr marL="457200" lvl="1" indent="0">
              <a:buNone/>
            </a:pPr>
            <a:r>
              <a:rPr lang="en-US" altLang="en-US" sz="1400" dirty="0">
                <a:latin typeface="Courier New" panose="02070309020205020404" pitchFamily="49" charset="0"/>
                <a:cs typeface="Courier New" panose="02070309020205020404" pitchFamily="49" charset="0"/>
              </a:rPr>
              <a:t>&lt;body&gt;</a:t>
            </a:r>
          </a:p>
          <a:p>
            <a:pPr marL="457200" lvl="1" indent="0">
              <a:buNone/>
            </a:pPr>
            <a:r>
              <a:rPr lang="en-US" altLang="en-US" sz="1400" dirty="0">
                <a:latin typeface="Courier New" panose="02070309020205020404" pitchFamily="49" charset="0"/>
                <a:cs typeface="Courier New" panose="02070309020205020404" pitchFamily="49" charset="0"/>
              </a:rPr>
              <a:t>&lt;h1&gt;Barack Obama Quotes&lt;/h1&gt;</a:t>
            </a:r>
          </a:p>
          <a:p>
            <a:pPr marL="457200" lvl="1" indent="0">
              <a:buNone/>
            </a:pPr>
            <a:r>
              <a:rPr lang="en-US" altLang="en-US" sz="1400" dirty="0">
                <a:latin typeface="Courier New" panose="02070309020205020404" pitchFamily="49" charset="0"/>
                <a:cs typeface="Courier New" panose="02070309020205020404" pitchFamily="49" charset="0"/>
              </a:rPr>
              <a:t>&lt;q class="red"&gt;I've now been in 57 states --</a:t>
            </a:r>
          </a:p>
          <a:p>
            <a:pPr marL="457200" lvl="1" indent="0">
              <a:buNone/>
            </a:pPr>
            <a:r>
              <a:rPr lang="en-US" altLang="en-US" sz="1400" dirty="0">
                <a:latin typeface="Courier New" panose="02070309020205020404" pitchFamily="49" charset="0"/>
                <a:cs typeface="Courier New" panose="02070309020205020404" pitchFamily="49" charset="0"/>
              </a:rPr>
              <a:t>  I think one left to go.&lt;/q&gt;&lt;</a:t>
            </a:r>
            <a:r>
              <a:rPr lang="en-US" altLang="en-US" sz="1400" dirty="0" err="1">
                <a:latin typeface="Courier New" panose="02070309020205020404" pitchFamily="49" charset="0"/>
                <a:cs typeface="Courier New" panose="02070309020205020404" pitchFamily="49" charset="0"/>
              </a:rPr>
              <a:t>br</a:t>
            </a:r>
            <a:r>
              <a:rPr lang="en-US" altLang="en-US" sz="1400" dirty="0">
                <a:latin typeface="Courier New" panose="02070309020205020404" pitchFamily="49" charset="0"/>
                <a:cs typeface="Courier New" panose="02070309020205020404" pitchFamily="49" charset="0"/>
              </a:rPr>
              <a:t>&gt;</a:t>
            </a:r>
          </a:p>
          <a:p>
            <a:pPr marL="457200" lvl="1" indent="0">
              <a:buNone/>
            </a:pPr>
            <a:r>
              <a:rPr lang="en-US" altLang="en-US" sz="1400" dirty="0">
                <a:latin typeface="Courier New" panose="02070309020205020404" pitchFamily="49" charset="0"/>
                <a:cs typeface="Courier New" panose="02070309020205020404" pitchFamily="49" charset="0"/>
              </a:rPr>
              <a:t>&lt;q class="white"&gt;The reforms we seek would bring greater</a:t>
            </a:r>
          </a:p>
          <a:p>
            <a:pPr marL="457200" lvl="1" indent="0">
              <a:buNone/>
            </a:pPr>
            <a:r>
              <a:rPr lang="en-US" altLang="en-US" sz="1400" dirty="0">
                <a:latin typeface="Courier New" panose="02070309020205020404" pitchFamily="49" charset="0"/>
                <a:cs typeface="Courier New" panose="02070309020205020404" pitchFamily="49" charset="0"/>
              </a:rPr>
              <a:t>  inefficiencies to our health care system.&lt;/q&gt;&lt;</a:t>
            </a:r>
            <a:r>
              <a:rPr lang="en-US" altLang="en-US" sz="1400" dirty="0" err="1">
                <a:latin typeface="Courier New" panose="02070309020205020404" pitchFamily="49" charset="0"/>
                <a:cs typeface="Courier New" panose="02070309020205020404" pitchFamily="49" charset="0"/>
              </a:rPr>
              <a:t>br</a:t>
            </a:r>
            <a:r>
              <a:rPr lang="en-US" altLang="en-US" sz="1400" dirty="0">
                <a:latin typeface="Courier New" panose="02070309020205020404" pitchFamily="49" charset="0"/>
                <a:cs typeface="Courier New" panose="02070309020205020404" pitchFamily="49" charset="0"/>
              </a:rPr>
              <a:t>&gt;</a:t>
            </a:r>
          </a:p>
          <a:p>
            <a:pPr marL="457200" lvl="1" indent="0">
              <a:buNone/>
            </a:pPr>
            <a:r>
              <a:rPr lang="en-US" altLang="en-US" sz="1400" dirty="0">
                <a:latin typeface="Courier New" panose="02070309020205020404" pitchFamily="49" charset="0"/>
                <a:cs typeface="Courier New" panose="02070309020205020404" pitchFamily="49" charset="0"/>
              </a:rPr>
              <a:t>&lt;q class="blue"&gt;Contrary to the rumors you may have</a:t>
            </a:r>
          </a:p>
          <a:p>
            <a:pPr marL="457200" lvl="1" indent="0">
              <a:buNone/>
            </a:pPr>
            <a:r>
              <a:rPr lang="en-US" altLang="en-US" sz="1400" dirty="0">
                <a:latin typeface="Courier New" panose="02070309020205020404" pitchFamily="49" charset="0"/>
                <a:cs typeface="Courier New" panose="02070309020205020404" pitchFamily="49" charset="0"/>
              </a:rPr>
              <a:t>  heard, I was not born in a manger.&lt;/q&gt;</a:t>
            </a:r>
          </a:p>
          <a:p>
            <a:pPr marL="457200" lvl="1" indent="0">
              <a:buNone/>
            </a:pPr>
            <a:r>
              <a:rPr lang="en-US" altLang="en-US" sz="1400" dirty="0">
                <a:latin typeface="Courier New" panose="02070309020205020404" pitchFamily="49" charset="0"/>
                <a:cs typeface="Courier New" panose="02070309020205020404" pitchFamily="49" charset="0"/>
              </a:rPr>
              <a:t>&lt;/body&gt;</a:t>
            </a:r>
          </a:p>
        </p:txBody>
      </p:sp>
      <p:sp>
        <p:nvSpPr>
          <p:cNvPr id="19461" name="Text Box 7" descr="note number"/>
          <p:cNvSpPr txBox="1">
            <a:spLocks noChangeArrowheads="1"/>
          </p:cNvSpPr>
          <p:nvPr/>
        </p:nvSpPr>
        <p:spPr bwMode="auto">
          <a:xfrm>
            <a:off x="586582" y="4456113"/>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2</a:t>
            </a:r>
          </a:p>
        </p:txBody>
      </p:sp>
      <p:sp>
        <p:nvSpPr>
          <p:cNvPr id="19462" name="Text Box 8" descr="note number"/>
          <p:cNvSpPr txBox="1">
            <a:spLocks noChangeArrowheads="1"/>
          </p:cNvSpPr>
          <p:nvPr/>
        </p:nvSpPr>
        <p:spPr bwMode="auto">
          <a:xfrm>
            <a:off x="586582" y="2255045"/>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19463" name="Text Box 8" descr="note number"/>
          <p:cNvSpPr txBox="1">
            <a:spLocks noChangeArrowheads="1"/>
          </p:cNvSpPr>
          <p:nvPr/>
        </p:nvSpPr>
        <p:spPr bwMode="auto">
          <a:xfrm>
            <a:off x="586582" y="5730588"/>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3</a:t>
            </a:r>
          </a:p>
        </p:txBody>
      </p:sp>
      <p:sp>
        <p:nvSpPr>
          <p:cNvPr id="19464" name="Rectangle 12"/>
          <p:cNvSpPr>
            <a:spLocks noChangeArrowheads="1"/>
          </p:cNvSpPr>
          <p:nvPr/>
        </p:nvSpPr>
        <p:spPr bwMode="auto">
          <a:xfrm>
            <a:off x="2385920" y="3918517"/>
            <a:ext cx="1811523" cy="369332"/>
          </a:xfrm>
          <a:prstGeom prst="rect">
            <a:avLst/>
          </a:prstGeom>
          <a:solidFill>
            <a:srgbClr val="CCFFCC"/>
          </a:solidFill>
          <a:ln w="9525">
            <a:solidFill>
              <a:srgbClr val="0000FF"/>
            </a:solidFill>
            <a:miter lim="800000"/>
            <a:headEnd/>
            <a:tailEnd/>
          </a:ln>
        </p:spPr>
        <p:txBody>
          <a:bodyPr wrap="none" anchor="ct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800" dirty="0">
                <a:latin typeface="Courier New" panose="02070309020205020404" pitchFamily="49" charset="0"/>
                <a:cs typeface="Courier New" panose="02070309020205020404" pitchFamily="49" charset="0"/>
              </a:rPr>
              <a:t>class</a:t>
            </a:r>
            <a:r>
              <a:rPr lang="en-US" altLang="en-US" sz="1800" dirty="0"/>
              <a:t> attribute</a:t>
            </a:r>
          </a:p>
        </p:txBody>
      </p:sp>
      <p:sp>
        <p:nvSpPr>
          <p:cNvPr id="19465" name="Line 9"/>
          <p:cNvSpPr>
            <a:spLocks noChangeShapeType="1"/>
          </p:cNvSpPr>
          <p:nvPr/>
        </p:nvSpPr>
        <p:spPr bwMode="auto">
          <a:xfrm flipH="1">
            <a:off x="2176462" y="4294188"/>
            <a:ext cx="311150" cy="476250"/>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9466" name="Rectangle 12"/>
          <p:cNvSpPr>
            <a:spLocks noChangeArrowheads="1"/>
          </p:cNvSpPr>
          <p:nvPr/>
        </p:nvSpPr>
        <p:spPr bwMode="auto">
          <a:xfrm>
            <a:off x="228600" y="3333751"/>
            <a:ext cx="1123950" cy="646112"/>
          </a:xfrm>
          <a:prstGeom prst="rect">
            <a:avLst/>
          </a:prstGeom>
          <a:solidFill>
            <a:srgbClr val="CCFFCC"/>
          </a:solidFill>
          <a:ln w="9525">
            <a:solidFill>
              <a:srgbClr val="0000FF"/>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eaLnBrk="1" hangingPunct="1">
              <a:spcBef>
                <a:spcPct val="0"/>
              </a:spcBef>
              <a:buClrTx/>
              <a:buSzTx/>
              <a:buFontTx/>
              <a:buNone/>
            </a:pPr>
            <a:r>
              <a:rPr lang="en-US" altLang="en-US" sz="1800" dirty="0">
                <a:latin typeface="Courier New" panose="02070309020205020404" pitchFamily="49" charset="0"/>
                <a:cs typeface="Courier New" panose="02070309020205020404" pitchFamily="49" charset="0"/>
              </a:rPr>
              <a:t>class</a:t>
            </a:r>
            <a:r>
              <a:rPr lang="en-US" altLang="en-US" sz="1800" dirty="0"/>
              <a:t> selectors</a:t>
            </a:r>
          </a:p>
        </p:txBody>
      </p:sp>
      <p:sp>
        <p:nvSpPr>
          <p:cNvPr id="19467" name="Line 9"/>
          <p:cNvSpPr>
            <a:spLocks noChangeShapeType="1"/>
          </p:cNvSpPr>
          <p:nvPr/>
        </p:nvSpPr>
        <p:spPr bwMode="auto">
          <a:xfrm flipV="1">
            <a:off x="1187449" y="2978151"/>
            <a:ext cx="411163" cy="355600"/>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9468" name="Rectangle 1"/>
          <p:cNvSpPr>
            <a:spLocks noChangeArrowheads="1"/>
          </p:cNvSpPr>
          <p:nvPr/>
        </p:nvSpPr>
        <p:spPr bwMode="auto">
          <a:xfrm>
            <a:off x="1598612" y="2447925"/>
            <a:ext cx="733425" cy="681038"/>
          </a:xfrm>
          <a:prstGeom prst="rect">
            <a:avLst/>
          </a:prstGeom>
          <a:solidFill>
            <a:schemeClr val="bg1">
              <a:alpha val="0"/>
            </a:schemeClr>
          </a:solidFill>
          <a:ln w="9525" algn="ctr">
            <a:solidFill>
              <a:srgbClr val="0000FF"/>
            </a:solidFill>
            <a:prstDash val="dash"/>
            <a:miter lim="800000"/>
            <a:headEnd/>
            <a:tailEnd/>
          </a:ln>
        </p:spPr>
        <p:txBody>
          <a:bodyPr wrap="none"/>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eaLnBrk="1" hangingPunct="1">
              <a:spcBef>
                <a:spcPct val="0"/>
              </a:spcBef>
              <a:buClrTx/>
              <a:buSzTx/>
              <a:buFontTx/>
              <a:buNone/>
            </a:pPr>
            <a:endParaRPr lang="en-US" altLang="en-US"/>
          </a:p>
        </p:txBody>
      </p:sp>
      <p:sp>
        <p:nvSpPr>
          <p:cNvPr id="19469" name="Text Box 8" descr="note number"/>
          <p:cNvSpPr txBox="1">
            <a:spLocks noChangeArrowheads="1"/>
          </p:cNvSpPr>
          <p:nvPr/>
        </p:nvSpPr>
        <p:spPr bwMode="auto">
          <a:xfrm>
            <a:off x="586582" y="6131358"/>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0" y="121033"/>
            <a:ext cx="12192000" cy="1002089"/>
          </a:xfrm>
        </p:spPr>
        <p:txBody>
          <a:bodyPr/>
          <a:lstStyle/>
          <a:p>
            <a:r>
              <a:rPr lang="en-US" altLang="en-US" dirty="0"/>
              <a:t>Class Selectors (hidden)</a:t>
            </a:r>
          </a:p>
        </p:txBody>
      </p:sp>
      <p:sp>
        <p:nvSpPr>
          <p:cNvPr id="21508" name="Rectangle 3"/>
          <p:cNvSpPr>
            <a:spLocks noGrp="1" noChangeArrowheads="1"/>
          </p:cNvSpPr>
          <p:nvPr>
            <p:ph idx="1"/>
          </p:nvPr>
        </p:nvSpPr>
        <p:spPr>
          <a:xfrm>
            <a:off x="925830" y="1490870"/>
            <a:ext cx="10287000" cy="4699047"/>
          </a:xfrm>
        </p:spPr>
        <p:txBody>
          <a:bodyPr/>
          <a:lstStyle/>
          <a:p>
            <a:r>
              <a:rPr lang="en-US" altLang="en-US" dirty="0"/>
              <a:t>Note the 3 </a:t>
            </a:r>
            <a:r>
              <a:rPr lang="en-US" altLang="en-US" dirty="0">
                <a:latin typeface="Courier New" panose="02070309020205020404" pitchFamily="49" charset="0"/>
                <a:cs typeface="Courier New" panose="02070309020205020404" pitchFamily="49" charset="0"/>
              </a:rPr>
              <a:t>class</a:t>
            </a:r>
            <a:r>
              <a:rPr lang="en-US" altLang="en-US" dirty="0"/>
              <a:t> selectors in this code fragment:</a:t>
            </a:r>
          </a:p>
          <a:p>
            <a:pPr marL="457200" lvl="1" indent="0">
              <a:buNone/>
            </a:pPr>
            <a:r>
              <a:rPr lang="en-US" altLang="en-US" sz="1400" dirty="0">
                <a:latin typeface="Courier New" panose="02070309020205020404" pitchFamily="49" charset="0"/>
                <a:cs typeface="Courier New" panose="02070309020205020404" pitchFamily="49" charset="0"/>
              </a:rPr>
              <a:t>&lt;head&gt;</a:t>
            </a:r>
          </a:p>
          <a:p>
            <a:pPr marL="457200" lvl="1" indent="0">
              <a:buNone/>
            </a:pPr>
            <a:r>
              <a:rPr lang="en-US" altLang="en-US" sz="1400" dirty="0">
                <a:latin typeface="Courier New" panose="02070309020205020404" pitchFamily="49" charset="0"/>
                <a:cs typeface="Courier New" panose="02070309020205020404" pitchFamily="49" charset="0"/>
              </a:rPr>
              <a:t>&lt;style&gt;</a:t>
            </a:r>
          </a:p>
          <a:p>
            <a:pPr marL="457200" lvl="1" indent="0">
              <a:buNone/>
            </a:pPr>
            <a:r>
              <a:rPr lang="en-US" altLang="en-US" sz="1400" dirty="0">
                <a:latin typeface="Courier New" panose="02070309020205020404" pitchFamily="49" charset="0"/>
                <a:cs typeface="Courier New" panose="02070309020205020404" pitchFamily="49" charset="0"/>
              </a:rPr>
              <a:t>  .red {background-color: tomato;}</a:t>
            </a:r>
          </a:p>
          <a:p>
            <a:pPr marL="457200" lvl="1" indent="0">
              <a:buNone/>
            </a:pPr>
            <a:r>
              <a:rPr lang="en-US" altLang="en-US" sz="1400" dirty="0">
                <a:latin typeface="Courier New" panose="02070309020205020404" pitchFamily="49" charset="0"/>
                <a:cs typeface="Courier New" panose="02070309020205020404" pitchFamily="49" charset="0"/>
              </a:rPr>
              <a:t>  .white {background-color: white;}</a:t>
            </a:r>
          </a:p>
          <a:p>
            <a:pPr marL="457200" lvl="1" indent="0">
              <a:buNone/>
            </a:pPr>
            <a:r>
              <a:rPr lang="en-US" altLang="en-US" sz="1400" dirty="0">
                <a:latin typeface="Courier New" panose="02070309020205020404" pitchFamily="49" charset="0"/>
                <a:cs typeface="Courier New" panose="02070309020205020404" pitchFamily="49" charset="0"/>
              </a:rPr>
              <a:t>  .blue {background-color: </a:t>
            </a:r>
            <a:r>
              <a:rPr lang="en-US" altLang="en-US" sz="1400" dirty="0" err="1">
                <a:latin typeface="Courier New" panose="02070309020205020404" pitchFamily="49" charset="0"/>
                <a:cs typeface="Courier New" panose="02070309020205020404" pitchFamily="49" charset="0"/>
              </a:rPr>
              <a:t>skyblue</a:t>
            </a:r>
            <a:r>
              <a:rPr lang="en-US" altLang="en-US" sz="1400" dirty="0">
                <a:latin typeface="Courier New" panose="02070309020205020404" pitchFamily="49" charset="0"/>
                <a:cs typeface="Courier New" panose="02070309020205020404" pitchFamily="49" charset="0"/>
              </a:rPr>
              <a:t>;}</a:t>
            </a:r>
          </a:p>
          <a:p>
            <a:pPr marL="457200" lvl="1" indent="0">
              <a:buNone/>
            </a:pPr>
            <a:r>
              <a:rPr lang="en-US" altLang="en-US" sz="1400" dirty="0">
                <a:latin typeface="Courier New" panose="02070309020205020404" pitchFamily="49" charset="0"/>
                <a:cs typeface="Courier New" panose="02070309020205020404" pitchFamily="49" charset="0"/>
              </a:rPr>
              <a:t>  q {font-family: Impact;}</a:t>
            </a:r>
          </a:p>
          <a:p>
            <a:pPr marL="457200" lvl="1" indent="0">
              <a:buNone/>
            </a:pPr>
            <a:r>
              <a:rPr lang="en-US" altLang="en-US" sz="1400" dirty="0">
                <a:latin typeface="Courier New" panose="02070309020205020404" pitchFamily="49" charset="0"/>
                <a:cs typeface="Courier New" panose="02070309020205020404" pitchFamily="49" charset="0"/>
              </a:rPr>
              <a:t>&lt;/style&gt;</a:t>
            </a:r>
          </a:p>
          <a:p>
            <a:pPr marL="457200" lvl="1" indent="0">
              <a:buNone/>
            </a:pPr>
            <a:r>
              <a:rPr lang="en-US" altLang="en-US" sz="1400" dirty="0">
                <a:latin typeface="Courier New" panose="02070309020205020404" pitchFamily="49" charset="0"/>
                <a:cs typeface="Courier New" panose="02070309020205020404" pitchFamily="49" charset="0"/>
              </a:rPr>
              <a:t>&lt;/head&gt;</a:t>
            </a:r>
          </a:p>
          <a:p>
            <a:pPr marL="457200" lvl="1" indent="0">
              <a:buNone/>
            </a:pPr>
            <a:endParaRPr lang="en-US" altLang="en-US" sz="1400" dirty="0">
              <a:latin typeface="Courier New" panose="02070309020205020404" pitchFamily="49" charset="0"/>
              <a:cs typeface="Courier New" panose="02070309020205020404" pitchFamily="49" charset="0"/>
            </a:endParaRPr>
          </a:p>
          <a:p>
            <a:pPr marL="457200" lvl="1" indent="0">
              <a:buNone/>
            </a:pPr>
            <a:r>
              <a:rPr lang="en-US" altLang="en-US" sz="1400" dirty="0">
                <a:latin typeface="Courier New" panose="02070309020205020404" pitchFamily="49" charset="0"/>
                <a:cs typeface="Courier New" panose="02070309020205020404" pitchFamily="49" charset="0"/>
              </a:rPr>
              <a:t>&lt;body&gt;</a:t>
            </a:r>
          </a:p>
          <a:p>
            <a:pPr marL="457200" lvl="1" indent="0">
              <a:buNone/>
            </a:pPr>
            <a:r>
              <a:rPr lang="en-US" altLang="en-US" sz="1400" dirty="0">
                <a:latin typeface="Courier New" panose="02070309020205020404" pitchFamily="49" charset="0"/>
                <a:cs typeface="Courier New" panose="02070309020205020404" pitchFamily="49" charset="0"/>
              </a:rPr>
              <a:t>&lt;h1&gt;Barack Obama Quotes&lt;/h1&gt;</a:t>
            </a:r>
          </a:p>
          <a:p>
            <a:pPr marL="457200" lvl="1" indent="0">
              <a:buNone/>
            </a:pPr>
            <a:r>
              <a:rPr lang="en-US" altLang="en-US" sz="1400" dirty="0">
                <a:latin typeface="Courier New" panose="02070309020205020404" pitchFamily="49" charset="0"/>
                <a:cs typeface="Courier New" panose="02070309020205020404" pitchFamily="49" charset="0"/>
              </a:rPr>
              <a:t>&lt;q class="red"&gt;I've now been in 57 states --</a:t>
            </a:r>
          </a:p>
          <a:p>
            <a:pPr marL="457200" lvl="1" indent="0">
              <a:buNone/>
            </a:pPr>
            <a:r>
              <a:rPr lang="en-US" altLang="en-US" sz="1400" dirty="0">
                <a:latin typeface="Courier New" panose="02070309020205020404" pitchFamily="49" charset="0"/>
                <a:cs typeface="Courier New" panose="02070309020205020404" pitchFamily="49" charset="0"/>
              </a:rPr>
              <a:t>  I think one left to go.&lt;/q&gt;&lt;</a:t>
            </a:r>
            <a:r>
              <a:rPr lang="en-US" altLang="en-US" sz="1400" dirty="0" err="1">
                <a:latin typeface="Courier New" panose="02070309020205020404" pitchFamily="49" charset="0"/>
                <a:cs typeface="Courier New" panose="02070309020205020404" pitchFamily="49" charset="0"/>
              </a:rPr>
              <a:t>br</a:t>
            </a:r>
            <a:r>
              <a:rPr lang="en-US" altLang="en-US" sz="1400" dirty="0">
                <a:latin typeface="Courier New" panose="02070309020205020404" pitchFamily="49" charset="0"/>
                <a:cs typeface="Courier New" panose="02070309020205020404" pitchFamily="49" charset="0"/>
              </a:rPr>
              <a:t>&gt;</a:t>
            </a:r>
          </a:p>
          <a:p>
            <a:pPr marL="457200" lvl="1" indent="0">
              <a:buNone/>
            </a:pPr>
            <a:r>
              <a:rPr lang="en-US" altLang="en-US" sz="1400" dirty="0">
                <a:latin typeface="Courier New" panose="02070309020205020404" pitchFamily="49" charset="0"/>
                <a:cs typeface="Courier New" panose="02070309020205020404" pitchFamily="49" charset="0"/>
              </a:rPr>
              <a:t>&lt;q class="white"&gt;The reforms we seek would bring greater</a:t>
            </a:r>
          </a:p>
          <a:p>
            <a:pPr marL="457200" lvl="1" indent="0">
              <a:buNone/>
            </a:pPr>
            <a:r>
              <a:rPr lang="en-US" altLang="en-US" sz="1400" dirty="0">
                <a:latin typeface="Courier New" panose="02070309020205020404" pitchFamily="49" charset="0"/>
                <a:cs typeface="Courier New" panose="02070309020205020404" pitchFamily="49" charset="0"/>
              </a:rPr>
              <a:t>  inefficiencies to our health care system.&lt;/q&gt;&lt;</a:t>
            </a:r>
            <a:r>
              <a:rPr lang="en-US" altLang="en-US" sz="1400" dirty="0" err="1">
                <a:latin typeface="Courier New" panose="02070309020205020404" pitchFamily="49" charset="0"/>
                <a:cs typeface="Courier New" panose="02070309020205020404" pitchFamily="49" charset="0"/>
              </a:rPr>
              <a:t>br</a:t>
            </a:r>
            <a:r>
              <a:rPr lang="en-US" altLang="en-US" sz="1400" dirty="0">
                <a:latin typeface="Courier New" panose="02070309020205020404" pitchFamily="49" charset="0"/>
                <a:cs typeface="Courier New" panose="02070309020205020404" pitchFamily="49" charset="0"/>
              </a:rPr>
              <a:t>&gt;</a:t>
            </a:r>
          </a:p>
          <a:p>
            <a:pPr marL="457200" lvl="1" indent="0">
              <a:buNone/>
            </a:pPr>
            <a:r>
              <a:rPr lang="en-US" altLang="en-US" sz="1400" dirty="0">
                <a:latin typeface="Courier New" panose="02070309020205020404" pitchFamily="49" charset="0"/>
                <a:cs typeface="Courier New" panose="02070309020205020404" pitchFamily="49" charset="0"/>
              </a:rPr>
              <a:t>&lt;q class="blue"&gt;Contrary to the rumors you may have</a:t>
            </a:r>
          </a:p>
          <a:p>
            <a:pPr marL="457200" lvl="1" indent="0">
              <a:buNone/>
            </a:pPr>
            <a:r>
              <a:rPr lang="en-US" altLang="en-US" sz="1400" dirty="0">
                <a:latin typeface="Courier New" panose="02070309020205020404" pitchFamily="49" charset="0"/>
                <a:cs typeface="Courier New" panose="02070309020205020404" pitchFamily="49" charset="0"/>
              </a:rPr>
              <a:t>  heard, I was not born in a manger.&lt;/q&gt;</a:t>
            </a:r>
          </a:p>
          <a:p>
            <a:pPr marL="457200" lvl="1" indent="0">
              <a:buNone/>
            </a:pPr>
            <a:r>
              <a:rPr lang="en-US" altLang="en-US" sz="1400" dirty="0">
                <a:latin typeface="Courier New" panose="02070309020205020404" pitchFamily="49" charset="0"/>
                <a:cs typeface="Courier New" panose="02070309020205020404" pitchFamily="49" charset="0"/>
              </a:rPr>
              <a:t>&lt;/body&gt;</a:t>
            </a:r>
          </a:p>
        </p:txBody>
      </p:sp>
      <p:sp>
        <p:nvSpPr>
          <p:cNvPr id="21509" name="Text Box 7" descr="note number"/>
          <p:cNvSpPr txBox="1">
            <a:spLocks noChangeArrowheads="1"/>
          </p:cNvSpPr>
          <p:nvPr/>
        </p:nvSpPr>
        <p:spPr bwMode="auto">
          <a:xfrm>
            <a:off x="584199" y="51816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21510" name="Rectangle 12"/>
          <p:cNvSpPr>
            <a:spLocks noChangeArrowheads="1"/>
          </p:cNvSpPr>
          <p:nvPr/>
        </p:nvSpPr>
        <p:spPr bwMode="auto">
          <a:xfrm>
            <a:off x="2381158" y="3840441"/>
            <a:ext cx="1811523" cy="369332"/>
          </a:xfrm>
          <a:prstGeom prst="rect">
            <a:avLst/>
          </a:prstGeom>
          <a:solidFill>
            <a:srgbClr val="CCFFCC"/>
          </a:solidFill>
          <a:ln w="9525">
            <a:solidFill>
              <a:srgbClr val="0000FF"/>
            </a:solidFill>
            <a:miter lim="800000"/>
            <a:headEnd/>
            <a:tailEnd/>
          </a:ln>
        </p:spPr>
        <p:txBody>
          <a:bodyPr wrap="none" anchor="ct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800" dirty="0">
                <a:latin typeface="Courier New" panose="02070309020205020404" pitchFamily="49" charset="0"/>
                <a:cs typeface="Courier New" panose="02070309020205020404" pitchFamily="49" charset="0"/>
              </a:rPr>
              <a:t>class</a:t>
            </a:r>
            <a:r>
              <a:rPr lang="en-US" altLang="en-US" sz="1800" dirty="0"/>
              <a:t> attribute</a:t>
            </a:r>
          </a:p>
        </p:txBody>
      </p:sp>
      <p:sp>
        <p:nvSpPr>
          <p:cNvPr id="21511" name="Line 9"/>
          <p:cNvSpPr>
            <a:spLocks noChangeShapeType="1"/>
          </p:cNvSpPr>
          <p:nvPr/>
        </p:nvSpPr>
        <p:spPr bwMode="auto">
          <a:xfrm flipH="1">
            <a:off x="2171700" y="4175522"/>
            <a:ext cx="311150" cy="476250"/>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1512" name="Rectangle 12"/>
          <p:cNvSpPr>
            <a:spLocks noChangeArrowheads="1"/>
          </p:cNvSpPr>
          <p:nvPr/>
        </p:nvSpPr>
        <p:spPr bwMode="auto">
          <a:xfrm>
            <a:off x="155574" y="3333751"/>
            <a:ext cx="1123950" cy="646112"/>
          </a:xfrm>
          <a:prstGeom prst="rect">
            <a:avLst/>
          </a:prstGeom>
          <a:solidFill>
            <a:srgbClr val="CCFFCC"/>
          </a:solidFill>
          <a:ln w="9525">
            <a:solidFill>
              <a:srgbClr val="0000FF"/>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eaLnBrk="1" hangingPunct="1">
              <a:spcBef>
                <a:spcPct val="0"/>
              </a:spcBef>
              <a:buClrTx/>
              <a:buSzTx/>
              <a:buFontTx/>
              <a:buNone/>
            </a:pPr>
            <a:r>
              <a:rPr lang="en-US" altLang="en-US" sz="1800" dirty="0">
                <a:latin typeface="Courier New" panose="02070309020205020404" pitchFamily="49" charset="0"/>
                <a:cs typeface="Courier New" panose="02070309020205020404" pitchFamily="49" charset="0"/>
              </a:rPr>
              <a:t>class</a:t>
            </a:r>
            <a:r>
              <a:rPr lang="en-US" altLang="en-US" sz="1800" dirty="0"/>
              <a:t> selectors</a:t>
            </a:r>
          </a:p>
        </p:txBody>
      </p:sp>
      <p:sp>
        <p:nvSpPr>
          <p:cNvPr id="21513" name="Line 9"/>
          <p:cNvSpPr>
            <a:spLocks noChangeShapeType="1"/>
          </p:cNvSpPr>
          <p:nvPr/>
        </p:nvSpPr>
        <p:spPr bwMode="auto">
          <a:xfrm flipV="1">
            <a:off x="1277792" y="2978151"/>
            <a:ext cx="411163" cy="355600"/>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1514" name="Rectangle 1"/>
          <p:cNvSpPr>
            <a:spLocks noChangeArrowheads="1"/>
          </p:cNvSpPr>
          <p:nvPr/>
        </p:nvSpPr>
        <p:spPr bwMode="auto">
          <a:xfrm>
            <a:off x="1671637" y="2432844"/>
            <a:ext cx="733425" cy="681038"/>
          </a:xfrm>
          <a:prstGeom prst="rect">
            <a:avLst/>
          </a:prstGeom>
          <a:solidFill>
            <a:schemeClr val="bg1">
              <a:alpha val="0"/>
            </a:schemeClr>
          </a:solidFill>
          <a:ln w="9525" algn="ctr">
            <a:solidFill>
              <a:srgbClr val="0000FF"/>
            </a:solidFill>
            <a:prstDash val="dash"/>
            <a:miter lim="800000"/>
            <a:headEnd/>
            <a:tailEnd/>
          </a:ln>
        </p:spPr>
        <p:txBody>
          <a:bodyPr wrap="none"/>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eaLnBrk="1" hangingPunct="1">
              <a:spcBef>
                <a:spcPct val="0"/>
              </a:spcBef>
              <a:buClrTx/>
              <a:buSzTx/>
              <a:buFontTx/>
              <a:buNone/>
            </a:pPr>
            <a:endParaRPr lang="en-US" altLang="en-US"/>
          </a:p>
        </p:txBody>
      </p:sp>
      <p:sp>
        <p:nvSpPr>
          <p:cNvPr id="21515" name="Text Box 8" descr="note number"/>
          <p:cNvSpPr txBox="1">
            <a:spLocks noChangeArrowheads="1"/>
          </p:cNvSpPr>
          <p:nvPr/>
        </p:nvSpPr>
        <p:spPr bwMode="auto">
          <a:xfrm>
            <a:off x="584199" y="6164282"/>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0" y="121033"/>
            <a:ext cx="12192000" cy="1002089"/>
          </a:xfrm>
        </p:spPr>
        <p:txBody>
          <a:bodyPr/>
          <a:lstStyle/>
          <a:p>
            <a:r>
              <a:rPr lang="en-US" altLang="en-US" dirty="0"/>
              <a:t>Class Selectors with Element Type Prefixes (1 of 2)</a:t>
            </a:r>
          </a:p>
        </p:txBody>
      </p:sp>
      <p:sp>
        <p:nvSpPr>
          <p:cNvPr id="23556" name="Rectangle 3"/>
          <p:cNvSpPr>
            <a:spLocks noGrp="1" noChangeArrowheads="1"/>
          </p:cNvSpPr>
          <p:nvPr>
            <p:ph idx="1"/>
          </p:nvPr>
        </p:nvSpPr>
        <p:spPr>
          <a:xfrm>
            <a:off x="925830" y="1490870"/>
            <a:ext cx="10287000" cy="4699047"/>
          </a:xfrm>
        </p:spPr>
        <p:txBody>
          <a:bodyPr/>
          <a:lstStyle/>
          <a:p>
            <a:r>
              <a:rPr lang="en-US" altLang="en-US" dirty="0"/>
              <a:t>For more granularity in applying CSS, use a specialized type of </a:t>
            </a:r>
            <a:r>
              <a:rPr lang="en-US" altLang="en-US" dirty="0">
                <a:latin typeface="Courier New" panose="02070309020205020404" pitchFamily="49" charset="0"/>
                <a:cs typeface="Courier New" panose="02070309020205020404" pitchFamily="49" charset="0"/>
              </a:rPr>
              <a:t>class</a:t>
            </a:r>
            <a:r>
              <a:rPr lang="en-US" altLang="en-US" dirty="0"/>
              <a:t> selector that matches elements of a particular type that have a particular </a:t>
            </a:r>
            <a:r>
              <a:rPr lang="en-US" altLang="en-US" dirty="0">
                <a:latin typeface="Courier New" panose="02070309020205020404" pitchFamily="49" charset="0"/>
                <a:cs typeface="Courier New" panose="02070309020205020404" pitchFamily="49" charset="0"/>
              </a:rPr>
              <a:t>class</a:t>
            </a:r>
            <a:r>
              <a:rPr lang="en-US" altLang="en-US" dirty="0"/>
              <a:t> attribute value.</a:t>
            </a:r>
          </a:p>
          <a:p>
            <a:r>
              <a:rPr lang="en-US" altLang="en-US" dirty="0"/>
              <a:t>Syntax for a CSS rule that uses a </a:t>
            </a:r>
            <a:r>
              <a:rPr lang="en-US" altLang="en-US" dirty="0">
                <a:latin typeface="Courier New" panose="02070309020205020404" pitchFamily="49" charset="0"/>
                <a:cs typeface="Courier New" panose="02070309020205020404" pitchFamily="49" charset="0"/>
              </a:rPr>
              <a:t>class</a:t>
            </a:r>
            <a:r>
              <a:rPr lang="en-US" altLang="en-US" dirty="0"/>
              <a:t> selector prefaced by an element type:</a:t>
            </a:r>
          </a:p>
          <a:p>
            <a:pPr marL="457200" lvl="1" indent="0">
              <a:buNone/>
            </a:pPr>
            <a:r>
              <a:rPr lang="en-US" altLang="en-US" sz="2000" dirty="0">
                <a:latin typeface="Courier New" panose="02070309020205020404" pitchFamily="49" charset="0"/>
                <a:cs typeface="Courier New" panose="02070309020205020404" pitchFamily="49" charset="0"/>
              </a:rPr>
              <a:t>element-</a:t>
            </a:r>
            <a:r>
              <a:rPr lang="en-US" altLang="en-US" sz="2000" dirty="0" err="1">
                <a:latin typeface="Courier New" panose="02070309020205020404" pitchFamily="49" charset="0"/>
                <a:cs typeface="Courier New" panose="02070309020205020404" pitchFamily="49" charset="0"/>
              </a:rPr>
              <a:t>type.class</a:t>
            </a:r>
            <a:r>
              <a:rPr lang="en-US" altLang="en-US" sz="2000" dirty="0">
                <a:latin typeface="Courier New" panose="02070309020205020404" pitchFamily="49" charset="0"/>
                <a:cs typeface="Courier New" panose="02070309020205020404" pitchFamily="49" charset="0"/>
              </a:rPr>
              <a:t>-value {property1: value; property2: value;}</a:t>
            </a:r>
          </a:p>
        </p:txBody>
      </p:sp>
      <p:sp>
        <p:nvSpPr>
          <p:cNvPr id="23558" name="Text Box 9" descr="note number"/>
          <p:cNvSpPr txBox="1">
            <a:spLocks noChangeArrowheads="1"/>
          </p:cNvSpPr>
          <p:nvPr/>
        </p:nvSpPr>
        <p:spPr bwMode="auto">
          <a:xfrm>
            <a:off x="457200" y="390352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1</a:t>
            </a:r>
          </a:p>
        </p:txBody>
      </p:sp>
      <p:sp>
        <p:nvSpPr>
          <p:cNvPr id="23559" name="Text Box 9" descr="note number"/>
          <p:cNvSpPr txBox="1">
            <a:spLocks noChangeArrowheads="1"/>
          </p:cNvSpPr>
          <p:nvPr/>
        </p:nvSpPr>
        <p:spPr bwMode="auto">
          <a:xfrm>
            <a:off x="457200" y="44196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0" y="121033"/>
            <a:ext cx="12192000" cy="1002089"/>
          </a:xfrm>
        </p:spPr>
        <p:txBody>
          <a:bodyPr/>
          <a:lstStyle/>
          <a:p>
            <a:r>
              <a:rPr lang="en-US" altLang="en-US" dirty="0"/>
              <a:t>Class Selectors with Element Type Prefixes (2 of 2)</a:t>
            </a:r>
          </a:p>
        </p:txBody>
      </p:sp>
      <p:sp>
        <p:nvSpPr>
          <p:cNvPr id="25604" name="Rectangle 3"/>
          <p:cNvSpPr>
            <a:spLocks noGrp="1" noChangeArrowheads="1"/>
          </p:cNvSpPr>
          <p:nvPr>
            <p:ph idx="1"/>
          </p:nvPr>
        </p:nvSpPr>
        <p:spPr>
          <a:xfrm>
            <a:off x="925830" y="1490870"/>
            <a:ext cx="10287000" cy="4699047"/>
          </a:xfrm>
        </p:spPr>
        <p:txBody>
          <a:bodyPr/>
          <a:lstStyle/>
          <a:p>
            <a:r>
              <a:rPr lang="en-US" altLang="en-US" dirty="0"/>
              <a:t>How will this web page source code display differently than the previous web page source code?</a:t>
            </a:r>
          </a:p>
          <a:p>
            <a:pPr marL="457200" lvl="1" indent="0">
              <a:buNone/>
            </a:pPr>
            <a:r>
              <a:rPr lang="en-US" altLang="en-US" sz="1200" dirty="0">
                <a:latin typeface="Courier New" panose="02070309020205020404" pitchFamily="49" charset="0"/>
                <a:cs typeface="Courier New" panose="02070309020205020404" pitchFamily="49" charset="0"/>
              </a:rPr>
              <a:t>&lt;head&gt;</a:t>
            </a:r>
          </a:p>
          <a:p>
            <a:pPr marL="457200" lvl="1" indent="0">
              <a:buNone/>
            </a:pPr>
            <a:r>
              <a:rPr lang="en-US" altLang="en-US" sz="1200" dirty="0">
                <a:latin typeface="Courier New" panose="02070309020205020404" pitchFamily="49" charset="0"/>
                <a:cs typeface="Courier New" panose="02070309020205020404" pitchFamily="49" charset="0"/>
              </a:rPr>
              <a:t>&lt;style&gt;</a:t>
            </a:r>
          </a:p>
          <a:p>
            <a:pPr marL="457200" lvl="1" indent="0">
              <a:buNone/>
            </a:pPr>
            <a:r>
              <a:rPr lang="en-US" altLang="en-US" sz="1200" dirty="0">
                <a:latin typeface="Courier New" panose="02070309020205020404" pitchFamily="49" charset="0"/>
                <a:cs typeface="Courier New" panose="02070309020205020404" pitchFamily="49" charset="0"/>
              </a:rPr>
              <a:t>  h1.blue {color: blue;}</a:t>
            </a:r>
          </a:p>
          <a:p>
            <a:pPr marL="457200" lvl="1" indent="0">
              <a:buNone/>
            </a:pPr>
            <a:r>
              <a:rPr lang="en-US" altLang="en-US" sz="1200" dirty="0">
                <a:latin typeface="Courier New" panose="02070309020205020404" pitchFamily="49" charset="0"/>
                <a:cs typeface="Courier New" panose="02070309020205020404" pitchFamily="49" charset="0"/>
              </a:rPr>
              <a:t>  </a:t>
            </a:r>
            <a:r>
              <a:rPr lang="en-US" altLang="en-US" sz="1200" dirty="0" err="1">
                <a:latin typeface="Courier New" panose="02070309020205020404" pitchFamily="49" charset="0"/>
                <a:cs typeface="Courier New" panose="02070309020205020404" pitchFamily="49" charset="0"/>
              </a:rPr>
              <a:t>q.red</a:t>
            </a:r>
            <a:r>
              <a:rPr lang="en-US" altLang="en-US" sz="1200" dirty="0">
                <a:latin typeface="Courier New" panose="02070309020205020404" pitchFamily="49" charset="0"/>
                <a:cs typeface="Courier New" panose="02070309020205020404" pitchFamily="49" charset="0"/>
              </a:rPr>
              <a:t> {background-color: tomato;}</a:t>
            </a:r>
          </a:p>
          <a:p>
            <a:pPr marL="457200" lvl="1" indent="0">
              <a:buNone/>
            </a:pPr>
            <a:r>
              <a:rPr lang="en-US" altLang="en-US" sz="1200" dirty="0">
                <a:latin typeface="Courier New" panose="02070309020205020404" pitchFamily="49" charset="0"/>
                <a:cs typeface="Courier New" panose="02070309020205020404" pitchFamily="49" charset="0"/>
              </a:rPr>
              <a:t>  </a:t>
            </a:r>
            <a:r>
              <a:rPr lang="en-US" altLang="en-US" sz="1200" dirty="0" err="1">
                <a:latin typeface="Courier New" panose="02070309020205020404" pitchFamily="49" charset="0"/>
                <a:cs typeface="Courier New" panose="02070309020205020404" pitchFamily="49" charset="0"/>
              </a:rPr>
              <a:t>q.white</a:t>
            </a:r>
            <a:r>
              <a:rPr lang="en-US" altLang="en-US" sz="1200" dirty="0">
                <a:latin typeface="Courier New" panose="02070309020205020404" pitchFamily="49" charset="0"/>
                <a:cs typeface="Courier New" panose="02070309020205020404" pitchFamily="49" charset="0"/>
              </a:rPr>
              <a:t> {background-color: white;}</a:t>
            </a:r>
          </a:p>
          <a:p>
            <a:pPr marL="457200" lvl="1" indent="0">
              <a:buNone/>
            </a:pPr>
            <a:r>
              <a:rPr lang="en-US" altLang="en-US" sz="1200" dirty="0">
                <a:latin typeface="Courier New" panose="02070309020205020404" pitchFamily="49" charset="0"/>
                <a:cs typeface="Courier New" panose="02070309020205020404" pitchFamily="49" charset="0"/>
              </a:rPr>
              <a:t>  </a:t>
            </a:r>
            <a:r>
              <a:rPr lang="en-US" altLang="en-US" sz="1200" dirty="0" err="1">
                <a:latin typeface="Courier New" panose="02070309020205020404" pitchFamily="49" charset="0"/>
                <a:cs typeface="Courier New" panose="02070309020205020404" pitchFamily="49" charset="0"/>
              </a:rPr>
              <a:t>q.blue</a:t>
            </a:r>
            <a:r>
              <a:rPr lang="en-US" altLang="en-US" sz="1200" dirty="0">
                <a:latin typeface="Courier New" panose="02070309020205020404" pitchFamily="49" charset="0"/>
                <a:cs typeface="Courier New" panose="02070309020205020404" pitchFamily="49" charset="0"/>
              </a:rPr>
              <a:t> {background-color: </a:t>
            </a:r>
            <a:r>
              <a:rPr lang="en-US" altLang="en-US" sz="1200" dirty="0" err="1">
                <a:latin typeface="Courier New" panose="02070309020205020404" pitchFamily="49" charset="0"/>
                <a:cs typeface="Courier New" panose="02070309020205020404" pitchFamily="49" charset="0"/>
              </a:rPr>
              <a:t>skyblue</a:t>
            </a:r>
            <a:r>
              <a:rPr lang="en-US" altLang="en-US" sz="1200" dirty="0">
                <a:latin typeface="Courier New" panose="02070309020205020404" pitchFamily="49" charset="0"/>
                <a:cs typeface="Courier New" panose="02070309020205020404" pitchFamily="49" charset="0"/>
              </a:rPr>
              <a:t>;}</a:t>
            </a:r>
          </a:p>
          <a:p>
            <a:pPr marL="457200" lvl="1" indent="0">
              <a:buNone/>
            </a:pPr>
            <a:r>
              <a:rPr lang="en-US" altLang="en-US" sz="1200" dirty="0">
                <a:latin typeface="Courier New" panose="02070309020205020404" pitchFamily="49" charset="0"/>
                <a:cs typeface="Courier New" panose="02070309020205020404" pitchFamily="49" charset="0"/>
              </a:rPr>
              <a:t>  q {font-family: Impact;}</a:t>
            </a:r>
          </a:p>
          <a:p>
            <a:pPr marL="457200" lvl="1" indent="0">
              <a:buNone/>
            </a:pPr>
            <a:r>
              <a:rPr lang="en-US" altLang="en-US" sz="1200" dirty="0">
                <a:latin typeface="Courier New" panose="02070309020205020404" pitchFamily="49" charset="0"/>
                <a:cs typeface="Courier New" panose="02070309020205020404" pitchFamily="49" charset="0"/>
              </a:rPr>
              <a:t>&lt;/style&gt;</a:t>
            </a:r>
          </a:p>
          <a:p>
            <a:pPr marL="457200" lvl="1" indent="0">
              <a:buNone/>
            </a:pPr>
            <a:r>
              <a:rPr lang="en-US" altLang="en-US" sz="1200" dirty="0">
                <a:latin typeface="Courier New" panose="02070309020205020404" pitchFamily="49" charset="0"/>
                <a:cs typeface="Courier New" panose="02070309020205020404" pitchFamily="49" charset="0"/>
              </a:rPr>
              <a:t>&lt;/head&gt;</a:t>
            </a:r>
          </a:p>
          <a:p>
            <a:pPr marL="457200" lvl="1" indent="0">
              <a:buNone/>
            </a:pPr>
            <a:endParaRPr lang="en-US" altLang="en-US" sz="1200" dirty="0">
              <a:latin typeface="Courier New" panose="02070309020205020404" pitchFamily="49" charset="0"/>
              <a:cs typeface="Courier New" panose="02070309020205020404" pitchFamily="49" charset="0"/>
            </a:endParaRPr>
          </a:p>
          <a:p>
            <a:pPr marL="457200" lvl="1" indent="0">
              <a:buNone/>
            </a:pPr>
            <a:r>
              <a:rPr lang="en-US" altLang="en-US" sz="1200" dirty="0">
                <a:latin typeface="Courier New" panose="02070309020205020404" pitchFamily="49" charset="0"/>
                <a:cs typeface="Courier New" panose="02070309020205020404" pitchFamily="49" charset="0"/>
              </a:rPr>
              <a:t>&lt;body&gt;</a:t>
            </a:r>
          </a:p>
          <a:p>
            <a:pPr marL="457200" lvl="1" indent="0">
              <a:buNone/>
            </a:pPr>
            <a:r>
              <a:rPr lang="en-US" altLang="en-US" sz="1200" dirty="0">
                <a:latin typeface="Courier New" panose="02070309020205020404" pitchFamily="49" charset="0"/>
                <a:cs typeface="Courier New" panose="02070309020205020404" pitchFamily="49" charset="0"/>
              </a:rPr>
              <a:t>&lt;h1 class="blue"&gt;Barack Obama Quotes&lt;/h1&gt;</a:t>
            </a:r>
          </a:p>
          <a:p>
            <a:pPr marL="457200" lvl="1" indent="0">
              <a:buNone/>
            </a:pPr>
            <a:r>
              <a:rPr lang="en-US" altLang="en-US" sz="1200" dirty="0">
                <a:latin typeface="Courier New" panose="02070309020205020404" pitchFamily="49" charset="0"/>
                <a:cs typeface="Courier New" panose="02070309020205020404" pitchFamily="49" charset="0"/>
              </a:rPr>
              <a:t>&lt;q class="red"&gt;I've now been in 57 states --</a:t>
            </a:r>
          </a:p>
          <a:p>
            <a:pPr marL="457200" lvl="1" indent="0">
              <a:buNone/>
            </a:pPr>
            <a:r>
              <a:rPr lang="en-US" altLang="en-US" sz="1200" dirty="0">
                <a:latin typeface="Courier New" panose="02070309020205020404" pitchFamily="49" charset="0"/>
                <a:cs typeface="Courier New" panose="02070309020205020404" pitchFamily="49" charset="0"/>
              </a:rPr>
              <a:t>  I think one left to go.&lt;/q&gt;&lt;</a:t>
            </a:r>
            <a:r>
              <a:rPr lang="en-US" altLang="en-US" sz="1200" dirty="0" err="1">
                <a:latin typeface="Courier New" panose="02070309020205020404" pitchFamily="49" charset="0"/>
                <a:cs typeface="Courier New" panose="02070309020205020404" pitchFamily="49" charset="0"/>
              </a:rPr>
              <a:t>br</a:t>
            </a:r>
            <a:r>
              <a:rPr lang="en-US" altLang="en-US" sz="1200" dirty="0">
                <a:latin typeface="Courier New" panose="02070309020205020404" pitchFamily="49" charset="0"/>
                <a:cs typeface="Courier New" panose="02070309020205020404" pitchFamily="49" charset="0"/>
              </a:rPr>
              <a:t>&gt;</a:t>
            </a:r>
          </a:p>
          <a:p>
            <a:pPr marL="457200" lvl="1" indent="0">
              <a:buNone/>
            </a:pPr>
            <a:r>
              <a:rPr lang="en-US" altLang="en-US" sz="1200" dirty="0">
                <a:latin typeface="Courier New" panose="02070309020205020404" pitchFamily="49" charset="0"/>
                <a:cs typeface="Courier New" panose="02070309020205020404" pitchFamily="49" charset="0"/>
              </a:rPr>
              <a:t>&lt;q class="white"&gt;The reforms we seek would bring greater</a:t>
            </a:r>
          </a:p>
          <a:p>
            <a:pPr marL="457200" lvl="1" indent="0">
              <a:buNone/>
            </a:pPr>
            <a:r>
              <a:rPr lang="en-US" altLang="en-US" sz="1200" dirty="0">
                <a:latin typeface="Courier New" panose="02070309020205020404" pitchFamily="49" charset="0"/>
                <a:cs typeface="Courier New" panose="02070309020205020404" pitchFamily="49" charset="0"/>
              </a:rPr>
              <a:t>  inefficiencies to our health care system.&lt;/q&gt;&lt;</a:t>
            </a:r>
            <a:r>
              <a:rPr lang="en-US" altLang="en-US" sz="1200" dirty="0" err="1">
                <a:latin typeface="Courier New" panose="02070309020205020404" pitchFamily="49" charset="0"/>
                <a:cs typeface="Courier New" panose="02070309020205020404" pitchFamily="49" charset="0"/>
              </a:rPr>
              <a:t>br</a:t>
            </a:r>
            <a:r>
              <a:rPr lang="en-US" altLang="en-US" sz="1200" dirty="0">
                <a:latin typeface="Courier New" panose="02070309020205020404" pitchFamily="49" charset="0"/>
                <a:cs typeface="Courier New" panose="02070309020205020404" pitchFamily="49" charset="0"/>
              </a:rPr>
              <a:t>&gt;</a:t>
            </a:r>
          </a:p>
          <a:p>
            <a:pPr marL="457200" lvl="1" indent="0">
              <a:buNone/>
            </a:pPr>
            <a:r>
              <a:rPr lang="en-US" altLang="en-US" sz="1200" dirty="0">
                <a:latin typeface="Courier New" panose="02070309020205020404" pitchFamily="49" charset="0"/>
                <a:cs typeface="Courier New" panose="02070309020205020404" pitchFamily="49" charset="0"/>
              </a:rPr>
              <a:t>&lt;q class="blue"&gt;Contrary to the rumors you may have</a:t>
            </a:r>
          </a:p>
          <a:p>
            <a:pPr marL="457200" lvl="1" indent="0">
              <a:buNone/>
            </a:pPr>
            <a:r>
              <a:rPr lang="en-US" altLang="en-US" sz="1200" dirty="0">
                <a:latin typeface="Courier New" panose="02070309020205020404" pitchFamily="49" charset="0"/>
                <a:cs typeface="Courier New" panose="02070309020205020404" pitchFamily="49" charset="0"/>
              </a:rPr>
              <a:t>  heard, I was not born in a manger.&lt;/q&gt;</a:t>
            </a:r>
          </a:p>
          <a:p>
            <a:pPr marL="457200" lvl="1" indent="0">
              <a:buNone/>
            </a:pPr>
            <a:r>
              <a:rPr lang="en-US" altLang="en-US" sz="1200" dirty="0">
                <a:latin typeface="Courier New" panose="02070309020205020404" pitchFamily="49" charset="0"/>
                <a:cs typeface="Courier New" panose="02070309020205020404" pitchFamily="49" charset="0"/>
              </a:rPr>
              <a:t>&lt;/body&gt;</a:t>
            </a:r>
          </a:p>
        </p:txBody>
      </p:sp>
      <p:sp>
        <p:nvSpPr>
          <p:cNvPr id="25605" name="Text Box 7" descr="note number"/>
          <p:cNvSpPr txBox="1">
            <a:spLocks noChangeArrowheads="1"/>
          </p:cNvSpPr>
          <p:nvPr/>
        </p:nvSpPr>
        <p:spPr bwMode="auto">
          <a:xfrm>
            <a:off x="380640" y="1427486"/>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25606" name="Text Box 8" descr="note number"/>
          <p:cNvSpPr txBox="1">
            <a:spLocks noChangeArrowheads="1"/>
          </p:cNvSpPr>
          <p:nvPr/>
        </p:nvSpPr>
        <p:spPr bwMode="auto">
          <a:xfrm>
            <a:off x="383669" y="2073349"/>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2</a:t>
            </a:r>
          </a:p>
        </p:txBody>
      </p:sp>
      <p:sp>
        <p:nvSpPr>
          <p:cNvPr id="25608" name="Rectangle 12"/>
          <p:cNvSpPr>
            <a:spLocks noChangeArrowheads="1"/>
          </p:cNvSpPr>
          <p:nvPr/>
        </p:nvSpPr>
        <p:spPr bwMode="auto">
          <a:xfrm>
            <a:off x="2548875" y="4141431"/>
            <a:ext cx="1811338" cy="368300"/>
          </a:xfrm>
          <a:prstGeom prst="rect">
            <a:avLst/>
          </a:prstGeom>
          <a:solidFill>
            <a:srgbClr val="CCFFCC"/>
          </a:solidFill>
          <a:ln w="9525">
            <a:solidFill>
              <a:srgbClr val="0000FF"/>
            </a:solidFill>
            <a:miter lim="800000"/>
            <a:headEnd/>
            <a:tailEnd/>
          </a:ln>
        </p:spPr>
        <p:txBody>
          <a:bodyPr wrap="none" anchor="ct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800">
                <a:latin typeface="Courier New" panose="02070309020205020404" pitchFamily="49" charset="0"/>
                <a:cs typeface="Courier New" panose="02070309020205020404" pitchFamily="49" charset="0"/>
              </a:rPr>
              <a:t>class</a:t>
            </a:r>
            <a:r>
              <a:rPr lang="en-US" altLang="en-US" sz="1800"/>
              <a:t> attribute</a:t>
            </a:r>
          </a:p>
        </p:txBody>
      </p:sp>
      <p:sp>
        <p:nvSpPr>
          <p:cNvPr id="25609" name="Line 9"/>
          <p:cNvSpPr>
            <a:spLocks noChangeShapeType="1"/>
          </p:cNvSpPr>
          <p:nvPr/>
        </p:nvSpPr>
        <p:spPr bwMode="auto">
          <a:xfrm flipH="1">
            <a:off x="2282175" y="4509731"/>
            <a:ext cx="266700" cy="203200"/>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5610" name="Rectangle 12"/>
          <p:cNvSpPr>
            <a:spLocks noChangeArrowheads="1"/>
          </p:cNvSpPr>
          <p:nvPr/>
        </p:nvSpPr>
        <p:spPr bwMode="auto">
          <a:xfrm>
            <a:off x="85724" y="2970360"/>
            <a:ext cx="1077913" cy="1754187"/>
          </a:xfrm>
          <a:prstGeom prst="rect">
            <a:avLst/>
          </a:prstGeom>
          <a:solidFill>
            <a:srgbClr val="CCFFCC"/>
          </a:solidFill>
          <a:ln w="9525">
            <a:solidFill>
              <a:srgbClr val="0000FF"/>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eaLnBrk="1" hangingPunct="1">
              <a:spcBef>
                <a:spcPct val="0"/>
              </a:spcBef>
              <a:buClrTx/>
              <a:buSzTx/>
              <a:buFontTx/>
              <a:buNone/>
            </a:pPr>
            <a:r>
              <a:rPr lang="en-US" altLang="en-US" sz="1800" dirty="0">
                <a:latin typeface="Courier New" panose="02070309020205020404" pitchFamily="49" charset="0"/>
                <a:cs typeface="Courier New" panose="02070309020205020404" pitchFamily="49" charset="0"/>
              </a:rPr>
              <a:t>class</a:t>
            </a:r>
            <a:r>
              <a:rPr lang="en-US" altLang="en-US" sz="1800" dirty="0"/>
              <a:t> selectors with element type prefixes</a:t>
            </a:r>
          </a:p>
        </p:txBody>
      </p:sp>
      <p:sp>
        <p:nvSpPr>
          <p:cNvPr id="25611" name="Line 9"/>
          <p:cNvSpPr>
            <a:spLocks noChangeShapeType="1"/>
          </p:cNvSpPr>
          <p:nvPr/>
        </p:nvSpPr>
        <p:spPr bwMode="auto">
          <a:xfrm flipV="1">
            <a:off x="1167685" y="3491490"/>
            <a:ext cx="312738" cy="317500"/>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5612" name="Rectangle 1"/>
          <p:cNvSpPr>
            <a:spLocks noChangeArrowheads="1"/>
          </p:cNvSpPr>
          <p:nvPr/>
        </p:nvSpPr>
        <p:spPr bwMode="auto">
          <a:xfrm>
            <a:off x="1480423" y="2756696"/>
            <a:ext cx="868680" cy="931862"/>
          </a:xfrm>
          <a:prstGeom prst="rect">
            <a:avLst/>
          </a:prstGeom>
          <a:solidFill>
            <a:schemeClr val="bg1">
              <a:alpha val="0"/>
            </a:schemeClr>
          </a:solidFill>
          <a:ln w="9525" algn="ctr">
            <a:solidFill>
              <a:srgbClr val="0000FF"/>
            </a:solidFill>
            <a:prstDash val="dash"/>
            <a:miter lim="800000"/>
            <a:headEnd/>
            <a:tailEnd/>
          </a:ln>
        </p:spPr>
        <p:txBody>
          <a:bodyPr wrap="none"/>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eaLnBrk="1" hangingPunct="1">
              <a:spcBef>
                <a:spcPct val="0"/>
              </a:spcBef>
              <a:buClrTx/>
              <a:buSzTx/>
              <a:buFontTx/>
              <a:buNone/>
            </a:pPr>
            <a:endParaRPr lang="en-US" altLang="en-US" dirty="0"/>
          </a:p>
        </p:txBody>
      </p:sp>
      <p:sp>
        <p:nvSpPr>
          <p:cNvPr id="25613" name="Text Box 8" descr="note number"/>
          <p:cNvSpPr txBox="1">
            <a:spLocks noChangeArrowheads="1"/>
          </p:cNvSpPr>
          <p:nvPr/>
        </p:nvSpPr>
        <p:spPr bwMode="auto">
          <a:xfrm>
            <a:off x="380640" y="48768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a:xfrm>
            <a:off x="0" y="121033"/>
            <a:ext cx="12192000" cy="1002089"/>
          </a:xfrm>
        </p:spPr>
        <p:txBody>
          <a:bodyPr/>
          <a:lstStyle/>
          <a:p>
            <a:r>
              <a:rPr lang="en-US" altLang="en-US" dirty="0">
                <a:latin typeface="Courier New" panose="02070309020205020404" pitchFamily="49" charset="0"/>
                <a:cs typeface="Courier New" panose="02070309020205020404" pitchFamily="49" charset="0"/>
              </a:rPr>
              <a:t>id</a:t>
            </a:r>
            <a:r>
              <a:rPr lang="en-US" altLang="en-US" dirty="0"/>
              <a:t> Selectors</a:t>
            </a:r>
          </a:p>
        </p:txBody>
      </p:sp>
      <p:sp>
        <p:nvSpPr>
          <p:cNvPr id="12292" name="Rectangle 3"/>
          <p:cNvSpPr>
            <a:spLocks noGrp="1" noChangeArrowheads="1"/>
          </p:cNvSpPr>
          <p:nvPr>
            <p:ph idx="1"/>
          </p:nvPr>
        </p:nvSpPr>
        <p:spPr>
          <a:xfrm>
            <a:off x="925830" y="1490870"/>
            <a:ext cx="10287000" cy="4699047"/>
          </a:xfrm>
        </p:spPr>
        <p:txBody>
          <a:bodyPr/>
          <a:lstStyle/>
          <a:p>
            <a:r>
              <a:rPr lang="en-US" dirty="0"/>
              <a:t>As you’ll see in a later chapter when links are described, you can use an </a:t>
            </a:r>
            <a:r>
              <a:rPr lang="en-US" dirty="0">
                <a:latin typeface="Courier New" panose="02070309020205020404" pitchFamily="49" charset="0"/>
                <a:cs typeface="Courier New" panose="02070309020205020404" pitchFamily="49" charset="0"/>
              </a:rPr>
              <a:t>id</a:t>
            </a:r>
            <a:r>
              <a:rPr lang="en-US" dirty="0"/>
              <a:t> attribute to uniquely identify an element that you want to jump to. For example:</a:t>
            </a:r>
          </a:p>
          <a:p>
            <a:pPr marL="457200" lvl="1" indent="0">
              <a:buNone/>
            </a:pPr>
            <a:r>
              <a:rPr lang="en-US" sz="2000" dirty="0">
                <a:latin typeface="Courier New" panose="02070309020205020404" pitchFamily="49" charset="0"/>
                <a:cs typeface="Courier New" panose="02070309020205020404" pitchFamily="49" charset="0"/>
              </a:rPr>
              <a:t>&lt;h3 id="lizards-lounge"&gt;Lizards Lounge&lt;/h3&gt;</a:t>
            </a:r>
          </a:p>
          <a:p>
            <a:pPr lvl="1"/>
            <a:endParaRPr lang="en-US" dirty="0"/>
          </a:p>
          <a:p>
            <a:pPr lvl="1"/>
            <a:endParaRPr lang="en-US" dirty="0"/>
          </a:p>
          <a:p>
            <a:pPr lvl="1"/>
            <a:endParaRPr lang="en-US" dirty="0"/>
          </a:p>
          <a:p>
            <a:r>
              <a:rPr lang="en-US" dirty="0"/>
              <a:t>To apply CSS to an element identified by an </a:t>
            </a:r>
            <a:r>
              <a:rPr lang="en-US" dirty="0">
                <a:latin typeface="Courier New" panose="02070309020205020404" pitchFamily="49" charset="0"/>
                <a:cs typeface="Courier New" panose="02070309020205020404" pitchFamily="49" charset="0"/>
              </a:rPr>
              <a:t>id</a:t>
            </a:r>
            <a:r>
              <a:rPr lang="en-US" dirty="0"/>
              <a:t> attribute, use an </a:t>
            </a:r>
            <a:r>
              <a:rPr lang="en-US" dirty="0">
                <a:latin typeface="Courier New" panose="02070309020205020404" pitchFamily="49" charset="0"/>
                <a:cs typeface="Courier New" panose="02070309020205020404" pitchFamily="49" charset="0"/>
              </a:rPr>
              <a:t>id</a:t>
            </a:r>
            <a:r>
              <a:rPr lang="en-US" dirty="0"/>
              <a:t> selector with # (not .) prefacing the </a:t>
            </a:r>
            <a:r>
              <a:rPr lang="en-US" dirty="0">
                <a:latin typeface="Courier New" panose="02070309020205020404" pitchFamily="49" charset="0"/>
                <a:cs typeface="Courier New" panose="02070309020205020404" pitchFamily="49" charset="0"/>
              </a:rPr>
              <a:t>id </a:t>
            </a:r>
            <a:r>
              <a:rPr lang="en-US" dirty="0"/>
              <a:t>attribute’s value.</a:t>
            </a:r>
          </a:p>
          <a:p>
            <a:pPr marL="457200" lvl="1" indent="0">
              <a:buNone/>
            </a:pPr>
            <a:r>
              <a:rPr lang="en-US" sz="2000" dirty="0">
                <a:latin typeface="Courier New" panose="02070309020205020404" pitchFamily="49" charset="0"/>
                <a:cs typeface="Courier New" panose="02070309020205020404" pitchFamily="49" charset="0"/>
              </a:rPr>
              <a:t>#id-value {property1: value; property2: value;}</a:t>
            </a:r>
          </a:p>
          <a:p>
            <a:r>
              <a:rPr lang="en-US" dirty="0"/>
              <a:t>So, what would the following CSS rule do?</a:t>
            </a:r>
          </a:p>
          <a:p>
            <a:pPr marL="457200" lvl="1" indent="0">
              <a:buNone/>
            </a:pPr>
            <a:r>
              <a:rPr lang="en-US" sz="2000" dirty="0">
                <a:latin typeface="Courier New" panose="02070309020205020404" pitchFamily="49" charset="0"/>
                <a:cs typeface="Courier New" panose="02070309020205020404" pitchFamily="49" charset="0"/>
              </a:rPr>
              <a:t>#lizards-lounge {color: green;}</a:t>
            </a:r>
          </a:p>
        </p:txBody>
      </p:sp>
      <p:sp>
        <p:nvSpPr>
          <p:cNvPr id="29701" name="Text Box 9" descr="note number"/>
          <p:cNvSpPr txBox="1">
            <a:spLocks noChangeArrowheads="1"/>
          </p:cNvSpPr>
          <p:nvPr/>
        </p:nvSpPr>
        <p:spPr bwMode="auto">
          <a:xfrm>
            <a:off x="457200" y="2503599"/>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2</a:t>
            </a:r>
          </a:p>
        </p:txBody>
      </p:sp>
      <p:sp>
        <p:nvSpPr>
          <p:cNvPr id="29702" name="Line 9"/>
          <p:cNvSpPr>
            <a:spLocks noChangeShapeType="1"/>
          </p:cNvSpPr>
          <p:nvPr/>
        </p:nvSpPr>
        <p:spPr bwMode="auto">
          <a:xfrm flipV="1">
            <a:off x="3505201" y="4691063"/>
            <a:ext cx="4763" cy="385762"/>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04" name="Text Box 9" descr="note number"/>
          <p:cNvSpPr txBox="1">
            <a:spLocks noChangeArrowheads="1"/>
          </p:cNvSpPr>
          <p:nvPr/>
        </p:nvSpPr>
        <p:spPr bwMode="auto">
          <a:xfrm>
            <a:off x="457200" y="1267657"/>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1</a:t>
            </a:r>
          </a:p>
        </p:txBody>
      </p:sp>
      <p:sp>
        <p:nvSpPr>
          <p:cNvPr id="29705" name="Text Box 9" descr="note number"/>
          <p:cNvSpPr txBox="1">
            <a:spLocks noChangeArrowheads="1"/>
          </p:cNvSpPr>
          <p:nvPr/>
        </p:nvSpPr>
        <p:spPr bwMode="auto">
          <a:xfrm>
            <a:off x="457200" y="6220836"/>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3</a:t>
            </a:r>
          </a:p>
        </p:txBody>
      </p:sp>
      <p:sp>
        <p:nvSpPr>
          <p:cNvPr id="29706" name="Text Box 9" descr="note number"/>
          <p:cNvSpPr txBox="1">
            <a:spLocks noChangeArrowheads="1"/>
          </p:cNvSpPr>
          <p:nvPr/>
        </p:nvSpPr>
        <p:spPr bwMode="auto">
          <a:xfrm>
            <a:off x="457200" y="2963218"/>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4</a:t>
            </a:r>
          </a:p>
        </p:txBody>
      </p:sp>
      <p:sp>
        <p:nvSpPr>
          <p:cNvPr id="11" name="Rectangle 12"/>
          <p:cNvSpPr>
            <a:spLocks noChangeArrowheads="1"/>
          </p:cNvSpPr>
          <p:nvPr/>
        </p:nvSpPr>
        <p:spPr bwMode="auto">
          <a:xfrm>
            <a:off x="1905000" y="3300279"/>
            <a:ext cx="6096000" cy="923330"/>
          </a:xfrm>
          <a:prstGeom prst="rect">
            <a:avLst/>
          </a:prstGeom>
          <a:solidFill>
            <a:srgbClr val="CCFFCC"/>
          </a:solidFill>
          <a:ln w="9525">
            <a:solidFill>
              <a:srgbClr val="0000FF"/>
            </a:solidFill>
            <a:miter lim="800000"/>
            <a:headEnd/>
            <a:tailEnd/>
          </a:ln>
        </p:spPr>
        <p:txBody>
          <a:bodyPr wrap="square" anchor="ctr">
            <a:spAutoFit/>
          </a:bodyPr>
          <a:lstStyle/>
          <a:p>
            <a:pPr eaLnBrk="1" hangingPunct="1">
              <a:defRPr/>
            </a:pPr>
            <a:r>
              <a:rPr lang="en-US" sz="1800" dirty="0">
                <a:latin typeface="+mn-lt"/>
                <a:cs typeface="Courier New" pitchFamily="49" charset="0"/>
              </a:rPr>
              <a:t>Style rule:</a:t>
            </a:r>
          </a:p>
          <a:p>
            <a:pPr eaLnBrk="1" hangingPunct="1">
              <a:defRPr/>
            </a:pPr>
            <a:r>
              <a:rPr lang="en-US" sz="1800" dirty="0">
                <a:latin typeface="+mn-lt"/>
                <a:cs typeface="Courier New" pitchFamily="49" charset="0"/>
              </a:rPr>
              <a:t>Use a hyphen to separate words within an </a:t>
            </a:r>
            <a:r>
              <a:rPr lang="en-US" sz="1800" dirty="0">
                <a:latin typeface="Courier New" panose="02070309020205020404" pitchFamily="49" charset="0"/>
                <a:cs typeface="Courier New" panose="02070309020205020404" pitchFamily="49" charset="0"/>
              </a:rPr>
              <a:t>id</a:t>
            </a:r>
            <a:r>
              <a:rPr lang="en-US" sz="1800" dirty="0">
                <a:latin typeface="+mn-lt"/>
                <a:cs typeface="Courier New" pitchFamily="49" charset="0"/>
              </a:rPr>
              <a:t> attribute value (and also for words within a </a:t>
            </a:r>
            <a:r>
              <a:rPr lang="en-US" sz="1800" dirty="0">
                <a:latin typeface="Courier New" panose="02070309020205020404" pitchFamily="49" charset="0"/>
                <a:cs typeface="Courier New" panose="02070309020205020404" pitchFamily="49" charset="0"/>
              </a:rPr>
              <a:t>class</a:t>
            </a:r>
            <a:r>
              <a:rPr lang="en-US" sz="1800" dirty="0">
                <a:latin typeface="+mn-lt"/>
                <a:cs typeface="Courier New" pitchFamily="49" charset="0"/>
              </a:rPr>
              <a:t> attribute value).</a:t>
            </a:r>
            <a:endParaRPr lang="en-US" sz="1800" dirty="0">
              <a:latin typeface="+mn-lt"/>
              <a:cs typeface="+mn-cs"/>
            </a:endParaRPr>
          </a:p>
        </p:txBody>
      </p:sp>
      <p:sp>
        <p:nvSpPr>
          <p:cNvPr id="12" name="Line 9"/>
          <p:cNvSpPr>
            <a:spLocks noChangeShapeType="1"/>
          </p:cNvSpPr>
          <p:nvPr/>
        </p:nvSpPr>
        <p:spPr bwMode="auto">
          <a:xfrm flipV="1">
            <a:off x="3810000" y="2968626"/>
            <a:ext cx="0" cy="330200"/>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a:xfrm>
            <a:off x="0" y="121033"/>
            <a:ext cx="12192000" cy="1002089"/>
          </a:xfrm>
        </p:spPr>
        <p:txBody>
          <a:bodyPr/>
          <a:lstStyle/>
          <a:p>
            <a:r>
              <a:rPr lang="en-US" altLang="en-US" dirty="0">
                <a:latin typeface="Courier New" panose="02070309020205020404" pitchFamily="49" charset="0"/>
                <a:cs typeface="Courier New" panose="02070309020205020404" pitchFamily="49" charset="0"/>
              </a:rPr>
              <a:t>span</a:t>
            </a:r>
            <a:r>
              <a:rPr lang="en-US" altLang="en-US" dirty="0"/>
              <a:t> and </a:t>
            </a:r>
            <a:r>
              <a:rPr lang="en-US" altLang="en-US" dirty="0">
                <a:latin typeface="Courier New" panose="02070309020205020404" pitchFamily="49" charset="0"/>
                <a:cs typeface="Courier New" panose="02070309020205020404" pitchFamily="49" charset="0"/>
              </a:rPr>
              <a:t>div</a:t>
            </a:r>
            <a:r>
              <a:rPr lang="en-US" altLang="en-US" dirty="0"/>
              <a:t> Elements (1 of 2)</a:t>
            </a:r>
          </a:p>
        </p:txBody>
      </p:sp>
      <p:sp>
        <p:nvSpPr>
          <p:cNvPr id="31748" name="Rectangle 3"/>
          <p:cNvSpPr>
            <a:spLocks noGrp="1" noChangeArrowheads="1"/>
          </p:cNvSpPr>
          <p:nvPr>
            <p:ph idx="1"/>
          </p:nvPr>
        </p:nvSpPr>
        <p:spPr>
          <a:xfrm>
            <a:off x="838200" y="1143000"/>
            <a:ext cx="10515600" cy="4699000"/>
          </a:xfrm>
        </p:spPr>
        <p:txBody>
          <a:bodyPr/>
          <a:lstStyle/>
          <a:p>
            <a:r>
              <a:rPr lang="en-US" altLang="en-US" dirty="0"/>
              <a:t>If you want to apply CSS to text that doesn’t coincide with any of the HTML elements, put the text in a </a:t>
            </a:r>
            <a:r>
              <a:rPr lang="en-US" altLang="en-US" dirty="0">
                <a:latin typeface="Courier New" panose="02070309020205020404" pitchFamily="49" charset="0"/>
                <a:cs typeface="Courier New" panose="02070309020205020404" pitchFamily="49" charset="0"/>
              </a:rPr>
              <a:t>span</a:t>
            </a:r>
            <a:r>
              <a:rPr lang="en-US" altLang="en-US" dirty="0"/>
              <a:t> element or a </a:t>
            </a:r>
            <a:r>
              <a:rPr lang="en-US" altLang="en-US" dirty="0">
                <a:latin typeface="Courier New" panose="02070309020205020404" pitchFamily="49" charset="0"/>
                <a:cs typeface="Courier New" panose="02070309020205020404" pitchFamily="49" charset="0"/>
              </a:rPr>
              <a:t>div </a:t>
            </a:r>
            <a:r>
              <a:rPr lang="en-US" altLang="en-US" dirty="0"/>
              <a:t>element.</a:t>
            </a:r>
          </a:p>
          <a:p>
            <a:r>
              <a:rPr lang="en-US" altLang="en-US" dirty="0"/>
              <a:t>If you want the affected text displayed within surrounding text, use </a:t>
            </a:r>
            <a:r>
              <a:rPr lang="en-US" altLang="en-US" dirty="0">
                <a:latin typeface="Courier New" panose="02070309020205020404" pitchFamily="49" charset="0"/>
                <a:cs typeface="Courier New" panose="02070309020205020404" pitchFamily="49" charset="0"/>
              </a:rPr>
              <a:t>span</a:t>
            </a:r>
            <a:r>
              <a:rPr lang="en-US" altLang="en-US" dirty="0"/>
              <a:t> (since </a:t>
            </a:r>
            <a:r>
              <a:rPr lang="en-US" altLang="en-US" dirty="0">
                <a:latin typeface="Courier New" panose="02070309020205020404" pitchFamily="49" charset="0"/>
                <a:cs typeface="Courier New" panose="02070309020205020404" pitchFamily="49" charset="0"/>
              </a:rPr>
              <a:t>span</a:t>
            </a:r>
            <a:r>
              <a:rPr lang="en-US" altLang="en-US" dirty="0"/>
              <a:t> is a phrasing element).</a:t>
            </a:r>
          </a:p>
          <a:p>
            <a:r>
              <a:rPr lang="en-US" altLang="en-US" dirty="0"/>
              <a:t>If you want the text surrounded by line breaks, use </a:t>
            </a:r>
            <a:r>
              <a:rPr lang="en-US" altLang="en-US" dirty="0">
                <a:latin typeface="Courier New" panose="02070309020205020404" pitchFamily="49" charset="0"/>
                <a:cs typeface="Courier New" panose="02070309020205020404" pitchFamily="49" charset="0"/>
              </a:rPr>
              <a:t>div</a:t>
            </a:r>
            <a:r>
              <a:rPr lang="en-US" altLang="en-US" dirty="0"/>
              <a:t> (since </a:t>
            </a:r>
            <a:r>
              <a:rPr lang="en-US" altLang="en-US" dirty="0">
                <a:latin typeface="Courier New" panose="02070309020205020404" pitchFamily="49" charset="0"/>
                <a:cs typeface="Courier New" panose="02070309020205020404" pitchFamily="49" charset="0"/>
              </a:rPr>
              <a:t>div</a:t>
            </a:r>
            <a:r>
              <a:rPr lang="en-US" altLang="en-US" dirty="0"/>
              <a:t> is a block element).</a:t>
            </a:r>
          </a:p>
          <a:p>
            <a:r>
              <a:rPr lang="en-US" altLang="en-US" dirty="0"/>
              <a:t>The </a:t>
            </a:r>
            <a:r>
              <a:rPr lang="en-US" altLang="en-US" dirty="0">
                <a:latin typeface="Courier New" panose="02070309020205020404" pitchFamily="49" charset="0"/>
                <a:cs typeface="Courier New" panose="02070309020205020404" pitchFamily="49" charset="0"/>
              </a:rPr>
              <a:t>span</a:t>
            </a:r>
            <a:r>
              <a:rPr lang="en-US" altLang="en-US" dirty="0"/>
              <a:t> and </a:t>
            </a:r>
            <a:r>
              <a:rPr lang="en-US" altLang="en-US" dirty="0">
                <a:latin typeface="Courier New" panose="02070309020205020404" pitchFamily="49" charset="0"/>
                <a:cs typeface="Courier New" panose="02070309020205020404" pitchFamily="49" charset="0"/>
              </a:rPr>
              <a:t>div</a:t>
            </a:r>
            <a:r>
              <a:rPr lang="en-US" altLang="en-US" dirty="0"/>
              <a:t> elements are generic elements in that they don’t provide any special meaning when they’re used by themselves. They are simply placeholders for applying CSS to.</a:t>
            </a:r>
          </a:p>
          <a:p>
            <a:r>
              <a:rPr lang="en-US" altLang="en-US" dirty="0"/>
              <a:t>Note: It is legal to have multiple class selectors for a class attribute’s value. Separate the class selectors with spaces. Here’s an example from the next slide:</a:t>
            </a:r>
          </a:p>
          <a:p>
            <a:pPr marL="457200" lvl="1" indent="0">
              <a:buNone/>
            </a:pPr>
            <a:r>
              <a:rPr lang="en-US" altLang="en-US" sz="1800" dirty="0">
                <a:latin typeface="Courier New" panose="02070309020205020404" pitchFamily="49" charset="0"/>
                <a:cs typeface="Courier New" panose="02070309020205020404" pitchFamily="49" charset="0"/>
              </a:rPr>
              <a:t>&lt;span class="white orange-background"&gt;$10&lt;/span&gt;</a:t>
            </a:r>
          </a:p>
        </p:txBody>
      </p:sp>
      <p:sp>
        <p:nvSpPr>
          <p:cNvPr id="31749" name="Text Box 9" descr="note number"/>
          <p:cNvSpPr txBox="1">
            <a:spLocks noChangeArrowheads="1"/>
          </p:cNvSpPr>
          <p:nvPr/>
        </p:nvSpPr>
        <p:spPr bwMode="auto">
          <a:xfrm>
            <a:off x="228600" y="1244601"/>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31750" name="Text Box 9" descr="note number"/>
          <p:cNvSpPr txBox="1">
            <a:spLocks noChangeArrowheads="1"/>
          </p:cNvSpPr>
          <p:nvPr/>
        </p:nvSpPr>
        <p:spPr bwMode="auto">
          <a:xfrm>
            <a:off x="266700" y="3590637"/>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
        <p:nvSpPr>
          <p:cNvPr id="31751" name="Text Box 9" descr="note number"/>
          <p:cNvSpPr txBox="1">
            <a:spLocks noChangeArrowheads="1"/>
          </p:cNvSpPr>
          <p:nvPr/>
        </p:nvSpPr>
        <p:spPr bwMode="auto">
          <a:xfrm>
            <a:off x="330777" y="6216073"/>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a:xfrm>
            <a:off x="0" y="121033"/>
            <a:ext cx="12192000" cy="1002089"/>
          </a:xfrm>
        </p:spPr>
        <p:txBody>
          <a:bodyPr/>
          <a:lstStyle/>
          <a:p>
            <a:r>
              <a:rPr lang="en-US" altLang="en-US" dirty="0">
                <a:latin typeface="Courier New" panose="02070309020205020404" pitchFamily="49" charset="0"/>
                <a:cs typeface="Courier New" panose="02070309020205020404" pitchFamily="49" charset="0"/>
              </a:rPr>
              <a:t>span</a:t>
            </a:r>
            <a:r>
              <a:rPr lang="en-US" altLang="en-US" dirty="0"/>
              <a:t> and </a:t>
            </a:r>
            <a:r>
              <a:rPr lang="en-US" altLang="en-US" dirty="0">
                <a:latin typeface="Courier New" panose="02070309020205020404" pitchFamily="49" charset="0"/>
                <a:cs typeface="Courier New" panose="02070309020205020404" pitchFamily="49" charset="0"/>
              </a:rPr>
              <a:t>div</a:t>
            </a:r>
            <a:r>
              <a:rPr lang="en-US" altLang="en-US" dirty="0"/>
              <a:t> Elements (2 of 2)</a:t>
            </a:r>
          </a:p>
        </p:txBody>
      </p:sp>
      <p:sp>
        <p:nvSpPr>
          <p:cNvPr id="16388" name="Rectangle 3"/>
          <p:cNvSpPr>
            <a:spLocks noGrp="1" noChangeArrowheads="1"/>
          </p:cNvSpPr>
          <p:nvPr>
            <p:ph idx="1"/>
          </p:nvPr>
        </p:nvSpPr>
        <p:spPr>
          <a:xfrm>
            <a:off x="925830" y="1295400"/>
            <a:ext cx="10287000" cy="4699047"/>
          </a:xfrm>
        </p:spPr>
        <p:txBody>
          <a:bodyPr/>
          <a:lstStyle/>
          <a:p>
            <a:pPr marL="457200" lvl="1" indent="0">
              <a:buNone/>
            </a:pPr>
            <a:r>
              <a:rPr lang="en-US" sz="1000" dirty="0">
                <a:latin typeface="Courier New" panose="02070309020205020404" pitchFamily="49" charset="0"/>
                <a:cs typeface="Courier New" panose="02070309020205020404" pitchFamily="49" charset="0"/>
              </a:rPr>
              <a:t>&lt;head&gt;</a:t>
            </a:r>
          </a:p>
          <a:p>
            <a:pPr marL="457200" lvl="1" indent="0">
              <a:buNone/>
            </a:pPr>
            <a:r>
              <a:rPr lang="en-US" sz="1000" dirty="0">
                <a:latin typeface="Courier New" panose="02070309020205020404" pitchFamily="49" charset="0"/>
                <a:cs typeface="Courier New" panose="02070309020205020404" pitchFamily="49" charset="0"/>
              </a:rPr>
              <a:t>&lt;style&gt;</a:t>
            </a:r>
          </a:p>
          <a:p>
            <a:pPr marL="457200" lvl="1" indent="0">
              <a:buNone/>
            </a:pPr>
            <a:r>
              <a:rPr lang="en-US" sz="1000" dirty="0">
                <a:latin typeface="Courier New" panose="02070309020205020404" pitchFamily="49" charset="0"/>
                <a:cs typeface="Courier New" panose="02070309020205020404" pitchFamily="49" charset="0"/>
              </a:rPr>
              <a:t>  .orange {color: </a:t>
            </a:r>
            <a:r>
              <a:rPr lang="en-US" sz="1000" dirty="0" err="1">
                <a:latin typeface="Courier New" panose="02070309020205020404" pitchFamily="49" charset="0"/>
                <a:cs typeface="Courier New" panose="02070309020205020404" pitchFamily="49" charset="0"/>
              </a:rPr>
              <a:t>darkorange</a:t>
            </a:r>
            <a:r>
              <a:rPr lang="en-US" sz="1000" dirty="0">
                <a:latin typeface="Courier New" panose="02070309020205020404" pitchFamily="49" charset="0"/>
                <a:cs typeface="Courier New" panose="02070309020205020404" pitchFamily="49" charset="0"/>
              </a:rPr>
              <a:t>;}</a:t>
            </a:r>
          </a:p>
          <a:p>
            <a:pPr marL="457200" lvl="1" indent="0">
              <a:buNone/>
            </a:pPr>
            <a:r>
              <a:rPr lang="en-US" sz="1000" dirty="0">
                <a:latin typeface="Courier New" panose="02070309020205020404" pitchFamily="49" charset="0"/>
                <a:cs typeface="Courier New" panose="02070309020205020404" pitchFamily="49" charset="0"/>
              </a:rPr>
              <a:t>  .white {color: white;}</a:t>
            </a:r>
          </a:p>
          <a:p>
            <a:pPr marL="457200" lvl="1" indent="0">
              <a:buNone/>
            </a:pPr>
            <a:r>
              <a:rPr lang="en-US" sz="1000" dirty="0">
                <a:latin typeface="Courier New" panose="02070309020205020404" pitchFamily="49" charset="0"/>
                <a:cs typeface="Courier New" panose="02070309020205020404" pitchFamily="49" charset="0"/>
              </a:rPr>
              <a:t>  .black {color: black;}</a:t>
            </a:r>
          </a:p>
          <a:p>
            <a:pPr marL="457200" lvl="1" indent="0">
              <a:buNone/>
            </a:pPr>
            <a:r>
              <a:rPr lang="en-US" sz="1000" dirty="0">
                <a:latin typeface="Courier New" panose="02070309020205020404" pitchFamily="49" charset="0"/>
                <a:cs typeface="Courier New" panose="02070309020205020404" pitchFamily="49" charset="0"/>
              </a:rPr>
              <a:t>  .orange-background {background-color: orange;}</a:t>
            </a:r>
          </a:p>
          <a:p>
            <a:pPr marL="457200" lvl="1" indent="0">
              <a:buNone/>
            </a:pPr>
            <a:r>
              <a:rPr lang="en-US" sz="1000" dirty="0">
                <a:latin typeface="Courier New" panose="02070309020205020404" pitchFamily="49" charset="0"/>
                <a:cs typeface="Courier New" panose="02070309020205020404" pitchFamily="49" charset="0"/>
              </a:rPr>
              <a:t>&lt;/style&gt;</a:t>
            </a:r>
          </a:p>
          <a:p>
            <a:pPr marL="457200" lvl="1" indent="0">
              <a:buNone/>
            </a:pPr>
            <a:r>
              <a:rPr lang="en-US" sz="1000" dirty="0">
                <a:latin typeface="Courier New" panose="02070309020205020404" pitchFamily="49" charset="0"/>
                <a:cs typeface="Courier New" panose="02070309020205020404" pitchFamily="49" charset="0"/>
              </a:rPr>
              <a:t>&lt;/head&gt;</a:t>
            </a:r>
          </a:p>
          <a:p>
            <a:pPr marL="457200" lvl="1" indent="0">
              <a:buNone/>
            </a:pPr>
            <a:endParaRPr lang="en-US" sz="1000" dirty="0">
              <a:latin typeface="Courier New" panose="02070309020205020404" pitchFamily="49" charset="0"/>
              <a:cs typeface="Courier New" panose="02070309020205020404" pitchFamily="49" charset="0"/>
            </a:endParaRPr>
          </a:p>
          <a:p>
            <a:pPr marL="457200" lvl="1" indent="0">
              <a:buNone/>
            </a:pPr>
            <a:r>
              <a:rPr lang="en-US" sz="1000" dirty="0">
                <a:latin typeface="Courier New" panose="02070309020205020404" pitchFamily="49" charset="0"/>
                <a:cs typeface="Courier New" panose="02070309020205020404" pitchFamily="49" charset="0"/>
              </a:rPr>
              <a:t>&lt;body&gt;</a:t>
            </a:r>
          </a:p>
          <a:p>
            <a:pPr marL="457200" lvl="1" indent="0">
              <a:buNone/>
            </a:pPr>
            <a:r>
              <a:rPr lang="en-US" sz="1000" dirty="0">
                <a:latin typeface="Courier New" panose="02070309020205020404" pitchFamily="49" charset="0"/>
                <a:cs typeface="Courier New" panose="02070309020205020404" pitchFamily="49" charset="0"/>
              </a:rPr>
              <a:t>&lt;div class="orange"&gt;</a:t>
            </a:r>
          </a:p>
          <a:p>
            <a:pPr marL="457200" lvl="1" indent="0">
              <a:buNone/>
            </a:pPr>
            <a:r>
              <a:rPr lang="en-US" sz="1000" dirty="0">
                <a:latin typeface="Courier New" panose="02070309020205020404" pitchFamily="49" charset="0"/>
                <a:cs typeface="Courier New" panose="02070309020205020404" pitchFamily="49" charset="0"/>
              </a:rPr>
              <a:t>  Parkville's Halloween on the River, every weekend in October.&lt;</a:t>
            </a:r>
            <a:r>
              <a:rPr lang="en-US" sz="1000" dirty="0" err="1">
                <a:latin typeface="Courier New" panose="02070309020205020404" pitchFamily="49" charset="0"/>
                <a:cs typeface="Courier New" panose="02070309020205020404" pitchFamily="49" charset="0"/>
              </a:rPr>
              <a:t>br</a:t>
            </a:r>
            <a:r>
              <a:rPr lang="en-US" sz="1000" dirty="0">
                <a:latin typeface="Courier New" panose="02070309020205020404" pitchFamily="49" charset="0"/>
                <a:cs typeface="Courier New" panose="02070309020205020404" pitchFamily="49" charset="0"/>
              </a:rPr>
              <a:t>&gt;</a:t>
            </a:r>
          </a:p>
          <a:p>
            <a:pPr marL="457200" lvl="1" indent="0">
              <a:buNone/>
            </a:pPr>
            <a:r>
              <a:rPr lang="en-US" sz="1000" dirty="0">
                <a:latin typeface="Courier New" panose="02070309020205020404" pitchFamily="49" charset="0"/>
                <a:cs typeface="Courier New" panose="02070309020205020404" pitchFamily="49" charset="0"/>
              </a:rPr>
              <a:t>  Corn maze: &lt;span class="white orange-background"&gt;$10&lt;/span&gt;&lt;</a:t>
            </a:r>
            <a:r>
              <a:rPr lang="en-US" sz="1000" dirty="0" err="1">
                <a:latin typeface="Courier New" panose="02070309020205020404" pitchFamily="49" charset="0"/>
                <a:cs typeface="Courier New" panose="02070309020205020404" pitchFamily="49" charset="0"/>
              </a:rPr>
              <a:t>br</a:t>
            </a:r>
            <a:r>
              <a:rPr lang="en-US" sz="1000" dirty="0">
                <a:latin typeface="Courier New" panose="02070309020205020404" pitchFamily="49" charset="0"/>
                <a:cs typeface="Courier New" panose="02070309020205020404" pitchFamily="49" charset="0"/>
              </a:rPr>
              <a:t>&gt;</a:t>
            </a:r>
          </a:p>
          <a:p>
            <a:pPr marL="457200" lvl="1" indent="0">
              <a:buNone/>
            </a:pPr>
            <a:r>
              <a:rPr lang="en-US" sz="1000" dirty="0">
                <a:latin typeface="Courier New" panose="02070309020205020404" pitchFamily="49" charset="0"/>
                <a:cs typeface="Courier New" panose="02070309020205020404" pitchFamily="49" charset="0"/>
              </a:rPr>
              <a:t>  All you can eat pumpkins:</a:t>
            </a:r>
          </a:p>
          <a:p>
            <a:pPr marL="457200" lvl="1" indent="0">
              <a:buNone/>
            </a:pPr>
            <a:r>
              <a:rPr lang="en-US" sz="1000" dirty="0">
                <a:latin typeface="Courier New" panose="02070309020205020404" pitchFamily="49" charset="0"/>
                <a:cs typeface="Courier New" panose="02070309020205020404" pitchFamily="49" charset="0"/>
              </a:rPr>
              <a:t>  &lt;span class="black orange-background"&gt;$15&lt;/span&gt;</a:t>
            </a:r>
          </a:p>
          <a:p>
            <a:pPr marL="457200" lvl="1" indent="0">
              <a:buNone/>
            </a:pPr>
            <a:r>
              <a:rPr lang="en-US" sz="1000" dirty="0">
                <a:latin typeface="Courier New" panose="02070309020205020404" pitchFamily="49" charset="0"/>
                <a:cs typeface="Courier New" panose="02070309020205020404" pitchFamily="49" charset="0"/>
              </a:rPr>
              <a:t>&lt;/div&gt;</a:t>
            </a:r>
          </a:p>
          <a:p>
            <a:pPr marL="457200" lvl="1" indent="0">
              <a:buNone/>
            </a:pPr>
            <a:r>
              <a:rPr lang="en-US" sz="1000" dirty="0">
                <a:latin typeface="Courier New" panose="02070309020205020404" pitchFamily="49" charset="0"/>
                <a:cs typeface="Courier New" panose="02070309020205020404" pitchFamily="49" charset="0"/>
              </a:rPr>
              <a:t>&lt;/body&gt;</a:t>
            </a:r>
          </a:p>
          <a:p>
            <a:pPr lvl="1"/>
            <a:r>
              <a:rPr lang="en-US" dirty="0"/>
              <a:t>In the above example, although the </a:t>
            </a:r>
            <a:r>
              <a:rPr lang="en-US" dirty="0">
                <a:latin typeface="Courier New" panose="02070309020205020404" pitchFamily="49" charset="0"/>
                <a:cs typeface="Courier New" panose="02070309020205020404" pitchFamily="49" charset="0"/>
              </a:rPr>
              <a:t>div</a:t>
            </a:r>
            <a:r>
              <a:rPr lang="en-US" dirty="0"/>
              <a:t> element specifies orange text for the entire body, the first </a:t>
            </a:r>
            <a:r>
              <a:rPr lang="en-US" dirty="0">
                <a:latin typeface="Courier New" panose="02070309020205020404" pitchFamily="49" charset="0"/>
                <a:cs typeface="Courier New" panose="02070309020205020404" pitchFamily="49" charset="0"/>
              </a:rPr>
              <a:t>span</a:t>
            </a:r>
            <a:r>
              <a:rPr lang="en-US" dirty="0"/>
              <a:t> element’s </a:t>
            </a:r>
            <a:r>
              <a:rPr lang="en-US" dirty="0">
                <a:latin typeface="Courier New" panose="02070309020205020404" pitchFamily="49" charset="0"/>
                <a:cs typeface="Courier New" panose="02070309020205020404" pitchFamily="49" charset="0"/>
              </a:rPr>
              <a:t>white</a:t>
            </a:r>
            <a:r>
              <a:rPr lang="en-US" dirty="0"/>
              <a:t> color overrides </a:t>
            </a:r>
            <a:r>
              <a:rPr lang="en-US" dirty="0">
                <a:latin typeface="Courier New" panose="02070309020205020404" pitchFamily="49" charset="0"/>
                <a:cs typeface="Courier New" panose="02070309020205020404" pitchFamily="49" charset="0"/>
              </a:rPr>
              <a:t>orange</a:t>
            </a:r>
            <a:r>
              <a:rPr lang="en-US" dirty="0"/>
              <a:t> and causes “$10” to be white (with an orange background). That’s an example of a local rule having higher precedence than a broader-scoped rule.</a:t>
            </a:r>
          </a:p>
        </p:txBody>
      </p:sp>
      <p:sp>
        <p:nvSpPr>
          <p:cNvPr id="33797" name="Rectangle 12"/>
          <p:cNvSpPr>
            <a:spLocks noChangeArrowheads="1"/>
          </p:cNvSpPr>
          <p:nvPr/>
        </p:nvSpPr>
        <p:spPr bwMode="auto">
          <a:xfrm>
            <a:off x="4114800" y="2720111"/>
            <a:ext cx="2895600" cy="646112"/>
          </a:xfrm>
          <a:prstGeom prst="rect">
            <a:avLst/>
          </a:prstGeom>
          <a:solidFill>
            <a:srgbClr val="CCFFCC"/>
          </a:solidFill>
          <a:ln w="9525">
            <a:solidFill>
              <a:srgbClr val="0000FF"/>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eaLnBrk="1" hangingPunct="1">
              <a:spcBef>
                <a:spcPct val="0"/>
              </a:spcBef>
              <a:buClrTx/>
              <a:buSzTx/>
              <a:buFontTx/>
              <a:buNone/>
            </a:pPr>
            <a:r>
              <a:rPr lang="en-US" altLang="en-US" sz="1800" dirty="0"/>
              <a:t>Multiple class selectors for a </a:t>
            </a:r>
            <a:r>
              <a:rPr lang="en-US" altLang="en-US" sz="1800" dirty="0">
                <a:latin typeface="Courier New" panose="02070309020205020404" pitchFamily="49" charset="0"/>
                <a:cs typeface="Courier New" panose="02070309020205020404" pitchFamily="49" charset="0"/>
              </a:rPr>
              <a:t>class</a:t>
            </a:r>
            <a:r>
              <a:rPr lang="en-US" altLang="en-US" sz="1800" dirty="0"/>
              <a:t> attribute’s value.</a:t>
            </a:r>
          </a:p>
        </p:txBody>
      </p:sp>
      <p:sp>
        <p:nvSpPr>
          <p:cNvPr id="33798" name="Line 9"/>
          <p:cNvSpPr>
            <a:spLocks noChangeShapeType="1"/>
          </p:cNvSpPr>
          <p:nvPr/>
        </p:nvSpPr>
        <p:spPr bwMode="auto">
          <a:xfrm flipH="1">
            <a:off x="4519469" y="3366223"/>
            <a:ext cx="3175" cy="381000"/>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799" name="Text Box 9" descr="note number"/>
          <p:cNvSpPr txBox="1">
            <a:spLocks noChangeArrowheads="1"/>
          </p:cNvSpPr>
          <p:nvPr/>
        </p:nvSpPr>
        <p:spPr bwMode="auto">
          <a:xfrm>
            <a:off x="430213" y="1441233"/>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33800" name="Rectangle 12"/>
          <p:cNvSpPr>
            <a:spLocks noChangeArrowheads="1"/>
          </p:cNvSpPr>
          <p:nvPr/>
        </p:nvSpPr>
        <p:spPr bwMode="auto">
          <a:xfrm>
            <a:off x="468312" y="3301277"/>
            <a:ext cx="598488" cy="369887"/>
          </a:xfrm>
          <a:prstGeom prst="rect">
            <a:avLst/>
          </a:prstGeom>
          <a:solidFill>
            <a:srgbClr val="CCFFCC"/>
          </a:solidFill>
          <a:ln w="9525">
            <a:solidFill>
              <a:srgbClr val="0000FF"/>
            </a:solidFill>
            <a:miter lim="800000"/>
            <a:headEnd/>
            <a:tailEnd/>
          </a:ln>
        </p:spPr>
        <p:txBody>
          <a:bodyPr wrap="none" anchor="ct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800">
                <a:latin typeface="Courier New" panose="02070309020205020404" pitchFamily="49" charset="0"/>
                <a:cs typeface="Courier New" panose="02070309020205020404" pitchFamily="49" charset="0"/>
              </a:rPr>
              <a:t>div</a:t>
            </a:r>
          </a:p>
        </p:txBody>
      </p:sp>
      <p:sp>
        <p:nvSpPr>
          <p:cNvPr id="33801" name="Line 9"/>
          <p:cNvSpPr>
            <a:spLocks noChangeShapeType="1"/>
          </p:cNvSpPr>
          <p:nvPr/>
        </p:nvSpPr>
        <p:spPr bwMode="auto">
          <a:xfrm>
            <a:off x="1066800" y="3556723"/>
            <a:ext cx="341312" cy="0"/>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802" name="Rectangle 12"/>
          <p:cNvSpPr>
            <a:spLocks noChangeArrowheads="1"/>
          </p:cNvSpPr>
          <p:nvPr/>
        </p:nvSpPr>
        <p:spPr bwMode="auto">
          <a:xfrm>
            <a:off x="360363" y="3899477"/>
            <a:ext cx="736600" cy="369888"/>
          </a:xfrm>
          <a:prstGeom prst="rect">
            <a:avLst/>
          </a:prstGeom>
          <a:solidFill>
            <a:srgbClr val="CCFFCC"/>
          </a:solidFill>
          <a:ln w="9525">
            <a:solidFill>
              <a:srgbClr val="0000FF"/>
            </a:solidFill>
            <a:miter lim="800000"/>
            <a:headEnd/>
            <a:tailEnd/>
          </a:ln>
        </p:spPr>
        <p:txBody>
          <a:bodyPr wrap="none" anchor="ct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800">
                <a:latin typeface="Courier New" panose="02070309020205020404" pitchFamily="49" charset="0"/>
                <a:cs typeface="Courier New" panose="02070309020205020404" pitchFamily="49" charset="0"/>
              </a:rPr>
              <a:t>span</a:t>
            </a:r>
          </a:p>
        </p:txBody>
      </p:sp>
      <p:sp>
        <p:nvSpPr>
          <p:cNvPr id="33803" name="Line 9"/>
          <p:cNvSpPr>
            <a:spLocks noChangeShapeType="1"/>
          </p:cNvSpPr>
          <p:nvPr/>
        </p:nvSpPr>
        <p:spPr bwMode="auto">
          <a:xfrm>
            <a:off x="1096963" y="3924300"/>
            <a:ext cx="341312" cy="0"/>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804" name="Text Box 9" descr="note number"/>
          <p:cNvSpPr txBox="1">
            <a:spLocks noChangeArrowheads="1"/>
          </p:cNvSpPr>
          <p:nvPr/>
        </p:nvSpPr>
        <p:spPr bwMode="auto">
          <a:xfrm>
            <a:off x="468312" y="578391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
        <p:nvSpPr>
          <p:cNvPr id="33805" name="Rectangle 1"/>
          <p:cNvSpPr>
            <a:spLocks noChangeArrowheads="1"/>
          </p:cNvSpPr>
          <p:nvPr/>
        </p:nvSpPr>
        <p:spPr bwMode="auto">
          <a:xfrm>
            <a:off x="3429001" y="3805597"/>
            <a:ext cx="1785074" cy="206738"/>
          </a:xfrm>
          <a:prstGeom prst="rect">
            <a:avLst/>
          </a:prstGeom>
          <a:solidFill>
            <a:schemeClr val="bg1">
              <a:alpha val="0"/>
            </a:schemeClr>
          </a:solidFill>
          <a:ln w="9525" algn="ctr">
            <a:solidFill>
              <a:srgbClr val="0000FF"/>
            </a:solidFill>
            <a:prstDash val="dash"/>
            <a:miter lim="800000"/>
            <a:headEnd/>
            <a:tailEnd/>
          </a:ln>
        </p:spPr>
        <p:txBody>
          <a:bodyPr wrap="none"/>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eaLnBrk="1" hangingPunct="1">
              <a:spcBef>
                <a:spcPct val="0"/>
              </a:spcBef>
              <a:buClrTx/>
              <a:buSzTx/>
              <a:buFontTx/>
              <a:buNone/>
            </a:pPr>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0" y="121033"/>
            <a:ext cx="12192000" cy="1002089"/>
          </a:xfrm>
        </p:spPr>
        <p:txBody>
          <a:bodyPr/>
          <a:lstStyle/>
          <a:p>
            <a:r>
              <a:rPr lang="en-US" altLang="en-US" dirty="0"/>
              <a:t>Cascading (1 of 2)</a:t>
            </a:r>
          </a:p>
        </p:txBody>
      </p:sp>
      <p:sp>
        <p:nvSpPr>
          <p:cNvPr id="23556" name="Rectangle 3"/>
          <p:cNvSpPr>
            <a:spLocks noGrp="1" noChangeArrowheads="1"/>
          </p:cNvSpPr>
          <p:nvPr>
            <p:ph idx="1"/>
          </p:nvPr>
        </p:nvSpPr>
        <p:spPr>
          <a:xfrm>
            <a:off x="925830" y="1490870"/>
            <a:ext cx="10287000" cy="4699047"/>
          </a:xfrm>
        </p:spPr>
        <p:txBody>
          <a:bodyPr/>
          <a:lstStyle/>
          <a:p>
            <a:r>
              <a:rPr lang="en-US" dirty="0"/>
              <a:t>What is meant by “cascading” in the term “cascading style sheets”?</a:t>
            </a:r>
          </a:p>
          <a:p>
            <a:r>
              <a:rPr lang="en-US" dirty="0"/>
              <a:t>There are different places where CSS rules can be defined. To handle the possibility of conflicting rules at different places, different priority is given to the different places.</a:t>
            </a:r>
          </a:p>
          <a:p>
            <a:r>
              <a:rPr lang="en-US" dirty="0"/>
              <a:t>Here are the places where CSS rules can be defined, with the higher priority places first:</a:t>
            </a:r>
          </a:p>
          <a:p>
            <a:pPr marL="914400" lvl="1" indent="-457200">
              <a:buFont typeface="+mj-lt"/>
              <a:buAutoNum type="arabicPeriod"/>
            </a:pPr>
            <a:r>
              <a:rPr lang="en-US" dirty="0"/>
              <a:t>in an element’s </a:t>
            </a:r>
            <a:r>
              <a:rPr lang="en-US" dirty="0">
                <a:latin typeface="Courier New" panose="02070309020205020404" pitchFamily="49" charset="0"/>
                <a:cs typeface="Courier New" panose="02070309020205020404" pitchFamily="49" charset="0"/>
              </a:rPr>
              <a:t>style </a:t>
            </a:r>
            <a:r>
              <a:rPr lang="en-US" dirty="0"/>
              <a:t>attribute</a:t>
            </a:r>
          </a:p>
          <a:p>
            <a:pPr marL="914400" lvl="1" indent="-457200">
              <a:buFont typeface="+mj-lt"/>
              <a:buAutoNum type="arabicPeriod"/>
            </a:pPr>
            <a:r>
              <a:rPr lang="en-US" dirty="0"/>
              <a:t>in a </a:t>
            </a:r>
            <a:r>
              <a:rPr lang="en-US" dirty="0">
                <a:latin typeface="Courier New" panose="02070309020205020404" pitchFamily="49" charset="0"/>
                <a:cs typeface="Courier New" panose="02070309020205020404" pitchFamily="49" charset="0"/>
              </a:rPr>
              <a:t>style </a:t>
            </a:r>
            <a:r>
              <a:rPr lang="en-US" dirty="0"/>
              <a:t>container in the web page’s </a:t>
            </a:r>
            <a:r>
              <a:rPr lang="en-US" dirty="0">
                <a:latin typeface="Courier New" panose="02070309020205020404" pitchFamily="49" charset="0"/>
                <a:cs typeface="Courier New" panose="02070309020205020404" pitchFamily="49" charset="0"/>
              </a:rPr>
              <a:t>head</a:t>
            </a:r>
            <a:r>
              <a:rPr lang="en-US" dirty="0"/>
              <a:t> section</a:t>
            </a:r>
          </a:p>
          <a:p>
            <a:pPr marL="914400" lvl="1" indent="-457200">
              <a:buFont typeface="+mj-lt"/>
              <a:buAutoNum type="arabicPeriod"/>
            </a:pPr>
            <a:r>
              <a:rPr lang="en-US" dirty="0"/>
              <a:t>in an external file</a:t>
            </a:r>
          </a:p>
          <a:p>
            <a:pPr marL="914400" lvl="1" indent="-457200">
              <a:buFont typeface="+mj-lt"/>
              <a:buAutoNum type="arabicPeriod"/>
            </a:pPr>
            <a:r>
              <a:rPr lang="en-US" dirty="0"/>
              <a:t>In the settings defined by a user for a particular browser installation</a:t>
            </a:r>
          </a:p>
          <a:p>
            <a:pPr marL="914400" lvl="1" indent="-457200">
              <a:buFont typeface="+mj-lt"/>
              <a:buAutoNum type="arabicPeriod"/>
            </a:pPr>
            <a:r>
              <a:rPr lang="en-US" dirty="0"/>
              <a:t>in the browser’s native default settings</a:t>
            </a:r>
          </a:p>
        </p:txBody>
      </p:sp>
      <p:sp>
        <p:nvSpPr>
          <p:cNvPr id="35845" name="Text Box 6" descr="note number"/>
          <p:cNvSpPr txBox="1">
            <a:spLocks noChangeArrowheads="1"/>
          </p:cNvSpPr>
          <p:nvPr/>
        </p:nvSpPr>
        <p:spPr bwMode="auto">
          <a:xfrm>
            <a:off x="228600" y="1490663"/>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1</a:t>
            </a:r>
          </a:p>
        </p:txBody>
      </p:sp>
      <p:sp>
        <p:nvSpPr>
          <p:cNvPr id="35846" name="Text Box 7" descr="note number"/>
          <p:cNvSpPr txBox="1">
            <a:spLocks noChangeArrowheads="1"/>
          </p:cNvSpPr>
          <p:nvPr/>
        </p:nvSpPr>
        <p:spPr bwMode="auto">
          <a:xfrm>
            <a:off x="228600" y="41910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
        <p:nvSpPr>
          <p:cNvPr id="35847" name="Text Box 7" descr="note number"/>
          <p:cNvSpPr txBox="1">
            <a:spLocks noChangeArrowheads="1"/>
          </p:cNvSpPr>
          <p:nvPr/>
        </p:nvSpPr>
        <p:spPr bwMode="auto">
          <a:xfrm>
            <a:off x="228600" y="4505325"/>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3</a:t>
            </a:r>
          </a:p>
        </p:txBody>
      </p:sp>
      <p:sp>
        <p:nvSpPr>
          <p:cNvPr id="35848" name="Text Box 7" descr="note number"/>
          <p:cNvSpPr txBox="1">
            <a:spLocks noChangeArrowheads="1"/>
          </p:cNvSpPr>
          <p:nvPr/>
        </p:nvSpPr>
        <p:spPr bwMode="auto">
          <a:xfrm>
            <a:off x="228600" y="481965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4</a:t>
            </a:r>
          </a:p>
        </p:txBody>
      </p:sp>
      <p:sp>
        <p:nvSpPr>
          <p:cNvPr id="35849" name="Text Box 7" descr="note number"/>
          <p:cNvSpPr txBox="1">
            <a:spLocks noChangeArrowheads="1"/>
          </p:cNvSpPr>
          <p:nvPr/>
        </p:nvSpPr>
        <p:spPr bwMode="auto">
          <a:xfrm>
            <a:off x="228600" y="5133975"/>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5</a:t>
            </a:r>
          </a:p>
        </p:txBody>
      </p:sp>
      <p:sp>
        <p:nvSpPr>
          <p:cNvPr id="35850" name="Text Box 7" descr="note number"/>
          <p:cNvSpPr txBox="1">
            <a:spLocks noChangeArrowheads="1"/>
          </p:cNvSpPr>
          <p:nvPr/>
        </p:nvSpPr>
        <p:spPr bwMode="auto">
          <a:xfrm>
            <a:off x="228600" y="5411065"/>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0" y="121033"/>
            <a:ext cx="12192000" cy="1002089"/>
          </a:xfrm>
        </p:spPr>
        <p:txBody>
          <a:bodyPr/>
          <a:lstStyle/>
          <a:p>
            <a:r>
              <a:rPr lang="en-US" altLang="en-US" dirty="0"/>
              <a:t>Cascading (2 of 2)</a:t>
            </a:r>
          </a:p>
        </p:txBody>
      </p:sp>
      <p:sp>
        <p:nvSpPr>
          <p:cNvPr id="23556" name="Rectangle 3"/>
          <p:cNvSpPr>
            <a:spLocks noGrp="1" noChangeArrowheads="1"/>
          </p:cNvSpPr>
          <p:nvPr>
            <p:ph idx="1"/>
          </p:nvPr>
        </p:nvSpPr>
        <p:spPr>
          <a:xfrm>
            <a:off x="925830" y="1490870"/>
            <a:ext cx="10287000" cy="4699047"/>
          </a:xfrm>
        </p:spPr>
        <p:txBody>
          <a:bodyPr/>
          <a:lstStyle/>
          <a:p>
            <a:r>
              <a:rPr lang="en-US" dirty="0"/>
              <a:t>In displaying an element, a browser will check for CSS rules that match the element, starting the search at the top of the above list and continuing the search down the list, as necessary. When there is a CSS rule match, the CSS rule’s properties will be applied to the element, and the search down the list stops for those properties.</a:t>
            </a:r>
          </a:p>
        </p:txBody>
      </p:sp>
    </p:spTree>
    <p:extLst>
      <p:ext uri="{BB962C8B-B14F-4D97-AF65-F5344CB8AC3E}">
        <p14:creationId xmlns:p14="http://schemas.microsoft.com/office/powerpoint/2010/main" val="9049375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a:xfrm>
            <a:off x="0" y="121033"/>
            <a:ext cx="12192000" cy="1002089"/>
          </a:xfrm>
        </p:spPr>
        <p:txBody>
          <a:bodyPr/>
          <a:lstStyle/>
          <a:p>
            <a:r>
              <a:rPr lang="en-US" altLang="en-US" dirty="0">
                <a:latin typeface="Courier New" panose="02070309020205020404" pitchFamily="49" charset="0"/>
                <a:cs typeface="Courier New" panose="02070309020205020404" pitchFamily="49" charset="0"/>
              </a:rPr>
              <a:t>style</a:t>
            </a:r>
            <a:r>
              <a:rPr lang="en-US" altLang="en-US" dirty="0"/>
              <a:t> Attribute</a:t>
            </a:r>
          </a:p>
        </p:txBody>
      </p:sp>
      <p:sp>
        <p:nvSpPr>
          <p:cNvPr id="19460" name="Rectangle 3"/>
          <p:cNvSpPr>
            <a:spLocks noGrp="1" noChangeArrowheads="1"/>
          </p:cNvSpPr>
          <p:nvPr>
            <p:ph idx="1"/>
          </p:nvPr>
        </p:nvSpPr>
        <p:spPr>
          <a:xfrm>
            <a:off x="925830" y="1219200"/>
            <a:ext cx="10287000" cy="4699047"/>
          </a:xfrm>
        </p:spPr>
        <p:txBody>
          <a:bodyPr/>
          <a:lstStyle/>
          <a:p>
            <a:r>
              <a:rPr lang="en-US" altLang="en-US" dirty="0">
                <a:latin typeface="Courier New" panose="02070309020205020404" pitchFamily="49" charset="0"/>
                <a:cs typeface="Courier New" panose="02070309020205020404" pitchFamily="49" charset="0"/>
              </a:rPr>
              <a:t>style</a:t>
            </a:r>
            <a:r>
              <a:rPr lang="en-US" altLang="en-US" dirty="0"/>
              <a:t> attribute:</a:t>
            </a:r>
          </a:p>
          <a:p>
            <a:pPr lvl="1"/>
            <a:r>
              <a:rPr lang="en-US" altLang="en-US" dirty="0"/>
              <a:t>Insert CSS property-value pairs into an individual element by using the element’s </a:t>
            </a:r>
            <a:r>
              <a:rPr lang="en-US" altLang="en-US" dirty="0">
                <a:latin typeface="Courier New" panose="02070309020205020404" pitchFamily="49" charset="0"/>
                <a:cs typeface="Courier New" panose="02070309020205020404" pitchFamily="49" charset="0"/>
              </a:rPr>
              <a:t>style</a:t>
            </a:r>
            <a:r>
              <a:rPr lang="en-US" altLang="en-US" dirty="0"/>
              <a:t> attribute.</a:t>
            </a:r>
          </a:p>
          <a:p>
            <a:pPr lvl="1"/>
            <a:r>
              <a:rPr lang="en-US" altLang="en-US" dirty="0"/>
              <a:t>Example:</a:t>
            </a:r>
          </a:p>
          <a:p>
            <a:pPr marL="914400" lvl="2" indent="0">
              <a:buNone/>
            </a:pPr>
            <a:r>
              <a:rPr lang="en-US" altLang="en-US" sz="1600" dirty="0">
                <a:latin typeface="Courier New" panose="02070309020205020404" pitchFamily="49" charset="0"/>
                <a:cs typeface="Courier New" panose="02070309020205020404" pitchFamily="49" charset="0"/>
              </a:rPr>
              <a:t>&lt;h2 style="</a:t>
            </a:r>
            <a:r>
              <a:rPr lang="en-US" altLang="en-US" sz="1600" dirty="0" err="1">
                <a:latin typeface="Courier New" panose="02070309020205020404" pitchFamily="49" charset="0"/>
                <a:cs typeface="Courier New" panose="02070309020205020404" pitchFamily="49" charset="0"/>
              </a:rPr>
              <a:t>text-decoration:underline</a:t>
            </a:r>
            <a:r>
              <a:rPr lang="en-US" altLang="en-US" sz="1600" dirty="0">
                <a:latin typeface="Courier New" panose="02070309020205020404" pitchFamily="49" charset="0"/>
                <a:cs typeface="Courier New" panose="02070309020205020404" pitchFamily="49" charset="0"/>
              </a:rPr>
              <a:t>;"&gt;Welcome!&lt;/h2&gt;</a:t>
            </a:r>
          </a:p>
          <a:p>
            <a:r>
              <a:rPr lang="en-US" altLang="en-US" dirty="0">
                <a:latin typeface="Courier New" panose="02070309020205020404" pitchFamily="49" charset="0"/>
                <a:cs typeface="Courier New" panose="02070309020205020404" pitchFamily="49" charset="0"/>
              </a:rPr>
              <a:t>style</a:t>
            </a:r>
            <a:r>
              <a:rPr lang="en-US" altLang="en-US" dirty="0"/>
              <a:t> is a </a:t>
            </a:r>
            <a:r>
              <a:rPr lang="en-US" altLang="en-US" i="1" dirty="0"/>
              <a:t>global attribute</a:t>
            </a:r>
            <a:r>
              <a:rPr lang="en-US" altLang="en-US" dirty="0"/>
              <a:t>, which means it can be used with any element.</a:t>
            </a:r>
          </a:p>
          <a:p>
            <a:r>
              <a:rPr lang="en-US" altLang="en-US" dirty="0"/>
              <a:t>Even though it’s legal to use the </a:t>
            </a:r>
            <a:r>
              <a:rPr lang="en-US" altLang="en-US" dirty="0">
                <a:latin typeface="Courier New" panose="02070309020205020404" pitchFamily="49" charset="0"/>
                <a:cs typeface="Courier New" panose="02070309020205020404" pitchFamily="49" charset="0"/>
              </a:rPr>
              <a:t>style</a:t>
            </a:r>
            <a:r>
              <a:rPr lang="en-US" altLang="en-US" dirty="0"/>
              <a:t> attribute with any element, and you’ll see it used in lots of legacy code, you should avoid using it in your pages. Why? </a:t>
            </a:r>
          </a:p>
          <a:p>
            <a:pPr lvl="1"/>
            <a:r>
              <a:rPr lang="en-US" altLang="en-US" dirty="0"/>
              <a:t>The purpose of CSS is to keep style (formatting) separate from content (HTML elements). Using the </a:t>
            </a:r>
            <a:r>
              <a:rPr lang="en-US" altLang="en-US" dirty="0">
                <a:latin typeface="Courier New" panose="02070309020205020404" pitchFamily="49" charset="0"/>
                <a:cs typeface="Courier New" panose="02070309020205020404" pitchFamily="49" charset="0"/>
              </a:rPr>
              <a:t>style</a:t>
            </a:r>
            <a:r>
              <a:rPr lang="en-US" altLang="en-US" dirty="0"/>
              <a:t> attribute in an HTML element violates that guideline.</a:t>
            </a:r>
          </a:p>
        </p:txBody>
      </p:sp>
      <p:sp>
        <p:nvSpPr>
          <p:cNvPr id="37893" name="Text Box 6" descr="note number"/>
          <p:cNvSpPr txBox="1">
            <a:spLocks noChangeArrowheads="1"/>
          </p:cNvSpPr>
          <p:nvPr/>
        </p:nvSpPr>
        <p:spPr bwMode="auto">
          <a:xfrm>
            <a:off x="302420" y="56388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1</a:t>
            </a:r>
          </a:p>
        </p:txBody>
      </p:sp>
      <p:sp>
        <p:nvSpPr>
          <p:cNvPr id="37894" name="Text Box 6" descr="note number"/>
          <p:cNvSpPr txBox="1">
            <a:spLocks noChangeArrowheads="1"/>
          </p:cNvSpPr>
          <p:nvPr/>
        </p:nvSpPr>
        <p:spPr bwMode="auto">
          <a:xfrm>
            <a:off x="312811" y="60325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a:xfrm>
            <a:off x="0" y="121033"/>
            <a:ext cx="12192000" cy="1002089"/>
          </a:xfrm>
        </p:spPr>
        <p:txBody>
          <a:bodyPr/>
          <a:lstStyle/>
          <a:p>
            <a:r>
              <a:rPr lang="en-US" altLang="en-US" dirty="0">
                <a:latin typeface="Courier New" panose="02070309020205020404" pitchFamily="49" charset="0"/>
                <a:cs typeface="Courier New" panose="02070309020205020404" pitchFamily="49" charset="0"/>
              </a:rPr>
              <a:t>style</a:t>
            </a:r>
            <a:r>
              <a:rPr lang="en-US" altLang="en-US" dirty="0"/>
              <a:t> Container</a:t>
            </a:r>
          </a:p>
        </p:txBody>
      </p:sp>
      <p:sp>
        <p:nvSpPr>
          <p:cNvPr id="39940" name="Rectangle 3"/>
          <p:cNvSpPr>
            <a:spLocks noGrp="1" noChangeArrowheads="1"/>
          </p:cNvSpPr>
          <p:nvPr>
            <p:ph idx="1"/>
          </p:nvPr>
        </p:nvSpPr>
        <p:spPr>
          <a:xfrm>
            <a:off x="925830" y="1490870"/>
            <a:ext cx="10287000" cy="4699047"/>
          </a:xfrm>
        </p:spPr>
        <p:txBody>
          <a:bodyPr/>
          <a:lstStyle/>
          <a:p>
            <a:r>
              <a:rPr lang="en-US" altLang="en-US" dirty="0">
                <a:latin typeface="Courier New" panose="02070309020205020404" pitchFamily="49" charset="0"/>
                <a:cs typeface="Courier New" panose="02070309020205020404" pitchFamily="49" charset="0"/>
              </a:rPr>
              <a:t>style</a:t>
            </a:r>
            <a:r>
              <a:rPr lang="en-US" altLang="en-US" dirty="0"/>
              <a:t> container:</a:t>
            </a:r>
          </a:p>
          <a:p>
            <a:pPr lvl="1"/>
            <a:r>
              <a:rPr lang="en-US" altLang="en-US" dirty="0"/>
              <a:t>Define CSS rules within a </a:t>
            </a:r>
            <a:r>
              <a:rPr lang="en-US" altLang="en-US" dirty="0">
                <a:latin typeface="Courier New" panose="02070309020205020404" pitchFamily="49" charset="0"/>
                <a:cs typeface="Courier New" panose="02070309020205020404" pitchFamily="49" charset="0"/>
              </a:rPr>
              <a:t>style</a:t>
            </a:r>
            <a:r>
              <a:rPr lang="en-US" altLang="en-US" dirty="0"/>
              <a:t> container. The browser will apply the CSS rules’ property values by matching the CSS rules’ selectors with elements in the web page.</a:t>
            </a:r>
          </a:p>
          <a:p>
            <a:pPr lvl="1"/>
            <a:r>
              <a:rPr lang="en-US" altLang="en-US" dirty="0"/>
              <a:t>Normally, you should have just one </a:t>
            </a:r>
            <a:r>
              <a:rPr lang="en-US" altLang="en-US" dirty="0">
                <a:latin typeface="Courier New" panose="02070309020205020404" pitchFamily="49" charset="0"/>
                <a:cs typeface="Courier New" panose="02070309020205020404" pitchFamily="49" charset="0"/>
              </a:rPr>
              <a:t>style</a:t>
            </a:r>
            <a:r>
              <a:rPr lang="en-US" altLang="en-US" dirty="0"/>
              <a:t> container per page, and you should put it in a web page’s </a:t>
            </a:r>
            <a:r>
              <a:rPr lang="en-US" altLang="en-US" dirty="0">
                <a:latin typeface="Courier New" panose="02070309020205020404" pitchFamily="49" charset="0"/>
                <a:cs typeface="Courier New" panose="02070309020205020404" pitchFamily="49" charset="0"/>
              </a:rPr>
              <a:t>head</a:t>
            </a:r>
            <a:r>
              <a:rPr lang="en-US" altLang="en-US" dirty="0"/>
              <a:t> container.</a:t>
            </a:r>
          </a:p>
        </p:txBody>
      </p:sp>
      <p:sp>
        <p:nvSpPr>
          <p:cNvPr id="39941" name="Text Box 6" descr="note number"/>
          <p:cNvSpPr txBox="1">
            <a:spLocks noChangeArrowheads="1"/>
          </p:cNvSpPr>
          <p:nvPr/>
        </p:nvSpPr>
        <p:spPr bwMode="auto">
          <a:xfrm>
            <a:off x="457200" y="25908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1</a:t>
            </a:r>
          </a:p>
        </p:txBody>
      </p:sp>
      <p:sp>
        <p:nvSpPr>
          <p:cNvPr id="39942" name="Text Box 6" descr="note number"/>
          <p:cNvSpPr txBox="1">
            <a:spLocks noChangeArrowheads="1"/>
          </p:cNvSpPr>
          <p:nvPr/>
        </p:nvSpPr>
        <p:spPr bwMode="auto">
          <a:xfrm>
            <a:off x="457200" y="3525838"/>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
        <p:nvSpPr>
          <p:cNvPr id="39943" name="Text Box 6" descr="note number"/>
          <p:cNvSpPr txBox="1">
            <a:spLocks noChangeArrowheads="1"/>
          </p:cNvSpPr>
          <p:nvPr/>
        </p:nvSpPr>
        <p:spPr bwMode="auto">
          <a:xfrm>
            <a:off x="457200" y="3952876"/>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a:xfrm>
            <a:off x="0" y="121033"/>
            <a:ext cx="12192000" cy="1002089"/>
          </a:xfrm>
        </p:spPr>
        <p:txBody>
          <a:bodyPr/>
          <a:lstStyle/>
          <a:p>
            <a:r>
              <a:rPr lang="en-US" altLang="en-US" dirty="0"/>
              <a:t>External CSS Files (1 of 3)</a:t>
            </a:r>
          </a:p>
        </p:txBody>
      </p:sp>
      <p:sp>
        <p:nvSpPr>
          <p:cNvPr id="41988" name="Rectangle 3"/>
          <p:cNvSpPr>
            <a:spLocks noGrp="1" noChangeArrowheads="1"/>
          </p:cNvSpPr>
          <p:nvPr>
            <p:ph idx="1"/>
          </p:nvPr>
        </p:nvSpPr>
        <p:spPr>
          <a:xfrm>
            <a:off x="838200" y="1143000"/>
            <a:ext cx="10744200" cy="4724400"/>
          </a:xfrm>
        </p:spPr>
        <p:txBody>
          <a:bodyPr/>
          <a:lstStyle/>
          <a:p>
            <a:r>
              <a:rPr lang="en-US" altLang="en-US" dirty="0"/>
              <a:t>In general, splitting up a big thing into smaller parts makes the thing easier to understand. So to improve understandability, you should consider moving your CSS rules to an external file.</a:t>
            </a:r>
          </a:p>
          <a:p>
            <a:r>
              <a:rPr lang="en-US" altLang="en-US" dirty="0"/>
              <a:t>An external CSS file must be named with a </a:t>
            </a:r>
            <a:r>
              <a:rPr lang="en-US" altLang="en-US" dirty="0">
                <a:latin typeface="Courier New" panose="02070309020205020404" pitchFamily="49" charset="0"/>
                <a:cs typeface="Courier New" panose="02070309020205020404" pitchFamily="49" charset="0"/>
              </a:rPr>
              <a:t>.</a:t>
            </a:r>
            <a:r>
              <a:rPr lang="en-US" altLang="en-US" dirty="0" err="1">
                <a:latin typeface="Courier New" panose="02070309020205020404" pitchFamily="49" charset="0"/>
                <a:cs typeface="Courier New" panose="02070309020205020404" pitchFamily="49" charset="0"/>
              </a:rPr>
              <a:t>css</a:t>
            </a:r>
            <a:r>
              <a:rPr lang="en-US" altLang="en-US" dirty="0">
                <a:latin typeface="Courier New" panose="02070309020205020404" pitchFamily="49" charset="0"/>
                <a:cs typeface="Courier New" panose="02070309020205020404" pitchFamily="49" charset="0"/>
              </a:rPr>
              <a:t> </a:t>
            </a:r>
            <a:r>
              <a:rPr lang="en-US" altLang="en-US" dirty="0"/>
              <a:t>extension.</a:t>
            </a:r>
          </a:p>
          <a:p>
            <a:r>
              <a:rPr lang="en-US" altLang="en-US" dirty="0"/>
              <a:t>For a web page to access a CSS file's CSS rules, the web page needs to load the CSS file by using a </a:t>
            </a:r>
            <a:r>
              <a:rPr lang="en-US" altLang="en-US" dirty="0">
                <a:latin typeface="Courier New" panose="02070309020205020404" pitchFamily="49" charset="0"/>
                <a:cs typeface="Courier New" panose="02070309020205020404" pitchFamily="49" charset="0"/>
              </a:rPr>
              <a:t>link</a:t>
            </a:r>
            <a:r>
              <a:rPr lang="en-US" altLang="en-US" dirty="0"/>
              <a:t> element in the web page's head container. Here's the syntax:</a:t>
            </a:r>
          </a:p>
          <a:p>
            <a:pPr marL="457200" lvl="1" indent="0">
              <a:buNone/>
            </a:pPr>
            <a:r>
              <a:rPr lang="en-US" altLang="en-US" sz="1600" dirty="0">
                <a:latin typeface="Courier New" panose="02070309020205020404" pitchFamily="49" charset="0"/>
                <a:cs typeface="Courier New" panose="02070309020205020404" pitchFamily="49" charset="0"/>
              </a:rPr>
              <a:t>&lt;link </a:t>
            </a:r>
            <a:r>
              <a:rPr lang="en-US" altLang="en-US" sz="1600" dirty="0" err="1">
                <a:latin typeface="Courier New" panose="02070309020205020404" pitchFamily="49" charset="0"/>
                <a:cs typeface="Courier New" panose="02070309020205020404" pitchFamily="49" charset="0"/>
              </a:rPr>
              <a:t>rel</a:t>
            </a:r>
            <a:r>
              <a:rPr lang="en-US" altLang="en-US" sz="1600" dirty="0">
                <a:latin typeface="Courier New" panose="02070309020205020404" pitchFamily="49" charset="0"/>
                <a:cs typeface="Courier New" panose="02070309020205020404" pitchFamily="49" charset="0"/>
              </a:rPr>
              <a:t>="stylesheet" </a:t>
            </a:r>
            <a:r>
              <a:rPr lang="en-US" altLang="en-US" sz="1600" dirty="0" err="1">
                <a:latin typeface="Courier New" panose="02070309020205020404" pitchFamily="49" charset="0"/>
                <a:cs typeface="Courier New" panose="02070309020205020404" pitchFamily="49" charset="0"/>
              </a:rPr>
              <a:t>href</a:t>
            </a:r>
            <a:r>
              <a:rPr lang="en-US" altLang="en-US" sz="1600" dirty="0">
                <a:latin typeface="Courier New" panose="02070309020205020404" pitchFamily="49" charset="0"/>
                <a:cs typeface="Courier New" panose="02070309020205020404" pitchFamily="49" charset="0"/>
              </a:rPr>
              <a:t>="name-of-style-sheet-file"&gt;</a:t>
            </a:r>
          </a:p>
          <a:p>
            <a:r>
              <a:rPr lang="en-US" altLang="en-US" dirty="0"/>
              <a:t>To justify the extra work of using an external CSS file, typically an external CSS file will be non-trivial. By non-trivial, I mean it will have at least five CSS rules (usually a lot more) or it will be shared by more than one web page.</a:t>
            </a:r>
          </a:p>
          <a:p>
            <a:r>
              <a:rPr lang="en-US" altLang="en-US" dirty="0"/>
              <a:t>Why is sharing an external CSS file particularly helpful?</a:t>
            </a:r>
          </a:p>
        </p:txBody>
      </p:sp>
      <p:sp>
        <p:nvSpPr>
          <p:cNvPr id="41989" name="Text Box 8" descr="note number"/>
          <p:cNvSpPr txBox="1">
            <a:spLocks noChangeArrowheads="1"/>
          </p:cNvSpPr>
          <p:nvPr/>
        </p:nvSpPr>
        <p:spPr bwMode="auto">
          <a:xfrm>
            <a:off x="240723" y="43434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
        <p:nvSpPr>
          <p:cNvPr id="41990" name="Text Box 7" descr="note number"/>
          <p:cNvSpPr txBox="1">
            <a:spLocks noChangeArrowheads="1"/>
          </p:cNvSpPr>
          <p:nvPr/>
        </p:nvSpPr>
        <p:spPr bwMode="auto">
          <a:xfrm>
            <a:off x="240723" y="4029075"/>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41991" name="Text Box 8" descr="note number"/>
          <p:cNvSpPr txBox="1">
            <a:spLocks noChangeArrowheads="1"/>
          </p:cNvSpPr>
          <p:nvPr/>
        </p:nvSpPr>
        <p:spPr bwMode="auto">
          <a:xfrm>
            <a:off x="228600" y="63246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a:xfrm>
            <a:off x="0" y="121033"/>
            <a:ext cx="12192000" cy="1002089"/>
          </a:xfrm>
        </p:spPr>
        <p:txBody>
          <a:bodyPr/>
          <a:lstStyle/>
          <a:p>
            <a:r>
              <a:rPr lang="en-US" altLang="en-US" dirty="0"/>
              <a:t>External CSS Files (2 of 3)</a:t>
            </a:r>
          </a:p>
        </p:txBody>
      </p:sp>
      <p:sp>
        <p:nvSpPr>
          <p:cNvPr id="16388" name="Rectangle 3"/>
          <p:cNvSpPr>
            <a:spLocks noGrp="1" noChangeArrowheads="1"/>
          </p:cNvSpPr>
          <p:nvPr>
            <p:ph idx="1"/>
          </p:nvPr>
        </p:nvSpPr>
        <p:spPr>
          <a:xfrm>
            <a:off x="925830" y="1295400"/>
            <a:ext cx="10287000" cy="4699047"/>
          </a:xfrm>
        </p:spPr>
        <p:txBody>
          <a:bodyPr/>
          <a:lstStyle/>
          <a:p>
            <a:pPr lvl="1"/>
            <a:r>
              <a:rPr lang="en-US" dirty="0"/>
              <a:t>A web page that loads an external CSS file:</a:t>
            </a:r>
          </a:p>
          <a:p>
            <a:pPr marL="457200" lvl="1" indent="0">
              <a:buNone/>
            </a:pPr>
            <a:r>
              <a:rPr lang="en-US" sz="1100" dirty="0">
                <a:latin typeface="Courier New" panose="02070309020205020404" pitchFamily="49" charset="0"/>
                <a:cs typeface="Courier New" panose="02070309020205020404" pitchFamily="49" charset="0"/>
              </a:rPr>
              <a:t>&lt;head&gt;</a:t>
            </a:r>
          </a:p>
          <a:p>
            <a:pPr marL="457200" lvl="1" indent="0">
              <a:buNone/>
            </a:pPr>
            <a:r>
              <a:rPr lang="en-US" sz="1100" dirty="0">
                <a:latin typeface="Courier New" panose="02070309020205020404" pitchFamily="49" charset="0"/>
                <a:cs typeface="Courier New" panose="02070309020205020404" pitchFamily="49" charset="0"/>
              </a:rPr>
              <a:t>&lt;link </a:t>
            </a:r>
            <a:r>
              <a:rPr lang="en-US" sz="1100" dirty="0" err="1">
                <a:latin typeface="Courier New" panose="02070309020205020404" pitchFamily="49" charset="0"/>
                <a:cs typeface="Courier New" panose="02070309020205020404" pitchFamily="49" charset="0"/>
              </a:rPr>
              <a:t>rel</a:t>
            </a:r>
            <a:r>
              <a:rPr lang="en-US" sz="1100" dirty="0">
                <a:latin typeface="Courier New" panose="02070309020205020404" pitchFamily="49" charset="0"/>
                <a:cs typeface="Courier New" panose="02070309020205020404" pitchFamily="49" charset="0"/>
              </a:rPr>
              <a:t>="stylesheet" </a:t>
            </a:r>
            <a:r>
              <a:rPr lang="en-US" sz="1100" dirty="0" err="1">
                <a:latin typeface="Courier New" panose="02070309020205020404" pitchFamily="49" charset="0"/>
                <a:cs typeface="Courier New" panose="02070309020205020404" pitchFamily="49" charset="0"/>
              </a:rPr>
              <a:t>href</a:t>
            </a:r>
            <a:r>
              <a:rPr lang="en-US" sz="1100" dirty="0">
                <a:latin typeface="Courier New" panose="02070309020205020404" pitchFamily="49" charset="0"/>
                <a:cs typeface="Courier New" panose="02070309020205020404" pitchFamily="49" charset="0"/>
              </a:rPr>
              <a:t>="pumpkinPatch.css"&gt;</a:t>
            </a:r>
          </a:p>
          <a:p>
            <a:pPr marL="457200" lvl="1" indent="0">
              <a:buNone/>
            </a:pPr>
            <a:r>
              <a:rPr lang="en-US" sz="1100" dirty="0">
                <a:latin typeface="Courier New" panose="02070309020205020404" pitchFamily="49" charset="0"/>
                <a:cs typeface="Courier New" panose="02070309020205020404" pitchFamily="49" charset="0"/>
              </a:rPr>
              <a:t>&lt;/head&gt;</a:t>
            </a:r>
          </a:p>
          <a:p>
            <a:pPr marL="457200" lvl="1" indent="0">
              <a:buNone/>
            </a:pPr>
            <a:endParaRPr lang="en-US" sz="1100" dirty="0">
              <a:latin typeface="Courier New" panose="02070309020205020404" pitchFamily="49" charset="0"/>
              <a:cs typeface="Courier New" panose="02070309020205020404" pitchFamily="49" charset="0"/>
            </a:endParaRPr>
          </a:p>
          <a:p>
            <a:pPr marL="457200" lvl="1" indent="0">
              <a:buNone/>
            </a:pPr>
            <a:r>
              <a:rPr lang="en-US" sz="1100" dirty="0">
                <a:latin typeface="Courier New" panose="02070309020205020404" pitchFamily="49" charset="0"/>
                <a:cs typeface="Courier New" panose="02070309020205020404" pitchFamily="49" charset="0"/>
              </a:rPr>
              <a:t>&lt;body&gt;</a:t>
            </a:r>
          </a:p>
          <a:p>
            <a:pPr marL="457200" lvl="1" indent="0">
              <a:buNone/>
            </a:pPr>
            <a:r>
              <a:rPr lang="en-US" sz="1100" dirty="0">
                <a:latin typeface="Courier New" panose="02070309020205020404" pitchFamily="49" charset="0"/>
                <a:cs typeface="Courier New" panose="02070309020205020404" pitchFamily="49" charset="0"/>
              </a:rPr>
              <a:t>&lt;div class="orange"&gt;</a:t>
            </a:r>
          </a:p>
          <a:p>
            <a:pPr marL="457200" lvl="1" indent="0">
              <a:buNone/>
            </a:pPr>
            <a:r>
              <a:rPr lang="en-US" sz="1100" dirty="0">
                <a:latin typeface="Courier New" panose="02070309020205020404" pitchFamily="49" charset="0"/>
                <a:cs typeface="Courier New" panose="02070309020205020404" pitchFamily="49" charset="0"/>
              </a:rPr>
              <a:t>  Parkville's Halloween on the River, every weekend in October.&lt;</a:t>
            </a:r>
            <a:r>
              <a:rPr lang="en-US" sz="1100" dirty="0" err="1">
                <a:latin typeface="Courier New" panose="02070309020205020404" pitchFamily="49" charset="0"/>
                <a:cs typeface="Courier New" panose="02070309020205020404" pitchFamily="49" charset="0"/>
              </a:rPr>
              <a:t>br</a:t>
            </a:r>
            <a:r>
              <a:rPr lang="en-US" sz="1100" dirty="0">
                <a:latin typeface="Courier New" panose="02070309020205020404" pitchFamily="49" charset="0"/>
                <a:cs typeface="Courier New" panose="02070309020205020404" pitchFamily="49" charset="0"/>
              </a:rPr>
              <a:t>&gt;</a:t>
            </a:r>
          </a:p>
          <a:p>
            <a:pPr marL="457200" lvl="1" indent="0">
              <a:buNone/>
            </a:pPr>
            <a:r>
              <a:rPr lang="en-US" sz="1100" dirty="0">
                <a:latin typeface="Courier New" panose="02070309020205020404" pitchFamily="49" charset="0"/>
                <a:cs typeface="Courier New" panose="02070309020205020404" pitchFamily="49" charset="0"/>
              </a:rPr>
              <a:t>  Corn maze: &lt;span class="white orange-background"&gt;$10&lt;/span&gt;&lt;</a:t>
            </a:r>
            <a:r>
              <a:rPr lang="en-US" sz="1100" dirty="0" err="1">
                <a:latin typeface="Courier New" panose="02070309020205020404" pitchFamily="49" charset="0"/>
                <a:cs typeface="Courier New" panose="02070309020205020404" pitchFamily="49" charset="0"/>
              </a:rPr>
              <a:t>br</a:t>
            </a:r>
            <a:r>
              <a:rPr lang="en-US" sz="1100" dirty="0">
                <a:latin typeface="Courier New" panose="02070309020205020404" pitchFamily="49" charset="0"/>
                <a:cs typeface="Courier New" panose="02070309020205020404" pitchFamily="49" charset="0"/>
              </a:rPr>
              <a:t>&gt;</a:t>
            </a:r>
          </a:p>
          <a:p>
            <a:pPr marL="457200" lvl="1" indent="0">
              <a:buNone/>
            </a:pPr>
            <a:r>
              <a:rPr lang="en-US" sz="1100" dirty="0">
                <a:latin typeface="Courier New" panose="02070309020205020404" pitchFamily="49" charset="0"/>
                <a:cs typeface="Courier New" panose="02070309020205020404" pitchFamily="49" charset="0"/>
              </a:rPr>
              <a:t>  All you can eat pumpkins:</a:t>
            </a:r>
          </a:p>
          <a:p>
            <a:pPr marL="457200" lvl="1" indent="0">
              <a:buNone/>
            </a:pPr>
            <a:r>
              <a:rPr lang="en-US" sz="1100" dirty="0">
                <a:latin typeface="Courier New" panose="02070309020205020404" pitchFamily="49" charset="0"/>
                <a:cs typeface="Courier New" panose="02070309020205020404" pitchFamily="49" charset="0"/>
              </a:rPr>
              <a:t>  &lt;span class="black orange-background"&gt;$15&lt;/span&gt;</a:t>
            </a:r>
          </a:p>
          <a:p>
            <a:pPr marL="457200" lvl="1" indent="0">
              <a:buNone/>
            </a:pPr>
            <a:r>
              <a:rPr lang="en-US" sz="1100" dirty="0">
                <a:latin typeface="Courier New" panose="02070309020205020404" pitchFamily="49" charset="0"/>
                <a:cs typeface="Courier New" panose="02070309020205020404" pitchFamily="49" charset="0"/>
              </a:rPr>
              <a:t>&lt;/div&gt;</a:t>
            </a:r>
          </a:p>
          <a:p>
            <a:pPr marL="457200" lvl="1" indent="0">
              <a:buNone/>
            </a:pPr>
            <a:r>
              <a:rPr lang="en-US" sz="1100" dirty="0">
                <a:latin typeface="Courier New" panose="02070309020205020404" pitchFamily="49" charset="0"/>
                <a:cs typeface="Courier New" panose="02070309020205020404" pitchFamily="49" charset="0"/>
              </a:rPr>
              <a:t>&lt;/body&gt;</a:t>
            </a:r>
          </a:p>
          <a:p>
            <a:pPr marL="457200" lvl="1" indent="0">
              <a:buNone/>
            </a:pPr>
            <a:endParaRPr lang="en-US" sz="1100" dirty="0">
              <a:latin typeface="Courier New" panose="02070309020205020404" pitchFamily="49" charset="0"/>
              <a:cs typeface="Courier New" panose="02070309020205020404" pitchFamily="49" charset="0"/>
            </a:endParaRPr>
          </a:p>
          <a:p>
            <a:pPr lvl="1"/>
            <a:r>
              <a:rPr lang="en-US" dirty="0"/>
              <a:t>An external CSS file named </a:t>
            </a:r>
            <a:r>
              <a:rPr lang="en-US" dirty="0" err="1">
                <a:latin typeface="Courier New" panose="02070309020205020404" pitchFamily="49" charset="0"/>
                <a:cs typeface="Courier New" panose="02070309020205020404" pitchFamily="49" charset="0"/>
              </a:rPr>
              <a:t>pumpkinPatch.css</a:t>
            </a:r>
            <a:r>
              <a:rPr lang="en-US" dirty="0"/>
              <a:t> that’s loaded into the web page above:</a:t>
            </a:r>
          </a:p>
          <a:p>
            <a:pPr marL="457200" lvl="1" indent="0">
              <a:buNone/>
            </a:pPr>
            <a:r>
              <a:rPr lang="en-US" sz="1200" dirty="0">
                <a:latin typeface="Courier New" panose="02070309020205020404" pitchFamily="49" charset="0"/>
                <a:cs typeface="Courier New" panose="02070309020205020404" pitchFamily="49" charset="0"/>
              </a:rPr>
              <a:t>/* John Dean */</a:t>
            </a:r>
          </a:p>
          <a:p>
            <a:pPr marL="457200" lvl="1" indent="0">
              <a:buNone/>
            </a:pPr>
            <a:endParaRPr lang="en-US" sz="1200" dirty="0">
              <a:latin typeface="Courier New" panose="02070309020205020404" pitchFamily="49" charset="0"/>
              <a:cs typeface="Courier New" panose="02070309020205020404" pitchFamily="49" charset="0"/>
            </a:endParaRPr>
          </a:p>
          <a:p>
            <a:pPr marL="457200" lvl="1" indent="0">
              <a:buNone/>
            </a:pPr>
            <a:r>
              <a:rPr lang="en-US" sz="1200" dirty="0">
                <a:latin typeface="Courier New" panose="02070309020205020404" pitchFamily="49" charset="0"/>
                <a:cs typeface="Courier New" panose="02070309020205020404" pitchFamily="49" charset="0"/>
              </a:rPr>
              <a:t>.orange {color: </a:t>
            </a:r>
            <a:r>
              <a:rPr lang="en-US" sz="1200" dirty="0" err="1">
                <a:latin typeface="Courier New" panose="02070309020205020404" pitchFamily="49" charset="0"/>
                <a:cs typeface="Courier New" panose="02070309020205020404" pitchFamily="49" charset="0"/>
              </a:rPr>
              <a:t>darkorange</a:t>
            </a:r>
            <a:r>
              <a:rPr lang="en-US" sz="1200" dirty="0">
                <a:latin typeface="Courier New" panose="02070309020205020404" pitchFamily="49" charset="0"/>
                <a:cs typeface="Courier New" panose="02070309020205020404" pitchFamily="49" charset="0"/>
              </a:rPr>
              <a:t>;}</a:t>
            </a:r>
          </a:p>
          <a:p>
            <a:pPr marL="457200" lvl="1" indent="0">
              <a:buNone/>
            </a:pPr>
            <a:r>
              <a:rPr lang="en-US" sz="1200" dirty="0">
                <a:latin typeface="Courier New" panose="02070309020205020404" pitchFamily="49" charset="0"/>
                <a:cs typeface="Courier New" panose="02070309020205020404" pitchFamily="49" charset="0"/>
              </a:rPr>
              <a:t>.white {color: white;}</a:t>
            </a:r>
          </a:p>
          <a:p>
            <a:pPr marL="457200" lvl="1" indent="0">
              <a:buNone/>
            </a:pPr>
            <a:r>
              <a:rPr lang="en-US" sz="1200" dirty="0">
                <a:latin typeface="Courier New" panose="02070309020205020404" pitchFamily="49" charset="0"/>
                <a:cs typeface="Courier New" panose="02070309020205020404" pitchFamily="49" charset="0"/>
              </a:rPr>
              <a:t>.black {color: black;}</a:t>
            </a:r>
          </a:p>
          <a:p>
            <a:pPr marL="457200" lvl="1" indent="0">
              <a:buNone/>
            </a:pPr>
            <a:r>
              <a:rPr lang="en-US" sz="1200" dirty="0">
                <a:latin typeface="Courier New" panose="02070309020205020404" pitchFamily="49" charset="0"/>
                <a:cs typeface="Courier New" panose="02070309020205020404" pitchFamily="49" charset="0"/>
              </a:rPr>
              <a:t>.orange-background {background-color: orange;}</a:t>
            </a:r>
          </a:p>
        </p:txBody>
      </p:sp>
      <p:sp>
        <p:nvSpPr>
          <p:cNvPr id="44037" name="Text Box 9" descr="note number"/>
          <p:cNvSpPr txBox="1">
            <a:spLocks noChangeArrowheads="1"/>
          </p:cNvSpPr>
          <p:nvPr/>
        </p:nvSpPr>
        <p:spPr bwMode="auto">
          <a:xfrm>
            <a:off x="386557" y="1490663"/>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1</a:t>
            </a:r>
          </a:p>
        </p:txBody>
      </p:sp>
      <p:sp>
        <p:nvSpPr>
          <p:cNvPr id="10" name="Rectangle 12"/>
          <p:cNvSpPr>
            <a:spLocks noChangeArrowheads="1"/>
          </p:cNvSpPr>
          <p:nvPr/>
        </p:nvSpPr>
        <p:spPr bwMode="auto">
          <a:xfrm>
            <a:off x="143669" y="2362200"/>
            <a:ext cx="1001712" cy="646112"/>
          </a:xfrm>
          <a:prstGeom prst="rect">
            <a:avLst/>
          </a:prstGeom>
          <a:solidFill>
            <a:srgbClr val="CCFFCC"/>
          </a:solidFill>
          <a:ln w="9525">
            <a:solidFill>
              <a:srgbClr val="0000FF"/>
            </a:solidFill>
            <a:miter lim="800000"/>
            <a:headEnd/>
            <a:tailEnd/>
          </a:ln>
        </p:spPr>
        <p:txBody>
          <a:bodyPr anchor="ctr">
            <a:spAutoFit/>
          </a:bodyPr>
          <a:lstStyle/>
          <a:p>
            <a:pPr eaLnBrk="1" hangingPunct="1">
              <a:defRPr/>
            </a:pPr>
            <a:r>
              <a:rPr lang="en-US" sz="1800" dirty="0">
                <a:latin typeface="Courier New" pitchFamily="49" charset="0"/>
                <a:cs typeface="Courier New" pitchFamily="49" charset="0"/>
              </a:rPr>
              <a:t>link</a:t>
            </a:r>
            <a:r>
              <a:rPr lang="en-US" sz="1800" dirty="0">
                <a:latin typeface="+mn-lt"/>
                <a:cs typeface="Courier New" pitchFamily="49" charset="0"/>
              </a:rPr>
              <a:t> element</a:t>
            </a:r>
            <a:endParaRPr lang="en-US" sz="1800" dirty="0">
              <a:latin typeface="Courier New" pitchFamily="49" charset="0"/>
              <a:cs typeface="Courier New" pitchFamily="49" charset="0"/>
            </a:endParaRPr>
          </a:p>
        </p:txBody>
      </p:sp>
      <p:sp>
        <p:nvSpPr>
          <p:cNvPr id="44039" name="Line 9"/>
          <p:cNvSpPr>
            <a:spLocks noChangeShapeType="1"/>
          </p:cNvSpPr>
          <p:nvPr/>
        </p:nvSpPr>
        <p:spPr bwMode="auto">
          <a:xfrm flipV="1">
            <a:off x="1145381" y="2223294"/>
            <a:ext cx="269875" cy="277813"/>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040" name="Text Box 9" descr="note number"/>
          <p:cNvSpPr txBox="1">
            <a:spLocks noChangeArrowheads="1"/>
          </p:cNvSpPr>
          <p:nvPr/>
        </p:nvSpPr>
        <p:spPr bwMode="auto">
          <a:xfrm>
            <a:off x="381000" y="6189663"/>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3</a:t>
            </a:r>
          </a:p>
        </p:txBody>
      </p:sp>
      <p:sp>
        <p:nvSpPr>
          <p:cNvPr id="44041" name="Text Box 9" descr="note number"/>
          <p:cNvSpPr txBox="1">
            <a:spLocks noChangeArrowheads="1"/>
          </p:cNvSpPr>
          <p:nvPr/>
        </p:nvSpPr>
        <p:spPr bwMode="auto">
          <a:xfrm>
            <a:off x="386557" y="1804988"/>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a:xfrm>
            <a:off x="0" y="121033"/>
            <a:ext cx="12192000" cy="1002089"/>
          </a:xfrm>
        </p:spPr>
        <p:txBody>
          <a:bodyPr/>
          <a:lstStyle/>
          <a:p>
            <a:r>
              <a:rPr lang="en-US" altLang="en-US" dirty="0"/>
              <a:t>External CSS Files (3 of 3)</a:t>
            </a:r>
          </a:p>
        </p:txBody>
      </p:sp>
      <p:sp>
        <p:nvSpPr>
          <p:cNvPr id="46084" name="Rectangle 3"/>
          <p:cNvSpPr>
            <a:spLocks noGrp="1" noChangeArrowheads="1"/>
          </p:cNvSpPr>
          <p:nvPr>
            <p:ph idx="1"/>
          </p:nvPr>
        </p:nvSpPr>
        <p:spPr>
          <a:xfrm>
            <a:off x="925830" y="1490870"/>
            <a:ext cx="10287000" cy="4699047"/>
          </a:xfrm>
        </p:spPr>
        <p:txBody>
          <a:bodyPr/>
          <a:lstStyle/>
          <a:p>
            <a:r>
              <a:rPr lang="en-US" altLang="en-US" dirty="0"/>
              <a:t>Normally, external CSS files are sparse—just a comment at the top (I require your name), CSS rules, and blank lines to separate logical groups of rules.</a:t>
            </a:r>
          </a:p>
          <a:p>
            <a:r>
              <a:rPr lang="en-US" altLang="en-US" dirty="0"/>
              <a:t>Syntax for a comment in an external CSS file:</a:t>
            </a:r>
          </a:p>
          <a:p>
            <a:pPr marL="457200" lvl="1" indent="0">
              <a:buNone/>
            </a:pPr>
            <a:r>
              <a:rPr lang="en-US" altLang="en-US" sz="1800" i="1" dirty="0"/>
              <a:t>/* comments go here */</a:t>
            </a:r>
          </a:p>
          <a:p>
            <a:r>
              <a:rPr lang="en-US" altLang="en-US" dirty="0"/>
              <a:t>// does not work for CSS.</a:t>
            </a:r>
          </a:p>
          <a:p>
            <a:r>
              <a:rPr lang="en-US" altLang="en-US" dirty="0"/>
              <a:t>For each of your external CSS files, use the CSS validation service to check whether it conforms to the CSS3 specification: </a:t>
            </a:r>
            <a:r>
              <a:rPr lang="en-US" altLang="en-US" dirty="0">
                <a:hlinkClick r:id="rId3"/>
              </a:rPr>
              <a:t>http://jigsaw.w3.org/css-validator</a:t>
            </a:r>
            <a:endParaRPr lang="en-US" altLang="en-US" dirty="0"/>
          </a:p>
        </p:txBody>
      </p:sp>
      <p:sp>
        <p:nvSpPr>
          <p:cNvPr id="46085" name="Text Box 7" descr="note number"/>
          <p:cNvSpPr txBox="1">
            <a:spLocks noChangeArrowheads="1"/>
          </p:cNvSpPr>
          <p:nvPr/>
        </p:nvSpPr>
        <p:spPr bwMode="auto">
          <a:xfrm>
            <a:off x="381000" y="22860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46086" name="Text Box 8" descr="note number"/>
          <p:cNvSpPr txBox="1">
            <a:spLocks noChangeArrowheads="1"/>
          </p:cNvSpPr>
          <p:nvPr/>
        </p:nvSpPr>
        <p:spPr bwMode="auto">
          <a:xfrm>
            <a:off x="381000" y="48006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2</a:t>
            </a:r>
          </a:p>
        </p:txBody>
      </p:sp>
      <p:sp>
        <p:nvSpPr>
          <p:cNvPr id="46087" name="Text Box 8" descr="note number"/>
          <p:cNvSpPr txBox="1">
            <a:spLocks noChangeArrowheads="1"/>
          </p:cNvSpPr>
          <p:nvPr/>
        </p:nvSpPr>
        <p:spPr bwMode="auto">
          <a:xfrm>
            <a:off x="381000" y="52578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a:xfrm>
            <a:off x="0" y="121033"/>
            <a:ext cx="12192000" cy="1002089"/>
          </a:xfrm>
        </p:spPr>
        <p:txBody>
          <a:bodyPr/>
          <a:lstStyle/>
          <a:p>
            <a:r>
              <a:rPr lang="en-US" altLang="en-US" dirty="0"/>
              <a:t>CSS Properties (1 of 2)</a:t>
            </a:r>
          </a:p>
        </p:txBody>
      </p:sp>
      <p:sp>
        <p:nvSpPr>
          <p:cNvPr id="48132" name="Rectangle 3"/>
          <p:cNvSpPr>
            <a:spLocks noGrp="1" noChangeArrowheads="1"/>
          </p:cNvSpPr>
          <p:nvPr>
            <p:ph idx="1"/>
          </p:nvPr>
        </p:nvSpPr>
        <p:spPr>
          <a:xfrm>
            <a:off x="925830" y="1490870"/>
            <a:ext cx="10287000" cy="4699047"/>
          </a:xfrm>
        </p:spPr>
        <p:txBody>
          <a:bodyPr/>
          <a:lstStyle/>
          <a:p>
            <a:r>
              <a:rPr lang="en-US" altLang="en-US" dirty="0"/>
              <a:t>A CSS property specifies one aspect of an HTML element’s appearance.</a:t>
            </a:r>
          </a:p>
          <a:p>
            <a:r>
              <a:rPr lang="en-US" altLang="en-US" dirty="0"/>
              <a:t>With so many available properties (96), CSS3 provides great flexibility in terms of specifying appearances.</a:t>
            </a:r>
          </a:p>
          <a:p>
            <a:r>
              <a:rPr lang="en-US" altLang="en-US" dirty="0"/>
              <a:t>When writing CSS rules, looking up properties on the WHATWG site is rather difficult because the site is rather disjointed. The Mozilla Developer Network has an easier-to-navigate CSS reference at:</a:t>
            </a:r>
          </a:p>
          <a:p>
            <a:pPr lvl="1"/>
            <a:r>
              <a:rPr lang="en-US" altLang="en-US" dirty="0">
                <a:hlinkClick r:id="rId3"/>
              </a:rPr>
              <a:t>https://developer.mozilla.org/en-US/docs/Web/CSS/Reference</a:t>
            </a:r>
            <a:endParaRPr lang="en-US" altLang="en-US" dirty="0"/>
          </a:p>
        </p:txBody>
      </p:sp>
      <p:sp>
        <p:nvSpPr>
          <p:cNvPr id="48133" name="Text Box 6" descr="note number"/>
          <p:cNvSpPr txBox="1">
            <a:spLocks noChangeArrowheads="1"/>
          </p:cNvSpPr>
          <p:nvPr/>
        </p:nvSpPr>
        <p:spPr bwMode="auto">
          <a:xfrm>
            <a:off x="533400" y="4876801"/>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1</a:t>
            </a:r>
          </a:p>
        </p:txBody>
      </p:sp>
      <p:sp>
        <p:nvSpPr>
          <p:cNvPr id="48134" name="Text Box 7" descr="note number"/>
          <p:cNvSpPr txBox="1">
            <a:spLocks noChangeArrowheads="1"/>
          </p:cNvSpPr>
          <p:nvPr/>
        </p:nvSpPr>
        <p:spPr bwMode="auto">
          <a:xfrm>
            <a:off x="533400" y="5191126"/>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2</a:t>
            </a:r>
          </a:p>
        </p:txBody>
      </p:sp>
      <p:sp>
        <p:nvSpPr>
          <p:cNvPr id="48135" name="Text Box 6" descr="note number"/>
          <p:cNvSpPr txBox="1">
            <a:spLocks noChangeArrowheads="1"/>
          </p:cNvSpPr>
          <p:nvPr/>
        </p:nvSpPr>
        <p:spPr bwMode="auto">
          <a:xfrm>
            <a:off x="533400" y="5505451"/>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3</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a:xfrm>
            <a:off x="0" y="121033"/>
            <a:ext cx="12192000" cy="1002089"/>
          </a:xfrm>
        </p:spPr>
        <p:txBody>
          <a:bodyPr/>
          <a:lstStyle/>
          <a:p>
            <a:r>
              <a:rPr lang="en-US" altLang="en-US" dirty="0"/>
              <a:t>CSS Properties (2 of 2)</a:t>
            </a:r>
          </a:p>
        </p:txBody>
      </p:sp>
      <p:sp>
        <p:nvSpPr>
          <p:cNvPr id="50180" name="Rectangle 3"/>
          <p:cNvSpPr>
            <a:spLocks noGrp="1" noChangeArrowheads="1"/>
          </p:cNvSpPr>
          <p:nvPr>
            <p:ph idx="1"/>
          </p:nvPr>
        </p:nvSpPr>
        <p:spPr>
          <a:xfrm>
            <a:off x="925830" y="1490870"/>
            <a:ext cx="10732770" cy="4699047"/>
          </a:xfrm>
        </p:spPr>
        <p:txBody>
          <a:bodyPr/>
          <a:lstStyle/>
          <a:p>
            <a:r>
              <a:rPr lang="en-US" altLang="en-US" dirty="0"/>
              <a:t>We’ll discuss quite a few of the CSS properties throughout the book, but for this chapter, we’ll limit our discussion to these properties:</a:t>
            </a:r>
          </a:p>
          <a:p>
            <a:pPr lvl="1"/>
            <a:r>
              <a:rPr lang="en-US" altLang="en-US" dirty="0"/>
              <a:t>color properties:</a:t>
            </a:r>
          </a:p>
          <a:p>
            <a:pPr lvl="2"/>
            <a:r>
              <a:rPr lang="en-US" altLang="en-US" sz="2000" dirty="0">
                <a:latin typeface="Courier New" panose="02070309020205020404" pitchFamily="49" charset="0"/>
                <a:cs typeface="Courier New" panose="02070309020205020404" pitchFamily="49" charset="0"/>
              </a:rPr>
              <a:t>color, background-color</a:t>
            </a:r>
          </a:p>
          <a:p>
            <a:pPr lvl="1"/>
            <a:r>
              <a:rPr lang="en-US" altLang="en-US" dirty="0"/>
              <a:t>font properties:</a:t>
            </a:r>
          </a:p>
          <a:p>
            <a:pPr lvl="2"/>
            <a:r>
              <a:rPr lang="fr-FR" altLang="en-US" sz="2000" dirty="0">
                <a:latin typeface="Courier New" panose="02070309020205020404" pitchFamily="49" charset="0"/>
                <a:cs typeface="Courier New" panose="02070309020205020404" pitchFamily="49" charset="0"/>
              </a:rPr>
              <a:t>font-style, font-variant, font-</a:t>
            </a:r>
            <a:r>
              <a:rPr lang="fr-FR" altLang="en-US" sz="2000" dirty="0" err="1">
                <a:latin typeface="Courier New" panose="02070309020205020404" pitchFamily="49" charset="0"/>
                <a:cs typeface="Courier New" panose="02070309020205020404" pitchFamily="49" charset="0"/>
              </a:rPr>
              <a:t>weight</a:t>
            </a:r>
            <a:r>
              <a:rPr lang="fr-FR" altLang="en-US" sz="2000" dirty="0">
                <a:latin typeface="Courier New" panose="02070309020205020404" pitchFamily="49" charset="0"/>
                <a:cs typeface="Courier New" panose="02070309020205020404" pitchFamily="49" charset="0"/>
              </a:rPr>
              <a:t>, font-size, font-</a:t>
            </a:r>
            <a:r>
              <a:rPr lang="fr-FR" altLang="en-US" sz="2000" dirty="0" err="1">
                <a:latin typeface="Courier New" panose="02070309020205020404" pitchFamily="49" charset="0"/>
                <a:cs typeface="Courier New" panose="02070309020205020404" pitchFamily="49" charset="0"/>
              </a:rPr>
              <a:t>family</a:t>
            </a:r>
            <a:r>
              <a:rPr lang="fr-FR" altLang="en-US" sz="2000" dirty="0">
                <a:latin typeface="Courier New" panose="02070309020205020404" pitchFamily="49" charset="0"/>
                <a:cs typeface="Courier New" panose="02070309020205020404" pitchFamily="49" charset="0"/>
              </a:rPr>
              <a:t>, font</a:t>
            </a:r>
          </a:p>
          <a:p>
            <a:pPr lvl="1"/>
            <a:r>
              <a:rPr lang="fr-FR" altLang="en-US" dirty="0" err="1"/>
              <a:t>text</a:t>
            </a:r>
            <a:r>
              <a:rPr lang="fr-FR" altLang="en-US" dirty="0"/>
              <a:t> </a:t>
            </a:r>
            <a:r>
              <a:rPr lang="fr-FR" altLang="en-US" dirty="0" err="1"/>
              <a:t>properties</a:t>
            </a:r>
            <a:r>
              <a:rPr lang="fr-FR" altLang="en-US" dirty="0"/>
              <a:t>:</a:t>
            </a:r>
          </a:p>
          <a:p>
            <a:pPr lvl="2"/>
            <a:r>
              <a:rPr lang="en-US" altLang="en-US" sz="2000" dirty="0">
                <a:latin typeface="Courier New" panose="02070309020205020404" pitchFamily="49" charset="0"/>
                <a:cs typeface="Courier New" panose="02070309020205020404" pitchFamily="49" charset="0"/>
              </a:rPr>
              <a:t>line-height</a:t>
            </a:r>
          </a:p>
          <a:p>
            <a:pPr lvl="2"/>
            <a:r>
              <a:rPr lang="en-US" altLang="en-US" sz="2000" dirty="0">
                <a:latin typeface="Courier New" panose="02070309020205020404" pitchFamily="49" charset="0"/>
                <a:cs typeface="Courier New" panose="02070309020205020404" pitchFamily="49" charset="0"/>
              </a:rPr>
              <a:t>text-align, text-decoration, text-transform, text-indent</a:t>
            </a:r>
          </a:p>
          <a:p>
            <a:pPr lvl="1"/>
            <a:r>
              <a:rPr lang="en-US" altLang="en-US" dirty="0"/>
              <a:t>border properties:</a:t>
            </a:r>
          </a:p>
          <a:p>
            <a:pPr lvl="2"/>
            <a:r>
              <a:rPr lang="en-US" altLang="en-US" sz="2000" dirty="0">
                <a:latin typeface="Courier New" panose="02070309020205020404" pitchFamily="49" charset="0"/>
                <a:cs typeface="Courier New" panose="02070309020205020404" pitchFamily="49" charset="0"/>
              </a:rPr>
              <a:t>border-bottom, border-bottom-color, …</a:t>
            </a:r>
          </a:p>
          <a:p>
            <a:pPr lvl="2"/>
            <a:r>
              <a:rPr lang="en-US" altLang="en-US" sz="2000" dirty="0">
                <a:latin typeface="Courier New" panose="02070309020205020404" pitchFamily="49" charset="0"/>
                <a:cs typeface="Courier New" panose="02070309020205020404" pitchFamily="49" charset="0"/>
              </a:rPr>
              <a:t>margin-bottom, margin-left, …</a:t>
            </a:r>
          </a:p>
          <a:p>
            <a:pPr lvl="2"/>
            <a:r>
              <a:rPr lang="en-US" altLang="en-US" sz="2000" dirty="0">
                <a:latin typeface="Courier New" panose="02070309020205020404" pitchFamily="49" charset="0"/>
                <a:cs typeface="Courier New" panose="02070309020205020404" pitchFamily="49" charset="0"/>
              </a:rPr>
              <a:t>padding-bottom, padding-left, …</a:t>
            </a:r>
          </a:p>
        </p:txBody>
      </p:sp>
      <p:sp>
        <p:nvSpPr>
          <p:cNvPr id="50181" name="Text Box 6" descr="note number"/>
          <p:cNvSpPr txBox="1">
            <a:spLocks noChangeArrowheads="1"/>
          </p:cNvSpPr>
          <p:nvPr/>
        </p:nvSpPr>
        <p:spPr bwMode="auto">
          <a:xfrm>
            <a:off x="457200" y="56388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a:xfrm>
            <a:off x="0" y="121033"/>
            <a:ext cx="12192000" cy="1002089"/>
          </a:xfrm>
        </p:spPr>
        <p:txBody>
          <a:bodyPr/>
          <a:lstStyle/>
          <a:p>
            <a:r>
              <a:rPr lang="en-US" altLang="en-US"/>
              <a:t>Color Properties</a:t>
            </a:r>
          </a:p>
        </p:txBody>
      </p:sp>
      <p:sp>
        <p:nvSpPr>
          <p:cNvPr id="52228" name="Rectangle 3"/>
          <p:cNvSpPr>
            <a:spLocks noGrp="1" noChangeArrowheads="1"/>
          </p:cNvSpPr>
          <p:nvPr>
            <p:ph idx="1"/>
          </p:nvPr>
        </p:nvSpPr>
        <p:spPr>
          <a:xfrm>
            <a:off x="925830" y="1490870"/>
            <a:ext cx="10287000" cy="4699047"/>
          </a:xfrm>
        </p:spPr>
        <p:txBody>
          <a:bodyPr/>
          <a:lstStyle/>
          <a:p>
            <a:r>
              <a:rPr lang="en-US" altLang="en-US" dirty="0"/>
              <a:t>Use the </a:t>
            </a:r>
            <a:r>
              <a:rPr lang="en-US" altLang="en-US" dirty="0">
                <a:latin typeface="Courier New" panose="02070309020205020404" pitchFamily="49" charset="0"/>
                <a:cs typeface="Courier New" panose="02070309020205020404" pitchFamily="49" charset="0"/>
              </a:rPr>
              <a:t>color</a:t>
            </a:r>
            <a:r>
              <a:rPr lang="en-US" altLang="en-US" dirty="0"/>
              <a:t> property to specify the color of an element’s text.</a:t>
            </a:r>
          </a:p>
          <a:p>
            <a:r>
              <a:rPr lang="en-US" altLang="en-US" dirty="0"/>
              <a:t>Use the </a:t>
            </a:r>
            <a:r>
              <a:rPr lang="en-US" altLang="en-US" dirty="0">
                <a:latin typeface="Courier New" panose="02070309020205020404" pitchFamily="49" charset="0"/>
                <a:cs typeface="Courier New" panose="02070309020205020404" pitchFamily="49" charset="0"/>
              </a:rPr>
              <a:t>background-color</a:t>
            </a:r>
            <a:r>
              <a:rPr lang="en-US" altLang="en-US" dirty="0"/>
              <a:t> property to specify the background color of an element.</a:t>
            </a:r>
          </a:p>
          <a:p>
            <a:r>
              <a:rPr lang="en-US" altLang="en-US" dirty="0"/>
              <a:t>Valid </a:t>
            </a:r>
            <a:r>
              <a:rPr lang="en-US" altLang="en-US" dirty="0">
                <a:latin typeface="Courier New" panose="02070309020205020404" pitchFamily="49" charset="0"/>
                <a:cs typeface="Courier New" panose="02070309020205020404" pitchFamily="49" charset="0"/>
              </a:rPr>
              <a:t>color</a:t>
            </a:r>
            <a:r>
              <a:rPr lang="en-US" altLang="en-US" dirty="0"/>
              <a:t> value formats:</a:t>
            </a:r>
          </a:p>
          <a:p>
            <a:pPr lvl="1"/>
            <a:r>
              <a:rPr lang="en-US" altLang="en-US" dirty="0"/>
              <a:t>color name – e.g., </a:t>
            </a:r>
            <a:r>
              <a:rPr lang="en-US" altLang="en-US" dirty="0">
                <a:latin typeface="Courier New" panose="02070309020205020404" pitchFamily="49" charset="0"/>
                <a:cs typeface="Courier New" panose="02070309020205020404" pitchFamily="49" charset="0"/>
              </a:rPr>
              <a:t>red</a:t>
            </a:r>
          </a:p>
          <a:p>
            <a:pPr lvl="1"/>
            <a:r>
              <a:rPr lang="en-US" altLang="en-US" dirty="0"/>
              <a:t>RGB value – specifies amounts of red, green, and blue</a:t>
            </a:r>
          </a:p>
          <a:p>
            <a:pPr lvl="1"/>
            <a:r>
              <a:rPr lang="en-US" altLang="en-US" dirty="0"/>
              <a:t>RGBA value – specifies RGB, plus the amount of opacity</a:t>
            </a:r>
          </a:p>
          <a:p>
            <a:pPr lvl="1"/>
            <a:r>
              <a:rPr lang="en-US" altLang="en-US" dirty="0"/>
              <a:t>HSL value – specifies amounts of hue, saturation, and lightness</a:t>
            </a:r>
          </a:p>
          <a:p>
            <a:pPr lvl="1"/>
            <a:r>
              <a:rPr lang="en-US" altLang="en-US" dirty="0"/>
              <a:t>HSLA value – specifies HSL, plus the amount of opacity</a:t>
            </a:r>
          </a:p>
        </p:txBody>
      </p:sp>
      <p:sp>
        <p:nvSpPr>
          <p:cNvPr id="52229" name="Text Box 15" descr="note number"/>
          <p:cNvSpPr txBox="1">
            <a:spLocks noChangeArrowheads="1"/>
          </p:cNvSpPr>
          <p:nvPr/>
        </p:nvSpPr>
        <p:spPr bwMode="auto">
          <a:xfrm>
            <a:off x="228600" y="3271837"/>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1</a:t>
            </a:r>
          </a:p>
        </p:txBody>
      </p:sp>
      <p:sp>
        <p:nvSpPr>
          <p:cNvPr id="52230" name="Text Box 15" descr="note number"/>
          <p:cNvSpPr txBox="1">
            <a:spLocks noChangeArrowheads="1"/>
          </p:cNvSpPr>
          <p:nvPr/>
        </p:nvSpPr>
        <p:spPr bwMode="auto">
          <a:xfrm>
            <a:off x="228600" y="5578473"/>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a:xfrm>
            <a:off x="0" y="121033"/>
            <a:ext cx="12192000" cy="1002089"/>
          </a:xfrm>
        </p:spPr>
        <p:txBody>
          <a:bodyPr/>
          <a:lstStyle/>
          <a:p>
            <a:r>
              <a:rPr lang="en-US" altLang="en-US"/>
              <a:t>Color Names</a:t>
            </a:r>
          </a:p>
        </p:txBody>
      </p:sp>
      <p:sp>
        <p:nvSpPr>
          <p:cNvPr id="15364" name="Rectangle 3"/>
          <p:cNvSpPr>
            <a:spLocks noGrp="1" noChangeArrowheads="1"/>
          </p:cNvSpPr>
          <p:nvPr>
            <p:ph idx="1"/>
          </p:nvPr>
        </p:nvSpPr>
        <p:spPr>
          <a:xfrm>
            <a:off x="838200" y="1295400"/>
            <a:ext cx="10287000" cy="4699000"/>
          </a:xfrm>
        </p:spPr>
        <p:txBody>
          <a:bodyPr/>
          <a:lstStyle/>
          <a:p>
            <a:r>
              <a:rPr lang="en-US" dirty="0"/>
              <a:t>Color names</a:t>
            </a:r>
          </a:p>
          <a:p>
            <a:pPr lvl="1"/>
            <a:r>
              <a:rPr lang="en-US" dirty="0"/>
              <a:t>The CSS3 specification defines 147 color names, and the major browsers support all those colors.</a:t>
            </a:r>
          </a:p>
          <a:p>
            <a:pPr lvl="1"/>
            <a:r>
              <a:rPr lang="en-US" dirty="0"/>
              <a:t>To view the color names and their associated colors, go to </a:t>
            </a:r>
            <a:r>
              <a:rPr lang="en-US" dirty="0">
                <a:hlinkClick r:id="rId3"/>
              </a:rPr>
              <a:t>https://developer.mozilla.org/en-US/docs/Web/CSS/named-color</a:t>
            </a:r>
            <a:r>
              <a:rPr lang="en-US" dirty="0"/>
              <a:t>.</a:t>
            </a:r>
          </a:p>
          <a:p>
            <a:r>
              <a:rPr lang="en-US" dirty="0"/>
              <a:t>RGB values</a:t>
            </a:r>
          </a:p>
          <a:p>
            <a:pPr lvl="1"/>
            <a:r>
              <a:rPr lang="en-US" dirty="0"/>
              <a:t>RGB stands for red, green, blue</a:t>
            </a:r>
          </a:p>
          <a:p>
            <a:pPr lvl="1"/>
            <a:r>
              <a:rPr lang="en-US" dirty="0"/>
              <a:t>An RGB value specifies the amounts of red, green, and blue that mix together to form the displayed color.</a:t>
            </a:r>
          </a:p>
          <a:p>
            <a:pPr lvl="1"/>
            <a:r>
              <a:rPr lang="en-US" dirty="0"/>
              <a:t>There are three ways to specify the amount of each color:</a:t>
            </a:r>
          </a:p>
          <a:p>
            <a:pPr lvl="2"/>
            <a:r>
              <a:rPr lang="en-US" dirty="0"/>
              <a:t>percentage – 0% to 100% for each color</a:t>
            </a:r>
          </a:p>
          <a:p>
            <a:pPr lvl="2"/>
            <a:r>
              <a:rPr lang="en-US" dirty="0"/>
              <a:t>integer – 0 to 255 for each color</a:t>
            </a:r>
          </a:p>
          <a:p>
            <a:pPr lvl="2"/>
            <a:r>
              <a:rPr lang="en-US" dirty="0"/>
              <a:t>hexadecimal – 00 to ff for each color</a:t>
            </a:r>
          </a:p>
        </p:txBody>
      </p:sp>
      <p:sp>
        <p:nvSpPr>
          <p:cNvPr id="54277" name="Text Box 15" descr="note number"/>
          <p:cNvSpPr txBox="1">
            <a:spLocks noChangeArrowheads="1"/>
          </p:cNvSpPr>
          <p:nvPr/>
        </p:nvSpPr>
        <p:spPr bwMode="auto">
          <a:xfrm>
            <a:off x="304800" y="2667000"/>
            <a:ext cx="266700" cy="30797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1</a:t>
            </a:r>
          </a:p>
        </p:txBody>
      </p:sp>
      <p:sp>
        <p:nvSpPr>
          <p:cNvPr id="54278" name="Text Box 15" descr="note number"/>
          <p:cNvSpPr txBox="1">
            <a:spLocks noChangeArrowheads="1"/>
          </p:cNvSpPr>
          <p:nvPr/>
        </p:nvSpPr>
        <p:spPr bwMode="auto">
          <a:xfrm>
            <a:off x="304800" y="2992293"/>
            <a:ext cx="266700" cy="30797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2</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a:xfrm>
            <a:off x="0" y="121033"/>
            <a:ext cx="12192000" cy="1002089"/>
          </a:xfrm>
        </p:spPr>
        <p:txBody>
          <a:bodyPr/>
          <a:lstStyle/>
          <a:p>
            <a:r>
              <a:rPr lang="en-US" altLang="en-US" dirty="0"/>
              <a:t>RGB Values with Percentages</a:t>
            </a:r>
          </a:p>
        </p:txBody>
      </p:sp>
      <p:sp>
        <p:nvSpPr>
          <p:cNvPr id="15364" name="Rectangle 3"/>
          <p:cNvSpPr>
            <a:spLocks noGrp="1" noChangeArrowheads="1"/>
          </p:cNvSpPr>
          <p:nvPr>
            <p:ph idx="1"/>
          </p:nvPr>
        </p:nvSpPr>
        <p:spPr>
          <a:xfrm>
            <a:off x="925830" y="1490870"/>
            <a:ext cx="10287000" cy="4699047"/>
          </a:xfrm>
        </p:spPr>
        <p:txBody>
          <a:bodyPr/>
          <a:lstStyle/>
          <a:p>
            <a:r>
              <a:rPr lang="en-US" dirty="0"/>
              <a:t>For percentage RGB values, use the following form, where each percentage value must be between 0% and 100%.</a:t>
            </a:r>
          </a:p>
          <a:p>
            <a:pPr marL="457200" lvl="1" indent="0">
              <a:buNone/>
            </a:pPr>
            <a:r>
              <a:rPr lang="en-US" i="1" dirty="0" err="1">
                <a:latin typeface="Courier New" panose="02070309020205020404" pitchFamily="49" charset="0"/>
                <a:cs typeface="Courier New" panose="02070309020205020404" pitchFamily="49" charset="0"/>
              </a:rPr>
              <a:t>rgb</a:t>
            </a:r>
            <a:r>
              <a:rPr lang="en-US" i="1" dirty="0">
                <a:latin typeface="Courier New" panose="02070309020205020404" pitchFamily="49" charset="0"/>
                <a:cs typeface="Courier New" panose="02070309020205020404" pitchFamily="49" charset="0"/>
              </a:rPr>
              <a:t> </a:t>
            </a:r>
            <a:r>
              <a:rPr lang="en-US" i="1" dirty="0"/>
              <a:t>(red-percentage, green-percentage, blue-percentage)</a:t>
            </a:r>
          </a:p>
          <a:p>
            <a:r>
              <a:rPr lang="en-US" dirty="0"/>
              <a:t>Examples:</a:t>
            </a:r>
          </a:p>
          <a:p>
            <a:pPr marL="457200" lvl="1" indent="0">
              <a:buNone/>
            </a:pPr>
            <a:r>
              <a:rPr lang="en-US" sz="2000" dirty="0">
                <a:latin typeface="Courier New" panose="02070309020205020404" pitchFamily="49" charset="0"/>
                <a:cs typeface="Courier New" panose="02070309020205020404" pitchFamily="49" charset="0"/>
              </a:rPr>
              <a:t>&lt;style&gt;</a:t>
            </a:r>
          </a:p>
          <a:p>
            <a:pPr marL="457200" lvl="1" indent="0">
              <a:buNone/>
            </a:pPr>
            <a:r>
              <a:rPr lang="en-US" sz="2000" dirty="0">
                <a:latin typeface="Courier New" panose="02070309020205020404" pitchFamily="49" charset="0"/>
                <a:cs typeface="Courier New" panose="02070309020205020404" pitchFamily="49" charset="0"/>
              </a:rPr>
              <a:t>  .black {background-color: </a:t>
            </a:r>
            <a:r>
              <a:rPr lang="en-US" sz="2000" dirty="0" err="1">
                <a:latin typeface="Courier New" panose="02070309020205020404" pitchFamily="49" charset="0"/>
                <a:cs typeface="Courier New" panose="02070309020205020404" pitchFamily="49" charset="0"/>
              </a:rPr>
              <a:t>rgb</a:t>
            </a:r>
            <a:r>
              <a:rPr lang="en-US" sz="2000" dirty="0">
                <a:latin typeface="Courier New" panose="02070309020205020404" pitchFamily="49" charset="0"/>
                <a:cs typeface="Courier New" panose="02070309020205020404" pitchFamily="49" charset="0"/>
              </a:rPr>
              <a:t>(0%,0%,0%);}</a:t>
            </a:r>
          </a:p>
          <a:p>
            <a:pPr marL="457200" lvl="1" indent="0">
              <a:buNone/>
            </a:pPr>
            <a:r>
              <a:rPr lang="en-US" sz="2000" dirty="0">
                <a:latin typeface="Courier New" panose="02070309020205020404" pitchFamily="49" charset="0"/>
                <a:cs typeface="Courier New" panose="02070309020205020404" pitchFamily="49" charset="0"/>
              </a:rPr>
              <a:t>  .white {color: </a:t>
            </a:r>
            <a:r>
              <a:rPr lang="en-US" sz="2000" dirty="0" err="1">
                <a:latin typeface="Courier New" panose="02070309020205020404" pitchFamily="49" charset="0"/>
                <a:cs typeface="Courier New" panose="02070309020205020404" pitchFamily="49" charset="0"/>
              </a:rPr>
              <a:t>rgb</a:t>
            </a:r>
            <a:r>
              <a:rPr lang="en-US" sz="2000" dirty="0">
                <a:latin typeface="Courier New" panose="02070309020205020404" pitchFamily="49" charset="0"/>
                <a:cs typeface="Courier New" panose="02070309020205020404" pitchFamily="49" charset="0"/>
              </a:rPr>
              <a:t>(100%,100%,100%);}</a:t>
            </a:r>
          </a:p>
          <a:p>
            <a:pPr marL="457200" lvl="1" indent="0">
              <a:buNone/>
            </a:pPr>
            <a:r>
              <a:rPr lang="en-US" sz="2000" dirty="0">
                <a:latin typeface="Courier New" panose="02070309020205020404" pitchFamily="49" charset="0"/>
                <a:cs typeface="Courier New" panose="02070309020205020404" pitchFamily="49" charset="0"/>
              </a:rPr>
              <a:t>  .eggplant {background-color: </a:t>
            </a:r>
            <a:r>
              <a:rPr lang="en-US" sz="2000" dirty="0" err="1">
                <a:latin typeface="Courier New" panose="02070309020205020404" pitchFamily="49" charset="0"/>
                <a:cs typeface="Courier New" panose="02070309020205020404" pitchFamily="49" charset="0"/>
              </a:rPr>
              <a:t>rgb</a:t>
            </a:r>
            <a:r>
              <a:rPr lang="en-US" sz="2000" dirty="0">
                <a:latin typeface="Courier New" panose="02070309020205020404" pitchFamily="49" charset="0"/>
                <a:cs typeface="Courier New" panose="02070309020205020404" pitchFamily="49" charset="0"/>
              </a:rPr>
              <a:t>(52%,20%,45%);}</a:t>
            </a:r>
          </a:p>
          <a:p>
            <a:pPr marL="457200" lvl="1" indent="0">
              <a:buNone/>
            </a:pPr>
            <a:r>
              <a:rPr lang="en-US" sz="2000" dirty="0">
                <a:latin typeface="Courier New" panose="02070309020205020404" pitchFamily="49" charset="0"/>
                <a:cs typeface="Courier New" panose="02070309020205020404" pitchFamily="49" charset="0"/>
              </a:rPr>
              <a:t>&lt;/style&gt;</a:t>
            </a:r>
          </a:p>
          <a:p>
            <a:pPr lvl="1"/>
            <a:endParaRPr lang="en-US" dirty="0"/>
          </a:p>
          <a:p>
            <a:pPr lvl="1"/>
            <a:endParaRPr lang="en-US" dirty="0"/>
          </a:p>
        </p:txBody>
      </p:sp>
      <p:sp>
        <p:nvSpPr>
          <p:cNvPr id="56325" name="Text Box 15" descr="note number"/>
          <p:cNvSpPr txBox="1">
            <a:spLocks noChangeArrowheads="1"/>
          </p:cNvSpPr>
          <p:nvPr/>
        </p:nvSpPr>
        <p:spPr bwMode="auto">
          <a:xfrm>
            <a:off x="533400" y="3525838"/>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1</a:t>
            </a:r>
          </a:p>
        </p:txBody>
      </p:sp>
      <p:sp>
        <p:nvSpPr>
          <p:cNvPr id="2" name="Rectangle 1"/>
          <p:cNvSpPr>
            <a:spLocks noChangeArrowheads="1"/>
          </p:cNvSpPr>
          <p:nvPr/>
        </p:nvSpPr>
        <p:spPr bwMode="auto">
          <a:xfrm>
            <a:off x="1828800" y="4987926"/>
            <a:ext cx="5486400" cy="381000"/>
          </a:xfrm>
          <a:prstGeom prst="rect">
            <a:avLst/>
          </a:prstGeom>
          <a:solidFill>
            <a:srgbClr val="853373"/>
          </a:solidFill>
          <a:ln w="9525" algn="ctr">
            <a:solidFill>
              <a:schemeClr val="tx1"/>
            </a:solidFill>
            <a:miter lim="800000"/>
            <a:headEnd/>
            <a:tailEnd/>
          </a:ln>
        </p:spPr>
        <p:txBody>
          <a:bodyPr wrap="none"/>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eaLnBrk="1" hangingPunct="1">
              <a:spcBef>
                <a:spcPct val="0"/>
              </a:spcBef>
              <a:buClrTx/>
              <a:buSzTx/>
              <a:buFontTx/>
              <a:buNone/>
            </a:pPr>
            <a:endParaRPr lang="en-US" altLang="en-US"/>
          </a:p>
        </p:txBody>
      </p:sp>
      <p:sp>
        <p:nvSpPr>
          <p:cNvPr id="56327" name="Text Box 15" descr="note number"/>
          <p:cNvSpPr txBox="1">
            <a:spLocks noChangeArrowheads="1"/>
          </p:cNvSpPr>
          <p:nvPr/>
        </p:nvSpPr>
        <p:spPr bwMode="auto">
          <a:xfrm>
            <a:off x="533400" y="39624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a:xfrm>
            <a:off x="0" y="121033"/>
            <a:ext cx="12192000" cy="1002089"/>
          </a:xfrm>
        </p:spPr>
        <p:txBody>
          <a:bodyPr/>
          <a:lstStyle/>
          <a:p>
            <a:r>
              <a:rPr lang="en-US" altLang="en-US" dirty="0"/>
              <a:t>RGB Values with Integers</a:t>
            </a:r>
          </a:p>
        </p:txBody>
      </p:sp>
      <p:sp>
        <p:nvSpPr>
          <p:cNvPr id="15364" name="Rectangle 3"/>
          <p:cNvSpPr>
            <a:spLocks noGrp="1" noChangeArrowheads="1"/>
          </p:cNvSpPr>
          <p:nvPr>
            <p:ph idx="1"/>
          </p:nvPr>
        </p:nvSpPr>
        <p:spPr>
          <a:xfrm>
            <a:off x="925830" y="1490870"/>
            <a:ext cx="10287000" cy="4699047"/>
          </a:xfrm>
        </p:spPr>
        <p:txBody>
          <a:bodyPr/>
          <a:lstStyle/>
          <a:p>
            <a:r>
              <a:rPr lang="en-US" dirty="0"/>
              <a:t>For integer RGB values, use the following form, where each integer must be between 0 and 255, with 0 providing the least intensity and 255 providing the most:</a:t>
            </a:r>
          </a:p>
          <a:p>
            <a:pPr marL="457200" lvl="1" indent="0">
              <a:buNone/>
            </a:pPr>
            <a:r>
              <a:rPr lang="en-US" i="1" dirty="0" err="1">
                <a:latin typeface="Courier New" panose="02070309020205020404" pitchFamily="49" charset="0"/>
                <a:cs typeface="Courier New" panose="02070309020205020404" pitchFamily="49" charset="0"/>
              </a:rPr>
              <a:t>rgb</a:t>
            </a:r>
            <a:r>
              <a:rPr lang="en-US" i="1" dirty="0"/>
              <a:t> (red-</a:t>
            </a:r>
            <a:r>
              <a:rPr lang="en-US" i="1" dirty="0" err="1"/>
              <a:t>integer,green</a:t>
            </a:r>
            <a:r>
              <a:rPr lang="en-US" i="1" dirty="0"/>
              <a:t>-</a:t>
            </a:r>
            <a:r>
              <a:rPr lang="en-US" i="1" dirty="0" err="1"/>
              <a:t>integer,blue</a:t>
            </a:r>
            <a:r>
              <a:rPr lang="en-US" i="1" dirty="0"/>
              <a:t>-integer)</a:t>
            </a:r>
          </a:p>
          <a:p>
            <a:r>
              <a:rPr lang="en-US" dirty="0"/>
              <a:t>Example:</a:t>
            </a:r>
          </a:p>
          <a:p>
            <a:pPr marL="457200" lvl="1" indent="0">
              <a:buNone/>
            </a:pPr>
            <a:r>
              <a:rPr lang="en-US" sz="2000" dirty="0">
                <a:latin typeface="Courier New" panose="02070309020205020404" pitchFamily="49" charset="0"/>
                <a:cs typeface="Courier New" panose="02070309020205020404" pitchFamily="49" charset="0"/>
              </a:rPr>
              <a:t>&lt;style&gt;</a:t>
            </a:r>
          </a:p>
          <a:p>
            <a:pPr marL="457200" lvl="1" indent="0">
              <a:buNone/>
            </a:pPr>
            <a:r>
              <a:rPr lang="en-US" sz="2000" dirty="0">
                <a:latin typeface="Courier New" panose="02070309020205020404" pitchFamily="49" charset="0"/>
                <a:cs typeface="Courier New" panose="02070309020205020404" pitchFamily="49" charset="0"/>
              </a:rPr>
              <a:t>  .favorite1 {color: </a:t>
            </a:r>
            <a:r>
              <a:rPr lang="en-US" sz="2000" dirty="0" err="1">
                <a:latin typeface="Courier New" panose="02070309020205020404" pitchFamily="49" charset="0"/>
                <a:cs typeface="Courier New" panose="02070309020205020404" pitchFamily="49" charset="0"/>
              </a:rPr>
              <a:t>rgb</a:t>
            </a:r>
            <a:r>
              <a:rPr lang="en-US" sz="2000" dirty="0">
                <a:latin typeface="Courier New" panose="02070309020205020404" pitchFamily="49" charset="0"/>
                <a:cs typeface="Courier New" panose="02070309020205020404" pitchFamily="49" charset="0"/>
              </a:rPr>
              <a:t>(144,238,144);}</a:t>
            </a:r>
          </a:p>
          <a:p>
            <a:pPr marL="457200" lvl="1" indent="0">
              <a:buNone/>
            </a:pPr>
            <a:r>
              <a:rPr lang="en-US" sz="2000" dirty="0">
                <a:latin typeface="Courier New" panose="02070309020205020404" pitchFamily="49" charset="0"/>
                <a:cs typeface="Courier New" panose="02070309020205020404" pitchFamily="49" charset="0"/>
              </a:rPr>
              <a:t>  .favorite2 {color: </a:t>
            </a:r>
            <a:r>
              <a:rPr lang="en-US" sz="2000" dirty="0" err="1">
                <a:latin typeface="Courier New" panose="02070309020205020404" pitchFamily="49" charset="0"/>
                <a:cs typeface="Courier New" panose="02070309020205020404" pitchFamily="49" charset="0"/>
              </a:rPr>
              <a:t>rgb</a:t>
            </a:r>
            <a:r>
              <a:rPr lang="en-US" sz="2000" dirty="0">
                <a:latin typeface="Courier New" panose="02070309020205020404" pitchFamily="49" charset="0"/>
                <a:cs typeface="Courier New" panose="02070309020205020404" pitchFamily="49" charset="0"/>
              </a:rPr>
              <a:t>(128,128,128);}</a:t>
            </a:r>
          </a:p>
          <a:p>
            <a:pPr marL="457200" lvl="1" indent="0">
              <a:buNone/>
            </a:pPr>
            <a:r>
              <a:rPr lang="en-US" sz="2000" dirty="0">
                <a:latin typeface="Courier New" panose="02070309020205020404" pitchFamily="49" charset="0"/>
                <a:cs typeface="Courier New" panose="02070309020205020404" pitchFamily="49" charset="0"/>
              </a:rPr>
              <a:t>&lt;/style&gt;</a:t>
            </a:r>
          </a:p>
        </p:txBody>
      </p:sp>
      <p:sp>
        <p:nvSpPr>
          <p:cNvPr id="58373" name="Text Box 15" descr="note number"/>
          <p:cNvSpPr txBox="1">
            <a:spLocks noChangeArrowheads="1"/>
          </p:cNvSpPr>
          <p:nvPr/>
        </p:nvSpPr>
        <p:spPr bwMode="auto">
          <a:xfrm>
            <a:off x="381000" y="3840163"/>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58374" name="Text Box 15" descr="note number"/>
          <p:cNvSpPr txBox="1">
            <a:spLocks noChangeArrowheads="1"/>
          </p:cNvSpPr>
          <p:nvPr/>
        </p:nvSpPr>
        <p:spPr bwMode="auto">
          <a:xfrm>
            <a:off x="381000" y="43434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0" y="121033"/>
            <a:ext cx="12192000" cy="1002089"/>
          </a:xfrm>
        </p:spPr>
        <p:txBody>
          <a:bodyPr/>
          <a:lstStyle/>
          <a:p>
            <a:r>
              <a:rPr lang="en-US" altLang="en-US" dirty="0"/>
              <a:t>RGB Values with Hexadecimal</a:t>
            </a:r>
          </a:p>
        </p:txBody>
      </p:sp>
      <p:sp>
        <p:nvSpPr>
          <p:cNvPr id="60420" name="Rectangle 3"/>
          <p:cNvSpPr>
            <a:spLocks noGrp="1" noChangeArrowheads="1"/>
          </p:cNvSpPr>
          <p:nvPr>
            <p:ph idx="1"/>
          </p:nvPr>
        </p:nvSpPr>
        <p:spPr>
          <a:xfrm>
            <a:off x="925830" y="1490870"/>
            <a:ext cx="10287000" cy="4699047"/>
          </a:xfrm>
        </p:spPr>
        <p:txBody>
          <a:bodyPr/>
          <a:lstStyle/>
          <a:p>
            <a:r>
              <a:rPr lang="en-US" altLang="en-US" dirty="0"/>
              <a:t>Hexadecimal RGB value:</a:t>
            </a:r>
          </a:p>
          <a:p>
            <a:pPr lvl="1"/>
            <a:r>
              <a:rPr lang="en-US" altLang="en-US" dirty="0"/>
              <a:t>Use the form </a:t>
            </a:r>
            <a:r>
              <a:rPr lang="en-US" altLang="en-US" i="1" dirty="0"/>
              <a:t>#</a:t>
            </a:r>
            <a:r>
              <a:rPr lang="en-US" altLang="en-US" i="1" dirty="0" err="1"/>
              <a:t>rrggbb</a:t>
            </a:r>
            <a:r>
              <a:rPr lang="en-US" altLang="en-US" i="1" dirty="0"/>
              <a:t> </a:t>
            </a:r>
            <a:r>
              <a:rPr lang="en-US" altLang="en-US" dirty="0"/>
              <a:t>where:</a:t>
            </a:r>
          </a:p>
          <a:p>
            <a:pPr lvl="2"/>
            <a:r>
              <a:rPr lang="en-US" altLang="en-US" sz="2000" dirty="0" err="1"/>
              <a:t>rr</a:t>
            </a:r>
            <a:r>
              <a:rPr lang="en-US" altLang="en-US" sz="2000" dirty="0"/>
              <a:t> = two hexadecimal digits that specify the amount of red.</a:t>
            </a:r>
          </a:p>
          <a:p>
            <a:pPr lvl="2"/>
            <a:r>
              <a:rPr lang="en-US" altLang="en-US" sz="2000" dirty="0"/>
              <a:t>gg = two hexadecimal digits that specify the amount of green.</a:t>
            </a:r>
          </a:p>
          <a:p>
            <a:pPr lvl="2"/>
            <a:r>
              <a:rPr lang="en-US" altLang="en-US" sz="2000" dirty="0"/>
              <a:t>bb = two hexadecimal digits that specify the amount of blue.</a:t>
            </a:r>
          </a:p>
          <a:p>
            <a:pPr lvl="2"/>
            <a:r>
              <a:rPr lang="en-US" altLang="en-US" sz="2000" dirty="0"/>
              <a:t>00 is the least intensity for the specified color (so </a:t>
            </a:r>
            <a:r>
              <a:rPr lang="en-US" altLang="en-US" sz="2000" dirty="0">
                <a:latin typeface="Courier New" panose="02070309020205020404" pitchFamily="49" charset="0"/>
                <a:cs typeface="Courier New" panose="02070309020205020404" pitchFamily="49" charset="0"/>
              </a:rPr>
              <a:t>#000000 </a:t>
            </a:r>
            <a:r>
              <a:rPr lang="en-US" altLang="en-US" sz="2000" dirty="0"/>
              <a:t>is black).</a:t>
            </a:r>
          </a:p>
          <a:p>
            <a:pPr lvl="2"/>
            <a:r>
              <a:rPr lang="en-US" altLang="en-US" sz="2000" dirty="0" err="1"/>
              <a:t>ff</a:t>
            </a:r>
            <a:r>
              <a:rPr lang="en-US" altLang="en-US" sz="2000" dirty="0"/>
              <a:t> is the greatest intensity for the specified color (so </a:t>
            </a:r>
            <a:r>
              <a:rPr lang="en-US" altLang="en-US" sz="2000" dirty="0">
                <a:latin typeface="Courier New" panose="02070309020205020404" pitchFamily="49" charset="0"/>
                <a:cs typeface="Courier New" panose="02070309020205020404" pitchFamily="49" charset="0"/>
              </a:rPr>
              <a:t>#</a:t>
            </a:r>
            <a:r>
              <a:rPr lang="en-US" altLang="en-US" sz="2000" dirty="0" err="1">
                <a:latin typeface="Courier New" panose="02070309020205020404" pitchFamily="49" charset="0"/>
                <a:cs typeface="Courier New" panose="02070309020205020404" pitchFamily="49" charset="0"/>
              </a:rPr>
              <a:t>ffffff</a:t>
            </a:r>
            <a:r>
              <a:rPr lang="en-US" altLang="en-US" sz="2000" dirty="0">
                <a:latin typeface="Courier New" panose="02070309020205020404" pitchFamily="49" charset="0"/>
                <a:cs typeface="Courier New" panose="02070309020205020404" pitchFamily="49" charset="0"/>
              </a:rPr>
              <a:t> </a:t>
            </a:r>
            <a:r>
              <a:rPr lang="en-US" altLang="en-US" sz="2000" dirty="0"/>
              <a:t>is white).</a:t>
            </a:r>
          </a:p>
          <a:p>
            <a:pPr lvl="1"/>
            <a:r>
              <a:rPr lang="en-US" altLang="en-US" dirty="0"/>
              <a:t>What colors do the following values represent?</a:t>
            </a:r>
          </a:p>
          <a:p>
            <a:pPr marL="914400" lvl="2" indent="0">
              <a:buNone/>
            </a:pPr>
            <a:r>
              <a:rPr lang="en-US" altLang="en-US" sz="2000" dirty="0">
                <a:latin typeface="Courier New" panose="02070309020205020404" pitchFamily="49" charset="0"/>
                <a:cs typeface="Courier New" panose="02070309020205020404" pitchFamily="49" charset="0"/>
              </a:rPr>
              <a:t>#</a:t>
            </a:r>
            <a:r>
              <a:rPr lang="en-US" altLang="en-US" sz="2000" dirty="0" err="1">
                <a:latin typeface="Courier New" panose="02070309020205020404" pitchFamily="49" charset="0"/>
                <a:cs typeface="Courier New" panose="02070309020205020404" pitchFamily="49" charset="0"/>
              </a:rPr>
              <a:t>bbbbff</a:t>
            </a:r>
            <a:endParaRPr lang="en-US" altLang="en-US" sz="2000" dirty="0">
              <a:latin typeface="Courier New" panose="02070309020205020404" pitchFamily="49" charset="0"/>
              <a:cs typeface="Courier New" panose="02070309020205020404" pitchFamily="49" charset="0"/>
            </a:endParaRPr>
          </a:p>
          <a:p>
            <a:pPr marL="914400" lvl="2" indent="0">
              <a:buNone/>
            </a:pPr>
            <a:r>
              <a:rPr lang="en-US" altLang="en-US" sz="2000" dirty="0">
                <a:latin typeface="Courier New" panose="02070309020205020404" pitchFamily="49" charset="0"/>
                <a:cs typeface="Courier New" panose="02070309020205020404" pitchFamily="49" charset="0"/>
              </a:rPr>
              <a:t>#005500</a:t>
            </a:r>
          </a:p>
          <a:p>
            <a:pPr lvl="1"/>
            <a:r>
              <a:rPr lang="en-US" altLang="en-US" dirty="0"/>
              <a:t>CSS rule with a hex RGB value:</a:t>
            </a:r>
          </a:p>
          <a:p>
            <a:pPr marL="914400" lvl="2" indent="0">
              <a:buNone/>
            </a:pPr>
            <a:r>
              <a:rPr lang="en-US" altLang="en-US" sz="1800" dirty="0">
                <a:latin typeface="Courier New" panose="02070309020205020404" pitchFamily="49" charset="0"/>
                <a:cs typeface="Courier New" panose="02070309020205020404" pitchFamily="49" charset="0"/>
              </a:rPr>
              <a:t>&lt;style&gt;</a:t>
            </a:r>
          </a:p>
          <a:p>
            <a:pPr marL="914400" lvl="2" indent="0">
              <a:buNone/>
            </a:pPr>
            <a:r>
              <a:rPr lang="en-US" altLang="en-US" sz="1800" dirty="0">
                <a:latin typeface="Courier New" panose="02070309020205020404" pitchFamily="49" charset="0"/>
                <a:cs typeface="Courier New" panose="02070309020205020404" pitchFamily="49" charset="0"/>
              </a:rPr>
              <a:t>  .fan-dip {background-color: #ffd06c;}</a:t>
            </a:r>
          </a:p>
          <a:p>
            <a:pPr marL="914400" lvl="2" indent="0">
              <a:buNone/>
            </a:pPr>
            <a:r>
              <a:rPr lang="en-US" altLang="en-US" sz="1800" dirty="0">
                <a:latin typeface="Courier New" panose="02070309020205020404" pitchFamily="49" charset="0"/>
                <a:cs typeface="Courier New" panose="02070309020205020404" pitchFamily="49" charset="0"/>
              </a:rPr>
              <a:t>&lt;/style&gt;</a:t>
            </a:r>
          </a:p>
        </p:txBody>
      </p:sp>
      <p:sp>
        <p:nvSpPr>
          <p:cNvPr id="60421" name="Text Box 15" descr="note number"/>
          <p:cNvSpPr txBox="1">
            <a:spLocks noChangeArrowheads="1"/>
          </p:cNvSpPr>
          <p:nvPr/>
        </p:nvSpPr>
        <p:spPr bwMode="auto">
          <a:xfrm>
            <a:off x="381000" y="22860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60422" name="Text Box 15" descr="note number"/>
          <p:cNvSpPr txBox="1">
            <a:spLocks noChangeArrowheads="1"/>
          </p:cNvSpPr>
          <p:nvPr/>
        </p:nvSpPr>
        <p:spPr bwMode="auto">
          <a:xfrm>
            <a:off x="381000" y="455295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2</a:t>
            </a:r>
          </a:p>
        </p:txBody>
      </p:sp>
      <p:sp>
        <p:nvSpPr>
          <p:cNvPr id="60423" name="Text Box 15" descr="note number"/>
          <p:cNvSpPr txBox="1">
            <a:spLocks noChangeArrowheads="1"/>
          </p:cNvSpPr>
          <p:nvPr/>
        </p:nvSpPr>
        <p:spPr bwMode="auto">
          <a:xfrm>
            <a:off x="381000" y="5695951"/>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3</a:t>
            </a:r>
          </a:p>
        </p:txBody>
      </p:sp>
      <p:sp>
        <p:nvSpPr>
          <p:cNvPr id="60424" name="Text Box 15" descr="note number"/>
          <p:cNvSpPr txBox="1">
            <a:spLocks noChangeArrowheads="1"/>
          </p:cNvSpPr>
          <p:nvPr/>
        </p:nvSpPr>
        <p:spPr bwMode="auto">
          <a:xfrm>
            <a:off x="381000" y="6032754"/>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4</a:t>
            </a:r>
          </a:p>
        </p:txBody>
      </p:sp>
      <p:sp>
        <p:nvSpPr>
          <p:cNvPr id="12" name="Rectangle 11"/>
          <p:cNvSpPr>
            <a:spLocks noChangeArrowheads="1"/>
          </p:cNvSpPr>
          <p:nvPr/>
        </p:nvSpPr>
        <p:spPr bwMode="auto">
          <a:xfrm>
            <a:off x="3429000" y="4494764"/>
            <a:ext cx="1524000" cy="215348"/>
          </a:xfrm>
          <a:prstGeom prst="rect">
            <a:avLst/>
          </a:prstGeom>
          <a:solidFill>
            <a:srgbClr val="BBBBFF"/>
          </a:solidFill>
          <a:ln w="9525" algn="ctr">
            <a:solidFill>
              <a:schemeClr val="tx1"/>
            </a:solidFill>
            <a:miter lim="800000"/>
            <a:headEnd/>
            <a:tailEnd/>
          </a:ln>
        </p:spPr>
        <p:txBody>
          <a:bodyPr wrap="none"/>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eaLnBrk="1" hangingPunct="1">
              <a:spcBef>
                <a:spcPct val="0"/>
              </a:spcBef>
              <a:buClrTx/>
              <a:buSzTx/>
              <a:buFontTx/>
              <a:buNone/>
            </a:pPr>
            <a:endParaRPr lang="en-US" altLang="en-US"/>
          </a:p>
        </p:txBody>
      </p:sp>
      <p:sp>
        <p:nvSpPr>
          <p:cNvPr id="13" name="Rectangle 12"/>
          <p:cNvSpPr>
            <a:spLocks noChangeArrowheads="1"/>
          </p:cNvSpPr>
          <p:nvPr/>
        </p:nvSpPr>
        <p:spPr bwMode="auto">
          <a:xfrm>
            <a:off x="3429000" y="4854889"/>
            <a:ext cx="1524000" cy="215348"/>
          </a:xfrm>
          <a:prstGeom prst="rect">
            <a:avLst/>
          </a:prstGeom>
          <a:solidFill>
            <a:srgbClr val="005500"/>
          </a:solidFill>
          <a:ln w="9525" algn="ctr">
            <a:solidFill>
              <a:schemeClr val="tx1"/>
            </a:solidFill>
            <a:miter lim="800000"/>
            <a:headEnd/>
            <a:tailEnd/>
          </a:ln>
        </p:spPr>
        <p:txBody>
          <a:bodyPr wrap="none"/>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eaLnBrk="1" hangingPunct="1">
              <a:spcBef>
                <a:spcPct val="0"/>
              </a:spcBef>
              <a:buClrTx/>
              <a:buSzTx/>
              <a:buFontTx/>
              <a:buNone/>
            </a:pPr>
            <a:endParaRPr lang="en-US" altLang="en-US"/>
          </a:p>
        </p:txBody>
      </p:sp>
      <p:sp>
        <p:nvSpPr>
          <p:cNvPr id="14" name="Rectangle 13"/>
          <p:cNvSpPr>
            <a:spLocks noChangeArrowheads="1"/>
          </p:cNvSpPr>
          <p:nvPr/>
        </p:nvSpPr>
        <p:spPr bwMode="auto">
          <a:xfrm>
            <a:off x="7391400" y="5819776"/>
            <a:ext cx="1524000" cy="381000"/>
          </a:xfrm>
          <a:prstGeom prst="rect">
            <a:avLst/>
          </a:prstGeom>
          <a:solidFill>
            <a:srgbClr val="FFD06C"/>
          </a:solidFill>
          <a:ln w="9525" algn="ctr">
            <a:solidFill>
              <a:schemeClr val="tx1"/>
            </a:solidFill>
            <a:miter lim="800000"/>
            <a:headEnd/>
            <a:tailEnd/>
          </a:ln>
        </p:spPr>
        <p:txBody>
          <a:bodyPr wrap="none"/>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eaLnBrk="1" hangingPunct="1">
              <a:spcBef>
                <a:spcPct val="0"/>
              </a:spcBef>
              <a:buClrTx/>
              <a:buSzTx/>
              <a:buFontTx/>
              <a:buNone/>
            </a:pP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a:xfrm>
            <a:off x="0" y="121033"/>
            <a:ext cx="12192000" cy="1002089"/>
          </a:xfrm>
        </p:spPr>
        <p:txBody>
          <a:bodyPr/>
          <a:lstStyle/>
          <a:p>
            <a:r>
              <a:rPr lang="en-US" altLang="en-US" dirty="0"/>
              <a:t>RGBA Values for Color (1 of 2)</a:t>
            </a:r>
          </a:p>
        </p:txBody>
      </p:sp>
      <p:sp>
        <p:nvSpPr>
          <p:cNvPr id="15364" name="Rectangle 3"/>
          <p:cNvSpPr>
            <a:spLocks noGrp="1" noChangeArrowheads="1"/>
          </p:cNvSpPr>
          <p:nvPr>
            <p:ph idx="1"/>
          </p:nvPr>
        </p:nvSpPr>
        <p:spPr>
          <a:xfrm>
            <a:off x="925830" y="1490870"/>
            <a:ext cx="10287000" cy="4699047"/>
          </a:xfrm>
        </p:spPr>
        <p:txBody>
          <a:bodyPr/>
          <a:lstStyle/>
          <a:p>
            <a:r>
              <a:rPr lang="en-US" dirty="0"/>
              <a:t>If you want to add transparency to a </a:t>
            </a:r>
            <a:r>
              <a:rPr lang="en-US" dirty="0">
                <a:latin typeface="Courier New" panose="02070309020205020404" pitchFamily="49" charset="0"/>
                <a:cs typeface="Courier New" panose="02070309020205020404" pitchFamily="49" charset="0"/>
              </a:rPr>
              <a:t>color</a:t>
            </a:r>
            <a:r>
              <a:rPr lang="en-US" dirty="0"/>
              <a:t> value, use the </a:t>
            </a:r>
            <a:r>
              <a:rPr lang="en-US" dirty="0" err="1">
                <a:latin typeface="Courier New" panose="02070309020205020404" pitchFamily="49" charset="0"/>
                <a:cs typeface="Courier New" panose="02070309020205020404" pitchFamily="49" charset="0"/>
              </a:rPr>
              <a:t>rgba</a:t>
            </a:r>
            <a:r>
              <a:rPr lang="en-US" dirty="0"/>
              <a:t> construct with one of these two formats:</a:t>
            </a:r>
          </a:p>
          <a:p>
            <a:pPr marL="457200" lvl="1" indent="0">
              <a:buNone/>
            </a:pPr>
            <a:r>
              <a:rPr lang="en-US" dirty="0" err="1">
                <a:latin typeface="Courier New" panose="02070309020205020404" pitchFamily="49" charset="0"/>
                <a:cs typeface="Courier New" panose="02070309020205020404" pitchFamily="49" charset="0"/>
              </a:rPr>
              <a:t>rgba</a:t>
            </a:r>
            <a:r>
              <a:rPr lang="en-US" i="1" dirty="0"/>
              <a:t>(red-integer,green-integer,blue-integer,opacity-number-between-0-and-1)</a:t>
            </a:r>
          </a:p>
          <a:p>
            <a:pPr marL="457200" lvl="1" indent="0">
              <a:buNone/>
            </a:pPr>
            <a:r>
              <a:rPr lang="en-US" dirty="0" err="1">
                <a:latin typeface="Courier New" panose="02070309020205020404" pitchFamily="49" charset="0"/>
                <a:cs typeface="Courier New" panose="02070309020205020404" pitchFamily="49" charset="0"/>
              </a:rPr>
              <a:t>rgba</a:t>
            </a:r>
            <a:r>
              <a:rPr lang="en-US" i="1" dirty="0"/>
              <a:t>(red-percent,green-percent,blue-percent,opacity-number-between-0-and-1)</a:t>
            </a:r>
          </a:p>
          <a:p>
            <a:r>
              <a:rPr lang="en-US" dirty="0"/>
              <a:t>For the </a:t>
            </a:r>
            <a:r>
              <a:rPr lang="en-US" dirty="0" err="1">
                <a:latin typeface="Courier New" panose="02070309020205020404" pitchFamily="49" charset="0"/>
                <a:cs typeface="Courier New" panose="02070309020205020404" pitchFamily="49" charset="0"/>
              </a:rPr>
              <a:t>rgba</a:t>
            </a:r>
            <a:r>
              <a:rPr lang="en-US" dirty="0"/>
              <a:t> construct’s first three values, you can use integers (0 through 255) or percentages for red, green, and blue, but you cannot use hex.</a:t>
            </a:r>
          </a:p>
          <a:p>
            <a:r>
              <a:rPr lang="en-US" dirty="0"/>
              <a:t>The </a:t>
            </a:r>
            <a:r>
              <a:rPr lang="en-US" dirty="0" err="1">
                <a:latin typeface="Courier New" panose="02070309020205020404" pitchFamily="49" charset="0"/>
                <a:cs typeface="Courier New" panose="02070309020205020404" pitchFamily="49" charset="0"/>
              </a:rPr>
              <a:t>rgba</a:t>
            </a:r>
            <a:r>
              <a:rPr lang="en-US" dirty="0"/>
              <a:t> construct’s fourth value, opacity, determines how opaque the color is, where opaque means non-transparent.</a:t>
            </a:r>
          </a:p>
        </p:txBody>
      </p:sp>
      <p:sp>
        <p:nvSpPr>
          <p:cNvPr id="62469" name="Text Box 15" descr="note number"/>
          <p:cNvSpPr txBox="1">
            <a:spLocks noChangeArrowheads="1"/>
          </p:cNvSpPr>
          <p:nvPr/>
        </p:nvSpPr>
        <p:spPr bwMode="auto">
          <a:xfrm>
            <a:off x="662594" y="56388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a:xfrm>
            <a:off x="0" y="121033"/>
            <a:ext cx="12192000" cy="1002089"/>
          </a:xfrm>
        </p:spPr>
        <p:txBody>
          <a:bodyPr/>
          <a:lstStyle/>
          <a:p>
            <a:r>
              <a:rPr lang="en-US" altLang="en-US" dirty="0"/>
              <a:t>RGBA Values for Color (2 of 2)</a:t>
            </a:r>
          </a:p>
        </p:txBody>
      </p:sp>
      <p:sp>
        <p:nvSpPr>
          <p:cNvPr id="15364" name="Rectangle 3"/>
          <p:cNvSpPr>
            <a:spLocks noGrp="1" noChangeArrowheads="1"/>
          </p:cNvSpPr>
          <p:nvPr>
            <p:ph idx="1"/>
          </p:nvPr>
        </p:nvSpPr>
        <p:spPr>
          <a:xfrm>
            <a:off x="925830" y="1490870"/>
            <a:ext cx="10287000" cy="4699047"/>
          </a:xfrm>
        </p:spPr>
        <p:txBody>
          <a:bodyPr/>
          <a:lstStyle/>
          <a:p>
            <a:r>
              <a:rPr lang="en-US" dirty="0"/>
              <a:t>The opacity value must be a decimal number between 0 and 1, with 0 being completely transparent, 1 being completely opaque, and .5 halfway in between.</a:t>
            </a:r>
          </a:p>
          <a:p>
            <a:r>
              <a:rPr lang="en-US" dirty="0"/>
              <a:t>You can use the </a:t>
            </a:r>
            <a:r>
              <a:rPr lang="en-US" dirty="0" err="1">
                <a:latin typeface="Courier New" panose="02070309020205020404" pitchFamily="49" charset="0"/>
                <a:cs typeface="Courier New" panose="02070309020205020404" pitchFamily="49" charset="0"/>
              </a:rPr>
              <a:t>rgba</a:t>
            </a:r>
            <a:r>
              <a:rPr lang="en-US" dirty="0"/>
              <a:t> construct with the (foreground)</a:t>
            </a:r>
            <a:r>
              <a:rPr lang="en-US" dirty="0">
                <a:latin typeface="Courier New" panose="02070309020205020404" pitchFamily="49" charset="0"/>
                <a:cs typeface="Courier New" panose="02070309020205020404" pitchFamily="49" charset="0"/>
              </a:rPr>
              <a:t> color </a:t>
            </a:r>
            <a:r>
              <a:rPr lang="en-US" dirty="0"/>
              <a:t>property, but it’s more common to use it with the </a:t>
            </a:r>
            <a:r>
              <a:rPr lang="en-US" dirty="0">
                <a:latin typeface="Courier New" panose="02070309020205020404" pitchFamily="49" charset="0"/>
                <a:cs typeface="Courier New" panose="02070309020205020404" pitchFamily="49" charset="0"/>
              </a:rPr>
              <a:t>background-color</a:t>
            </a:r>
            <a:r>
              <a:rPr lang="en-US" dirty="0"/>
              <a:t> property, as you’ll see in the following example…</a:t>
            </a:r>
          </a:p>
        </p:txBody>
      </p:sp>
    </p:spTree>
    <p:extLst>
      <p:ext uri="{BB962C8B-B14F-4D97-AF65-F5344CB8AC3E}">
        <p14:creationId xmlns:p14="http://schemas.microsoft.com/office/powerpoint/2010/main" val="14306992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p:nvPr>
        </p:nvSpPr>
        <p:spPr>
          <a:xfrm>
            <a:off x="0" y="121033"/>
            <a:ext cx="12192000" cy="1002089"/>
          </a:xfrm>
        </p:spPr>
        <p:txBody>
          <a:bodyPr/>
          <a:lstStyle/>
          <a:p>
            <a:r>
              <a:rPr lang="en-US" altLang="en-US"/>
              <a:t>RGBA Example</a:t>
            </a:r>
          </a:p>
        </p:txBody>
      </p:sp>
      <p:sp>
        <p:nvSpPr>
          <p:cNvPr id="64516" name="Rectangle 3"/>
          <p:cNvSpPr>
            <a:spLocks noGrp="1" noChangeArrowheads="1"/>
          </p:cNvSpPr>
          <p:nvPr>
            <p:ph idx="1"/>
          </p:nvPr>
        </p:nvSpPr>
        <p:spPr>
          <a:xfrm>
            <a:off x="925830" y="1490870"/>
            <a:ext cx="10287000" cy="4699047"/>
          </a:xfrm>
        </p:spPr>
        <p:txBody>
          <a:bodyPr/>
          <a:lstStyle/>
          <a:p>
            <a:pPr marL="457200" lvl="1" indent="0">
              <a:buNone/>
            </a:pPr>
            <a:r>
              <a:rPr lang="en-US" altLang="en-US" sz="1200" dirty="0">
                <a:latin typeface="Courier New" panose="02070309020205020404" pitchFamily="49" charset="0"/>
                <a:cs typeface="Courier New" panose="02070309020205020404" pitchFamily="49" charset="0"/>
              </a:rPr>
              <a:t>&lt;style&gt;</a:t>
            </a:r>
          </a:p>
          <a:p>
            <a:pPr marL="457200" lvl="1" indent="0">
              <a:buNone/>
            </a:pPr>
            <a:r>
              <a:rPr lang="en-US" altLang="en-US" sz="1200" dirty="0">
                <a:latin typeface="Courier New" panose="02070309020205020404" pitchFamily="49" charset="0"/>
                <a:cs typeface="Courier New" panose="02070309020205020404" pitchFamily="49" charset="0"/>
              </a:rPr>
              <a:t>  .red {background-color: red;}</a:t>
            </a:r>
          </a:p>
          <a:p>
            <a:pPr marL="457200" lvl="1" indent="0">
              <a:buNone/>
            </a:pPr>
            <a:r>
              <a:rPr lang="en-US" altLang="en-US" sz="1200" dirty="0">
                <a:latin typeface="Courier New" panose="02070309020205020404" pitchFamily="49" charset="0"/>
                <a:cs typeface="Courier New" panose="02070309020205020404" pitchFamily="49" charset="0"/>
              </a:rPr>
              <a:t>  .yellow-</a:t>
            </a:r>
            <a:r>
              <a:rPr lang="en-US" altLang="en-US" sz="1200" dirty="0" err="1">
                <a:latin typeface="Courier New" panose="02070309020205020404" pitchFamily="49" charset="0"/>
                <a:cs typeface="Courier New" panose="02070309020205020404" pitchFamily="49" charset="0"/>
              </a:rPr>
              <a:t>bg</a:t>
            </a:r>
            <a:r>
              <a:rPr lang="en-US" altLang="en-US" sz="1200" dirty="0">
                <a:latin typeface="Courier New" panose="02070309020205020404" pitchFamily="49" charset="0"/>
                <a:cs typeface="Courier New" panose="02070309020205020404" pitchFamily="49" charset="0"/>
              </a:rPr>
              <a:t> {background-color: </a:t>
            </a:r>
            <a:r>
              <a:rPr lang="en-US" altLang="en-US" sz="1200" dirty="0" err="1">
                <a:latin typeface="Courier New" panose="02070309020205020404" pitchFamily="49" charset="0"/>
                <a:cs typeface="Courier New" panose="02070309020205020404" pitchFamily="49" charset="0"/>
              </a:rPr>
              <a:t>rgb</a:t>
            </a:r>
            <a:r>
              <a:rPr lang="en-US" altLang="en-US" sz="1200" dirty="0">
                <a:latin typeface="Courier New" panose="02070309020205020404" pitchFamily="49" charset="0"/>
                <a:cs typeface="Courier New" panose="02070309020205020404" pitchFamily="49" charset="0"/>
              </a:rPr>
              <a:t>(255,255,0);}</a:t>
            </a:r>
          </a:p>
          <a:p>
            <a:pPr marL="457200" lvl="1" indent="0">
              <a:buNone/>
            </a:pPr>
            <a:r>
              <a:rPr lang="en-US" altLang="en-US" sz="1200" dirty="0">
                <a:latin typeface="Courier New" panose="02070309020205020404" pitchFamily="49" charset="0"/>
                <a:cs typeface="Courier New" panose="02070309020205020404" pitchFamily="49" charset="0"/>
              </a:rPr>
              <a:t>  .yellow-bg2 {background-color: </a:t>
            </a:r>
            <a:r>
              <a:rPr lang="en-US" altLang="en-US" sz="1200" dirty="0" err="1">
                <a:latin typeface="Courier New" panose="02070309020205020404" pitchFamily="49" charset="0"/>
                <a:cs typeface="Courier New" panose="02070309020205020404" pitchFamily="49" charset="0"/>
              </a:rPr>
              <a:t>rgba</a:t>
            </a:r>
            <a:r>
              <a:rPr lang="en-US" altLang="en-US" sz="1200" dirty="0">
                <a:latin typeface="Courier New" panose="02070309020205020404" pitchFamily="49" charset="0"/>
                <a:cs typeface="Courier New" panose="02070309020205020404" pitchFamily="49" charset="0"/>
              </a:rPr>
              <a:t>(255,255,0,.4);}</a:t>
            </a:r>
          </a:p>
          <a:p>
            <a:pPr marL="457200" lvl="1" indent="0">
              <a:buNone/>
            </a:pPr>
            <a:r>
              <a:rPr lang="en-US" altLang="en-US" sz="1200" dirty="0">
                <a:latin typeface="Courier New" panose="02070309020205020404" pitchFamily="49" charset="0"/>
                <a:cs typeface="Courier New" panose="02070309020205020404" pitchFamily="49" charset="0"/>
              </a:rPr>
              <a:t>&lt;/style&gt;</a:t>
            </a:r>
          </a:p>
          <a:p>
            <a:pPr marL="457200" lvl="1" indent="0">
              <a:buNone/>
            </a:pPr>
            <a:endParaRPr lang="en-US" altLang="en-US" sz="1200" dirty="0">
              <a:latin typeface="Courier New" panose="02070309020205020404" pitchFamily="49" charset="0"/>
              <a:cs typeface="Courier New" panose="02070309020205020404" pitchFamily="49" charset="0"/>
            </a:endParaRPr>
          </a:p>
          <a:p>
            <a:pPr marL="457200" lvl="1" indent="0">
              <a:buNone/>
            </a:pPr>
            <a:r>
              <a:rPr lang="en-US" altLang="en-US" sz="1200" dirty="0">
                <a:latin typeface="Courier New" panose="02070309020205020404" pitchFamily="49" charset="0"/>
                <a:cs typeface="Courier New" panose="02070309020205020404" pitchFamily="49" charset="0"/>
              </a:rPr>
              <a:t>&lt;body class="red"&gt;</a:t>
            </a:r>
          </a:p>
          <a:p>
            <a:pPr marL="457200" lvl="1" indent="0">
              <a:buNone/>
            </a:pPr>
            <a:r>
              <a:rPr lang="en-US" altLang="en-US" sz="1200" dirty="0">
                <a:latin typeface="Courier New" panose="02070309020205020404" pitchFamily="49" charset="0"/>
                <a:cs typeface="Courier New" panose="02070309020205020404" pitchFamily="49" charset="0"/>
              </a:rPr>
              <a:t>&lt;p class="yellow-</a:t>
            </a:r>
            <a:r>
              <a:rPr lang="en-US" altLang="en-US" sz="1200" dirty="0" err="1">
                <a:latin typeface="Courier New" panose="02070309020205020404" pitchFamily="49" charset="0"/>
                <a:cs typeface="Courier New" panose="02070309020205020404" pitchFamily="49" charset="0"/>
              </a:rPr>
              <a:t>bg</a:t>
            </a:r>
            <a:r>
              <a:rPr lang="en-US" altLang="en-US" sz="1200" dirty="0">
                <a:latin typeface="Courier New" panose="02070309020205020404" pitchFamily="49" charset="0"/>
                <a:cs typeface="Courier New" panose="02070309020205020404" pitchFamily="49" charset="0"/>
              </a:rPr>
              <a:t>"&gt;This line uses </a:t>
            </a:r>
            <a:r>
              <a:rPr lang="en-US" altLang="en-US" sz="1200" dirty="0" err="1">
                <a:latin typeface="Courier New" panose="02070309020205020404" pitchFamily="49" charset="0"/>
                <a:cs typeface="Courier New" panose="02070309020205020404" pitchFamily="49" charset="0"/>
              </a:rPr>
              <a:t>rgb</a:t>
            </a:r>
            <a:r>
              <a:rPr lang="en-US" altLang="en-US" sz="1200" dirty="0">
                <a:latin typeface="Courier New" panose="02070309020205020404" pitchFamily="49" charset="0"/>
                <a:cs typeface="Courier New" panose="02070309020205020404" pitchFamily="49" charset="0"/>
              </a:rPr>
              <a:t>(255,255,0) for the background.&lt;/p&gt;</a:t>
            </a:r>
          </a:p>
          <a:p>
            <a:pPr marL="457200" lvl="1" indent="0">
              <a:buNone/>
            </a:pPr>
            <a:r>
              <a:rPr lang="en-US" altLang="en-US" sz="1200" dirty="0">
                <a:latin typeface="Courier New" panose="02070309020205020404" pitchFamily="49" charset="0"/>
                <a:cs typeface="Courier New" panose="02070309020205020404" pitchFamily="49" charset="0"/>
              </a:rPr>
              <a:t>&lt;p class="yellow-bg2"&gt;This line uses </a:t>
            </a:r>
            <a:r>
              <a:rPr lang="en-US" altLang="en-US" sz="1200" dirty="0" err="1">
                <a:latin typeface="Courier New" panose="02070309020205020404" pitchFamily="49" charset="0"/>
                <a:cs typeface="Courier New" panose="02070309020205020404" pitchFamily="49" charset="0"/>
              </a:rPr>
              <a:t>rgba</a:t>
            </a:r>
            <a:r>
              <a:rPr lang="en-US" altLang="en-US" sz="1200" dirty="0">
                <a:latin typeface="Courier New" panose="02070309020205020404" pitchFamily="49" charset="0"/>
                <a:cs typeface="Courier New" panose="02070309020205020404" pitchFamily="49" charset="0"/>
              </a:rPr>
              <a:t>(255,255,0,.4) for the background.&lt;/p&gt;</a:t>
            </a:r>
          </a:p>
          <a:p>
            <a:pPr marL="457200" lvl="1" indent="0">
              <a:buNone/>
            </a:pPr>
            <a:r>
              <a:rPr lang="en-US" altLang="en-US" sz="1200" dirty="0">
                <a:latin typeface="Courier New" panose="02070309020205020404" pitchFamily="49" charset="0"/>
                <a:cs typeface="Courier New" panose="02070309020205020404" pitchFamily="49" charset="0"/>
              </a:rPr>
              <a:t>&lt;/body&gt;</a:t>
            </a:r>
          </a:p>
          <a:p>
            <a:pPr marL="457200" lvl="1" indent="0">
              <a:buNone/>
            </a:pPr>
            <a:endParaRPr lang="en-US" altLang="en-US" dirty="0"/>
          </a:p>
        </p:txBody>
      </p:sp>
      <p:sp>
        <p:nvSpPr>
          <p:cNvPr id="64517" name="Text Box 15" descr="note number"/>
          <p:cNvSpPr txBox="1">
            <a:spLocks noChangeArrowheads="1"/>
          </p:cNvSpPr>
          <p:nvPr/>
        </p:nvSpPr>
        <p:spPr bwMode="auto">
          <a:xfrm>
            <a:off x="533400" y="28194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2</a:t>
            </a:r>
          </a:p>
        </p:txBody>
      </p:sp>
      <p:sp>
        <p:nvSpPr>
          <p:cNvPr id="64518" name="Text Box 15" descr="note number"/>
          <p:cNvSpPr txBox="1">
            <a:spLocks noChangeArrowheads="1"/>
          </p:cNvSpPr>
          <p:nvPr/>
        </p:nvSpPr>
        <p:spPr bwMode="auto">
          <a:xfrm>
            <a:off x="533400" y="1333707"/>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64519" name="Text Box 15" descr="note number"/>
          <p:cNvSpPr txBox="1">
            <a:spLocks noChangeArrowheads="1"/>
          </p:cNvSpPr>
          <p:nvPr/>
        </p:nvSpPr>
        <p:spPr bwMode="auto">
          <a:xfrm>
            <a:off x="536864" y="3133293"/>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3</a:t>
            </a:r>
          </a:p>
        </p:txBody>
      </p:sp>
      <p:sp>
        <p:nvSpPr>
          <p:cNvPr id="9" name="Text Box 15" descr="note number"/>
          <p:cNvSpPr txBox="1">
            <a:spLocks noChangeArrowheads="1"/>
          </p:cNvSpPr>
          <p:nvPr/>
        </p:nvSpPr>
        <p:spPr bwMode="auto">
          <a:xfrm>
            <a:off x="533400" y="34290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4</a:t>
            </a:r>
          </a:p>
        </p:txBody>
      </p:sp>
      <p:sp>
        <p:nvSpPr>
          <p:cNvPr id="10" name="Text Box 15" descr="note number"/>
          <p:cNvSpPr txBox="1">
            <a:spLocks noChangeArrowheads="1"/>
          </p:cNvSpPr>
          <p:nvPr/>
        </p:nvSpPr>
        <p:spPr bwMode="auto">
          <a:xfrm>
            <a:off x="533400" y="5866067"/>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5</a:t>
            </a:r>
          </a:p>
        </p:txBody>
      </p:sp>
      <p:pic>
        <p:nvPicPr>
          <p:cNvPr id="11" name="Picture 10" descr="The command window lists the following codes for the r g b a construct of a webpage. Left angle bracket exclamation doctype h t m l right angle bracket. Left angle bracket html lang equals to double quotation starts e n double quotation ends right angle bracket. Left angle bracket head right angle bracket. Left angle bracket meta charset equals to double quotation starts u t f hyphen 8 double quotation ends right angle bracket. Left angle bracket meta name equals to double quotation starts author double quotation ends content equals to double quotation starts John Dean double quotation ends right angle bracket. Left angle bracket title right angle bracket Opacity Example left angle bracket slash title right angle bracket. Left angle bracket style right angle bracket. Dot red left brace background-color colon red semi-colon right brace. Dot yellow hyphen b g left brace background-color colon r g b left parenthesis 255,255,0 right parenthesis semi-colon right brace. Dot yellow hyphen b g 2 left brace background-color colon r g b a left parenthesis 255,255,0, 0.4 right parenthesis semi-colon right brace. Dot yellow hyphen b g 3 left brace background-color colon r g b left parenthesis 255,255,0 right parenthesis semi-colon opacity colon 0.4 semi-colon right brace. Left angle bracket slash style right angle bracket. Left angle bracket slash head right angle bracket. Left angle bracket body class equals to double quotation starts red double quotation ends right angle bracket. Left angle bracket p class equals to double quotation starts yellow hyphen b g double quotation ends right angle bracket. This line uses background hyphen color colon r g b left parenthesis 255,255,0 right parenthesis semi-colon. Left angle bracket slash p right angle bracket. Left angle bracket p class equals to double quotation starts yellow hyphen b g 2 double quotation ends right angle bracket. This line uses background-color colon r g b a left parenthesis 255,255,0, 0.4 right parenthesis semi-colon. Left angle bracket slash p right angle bracket. Left angle bracket p class equals to double quotation starts yellow hyphen b g 3 double quotation ends right angle bracket. This line uses background-color colon r g b left parenthesis 255,255,0 right parenthesis semi-colon opacity colon 0.4 semi-colon. Left angle bracket slash p right angle bracket. Left angle bracket slash body right angle bracket. Left angle bracket slash html right angle bracket. The r g b a coordinates are labeled r g b a construct and the opacity element is labeled opacity property. At the bottom is a screenshot of the Opacity example webpage displaying the three types of background colors used with corresponding opacities."/>
          <p:cNvPicPr>
            <a:picLocks noChangeAspect="1"/>
          </p:cNvPicPr>
          <p:nvPr/>
        </p:nvPicPr>
        <p:blipFill>
          <a:blip r:embed="rId3" cstate="print"/>
          <a:stretch>
            <a:fillRect/>
          </a:stretch>
        </p:blipFill>
        <p:spPr>
          <a:xfrm>
            <a:off x="3121152" y="3755136"/>
            <a:ext cx="5260848" cy="1807464"/>
          </a:xfrm>
          <a:prstGeom prst="rect">
            <a:avLst/>
          </a:prstGeom>
        </p:spPr>
      </p:pic>
      <p:sp>
        <p:nvSpPr>
          <p:cNvPr id="12" name="TextBox 11"/>
          <p:cNvSpPr txBox="1"/>
          <p:nvPr/>
        </p:nvSpPr>
        <p:spPr>
          <a:xfrm>
            <a:off x="2971800" y="5638800"/>
            <a:ext cx="5486400" cy="646331"/>
          </a:xfrm>
          <a:prstGeom prst="rect">
            <a:avLst/>
          </a:prstGeom>
          <a:noFill/>
        </p:spPr>
        <p:txBody>
          <a:bodyPr wrap="square" rtlCol="0">
            <a:spAutoFit/>
          </a:bodyPr>
          <a:lstStyle/>
          <a:p>
            <a:r>
              <a:rPr lang="en-US" b="1" dirty="0">
                <a:latin typeface="Arial" pitchFamily="34" charset="0"/>
                <a:cs typeface="Arial" pitchFamily="34" charset="0"/>
              </a:rPr>
              <a:t>Figure 3.12b </a:t>
            </a:r>
            <a:r>
              <a:rPr lang="en-US" dirty="0">
                <a:latin typeface="Arial" pitchFamily="34" charset="0"/>
                <a:cs typeface="Arial" pitchFamily="34" charset="0"/>
              </a:rPr>
              <a:t>An opacity example that illustrates the </a:t>
            </a:r>
            <a:r>
              <a:rPr lang="en-US" dirty="0" err="1">
                <a:latin typeface="Arial" pitchFamily="34" charset="0"/>
                <a:cs typeface="Arial" pitchFamily="34" charset="0"/>
              </a:rPr>
              <a:t>rgba</a:t>
            </a:r>
            <a:r>
              <a:rPr lang="en-US" dirty="0">
                <a:latin typeface="Arial" pitchFamily="34" charset="0"/>
                <a:cs typeface="Arial" pitchFamily="34" charset="0"/>
              </a:rPr>
              <a:t> construct and the opacity property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a:xfrm>
            <a:off x="0" y="121033"/>
            <a:ext cx="12192000" cy="1002089"/>
          </a:xfrm>
        </p:spPr>
        <p:txBody>
          <a:bodyPr/>
          <a:lstStyle/>
          <a:p>
            <a:r>
              <a:rPr lang="en-US" altLang="en-US" dirty="0"/>
              <a:t>HSL Values for Color</a:t>
            </a:r>
          </a:p>
        </p:txBody>
      </p:sp>
      <p:sp>
        <p:nvSpPr>
          <p:cNvPr id="66564" name="Rectangle 3"/>
          <p:cNvSpPr>
            <a:spLocks noGrp="1" noChangeArrowheads="1"/>
          </p:cNvSpPr>
          <p:nvPr>
            <p:ph idx="1"/>
          </p:nvPr>
        </p:nvSpPr>
        <p:spPr>
          <a:xfrm>
            <a:off x="925830" y="1320753"/>
            <a:ext cx="10287000" cy="5308647"/>
          </a:xfrm>
        </p:spPr>
        <p:txBody>
          <a:bodyPr/>
          <a:lstStyle/>
          <a:p>
            <a:r>
              <a:rPr lang="en-US" altLang="en-US" dirty="0"/>
              <a:t>For HSL color values, HSL stands for hue, saturation, and lightness.</a:t>
            </a:r>
          </a:p>
          <a:p>
            <a:pPr lvl="1"/>
            <a:r>
              <a:rPr lang="en-US" altLang="en-US" dirty="0"/>
              <a:t>Hue is a degree on the color wheel (from 0 to 360) where 0 (or 360) is red, 120 is green, 240 is blue.</a:t>
            </a:r>
          </a:p>
          <a:p>
            <a:pPr lvl="1"/>
            <a:endParaRPr lang="en-US" altLang="en-US" dirty="0"/>
          </a:p>
          <a:p>
            <a:pPr lvl="1"/>
            <a:endParaRPr lang="en-US" altLang="en-US" dirty="0"/>
          </a:p>
          <a:p>
            <a:pPr lvl="1"/>
            <a:r>
              <a:rPr lang="en-US" altLang="en-US" dirty="0"/>
              <a:t>Color wheel: </a:t>
            </a:r>
            <a:endParaRPr lang="en-US" altLang="en-US" dirty="0">
              <a:solidFill>
                <a:srgbClr val="FF0000"/>
              </a:solidFill>
            </a:endParaRPr>
          </a:p>
          <a:p>
            <a:pPr lvl="1"/>
            <a:endParaRPr lang="en-US" altLang="en-US" dirty="0"/>
          </a:p>
          <a:p>
            <a:pPr lvl="1"/>
            <a:endParaRPr lang="en-US" altLang="en-US" dirty="0"/>
          </a:p>
          <a:p>
            <a:pPr lvl="1"/>
            <a:r>
              <a:rPr lang="en-US" altLang="en-US" dirty="0"/>
              <a:t>Saturation is a percentage value; 0% means a shade of gray, and 100% is the full color.</a:t>
            </a:r>
          </a:p>
          <a:p>
            <a:pPr lvl="1"/>
            <a:r>
              <a:rPr lang="en-US" altLang="en-US" dirty="0"/>
              <a:t>Lightness is also a percentage; 0% is black, 100% is white.</a:t>
            </a:r>
          </a:p>
          <a:p>
            <a:pPr lvl="1"/>
            <a:r>
              <a:rPr lang="en-US" altLang="en-US" dirty="0"/>
              <a:t>Use this form:</a:t>
            </a:r>
          </a:p>
          <a:p>
            <a:pPr marL="914400" lvl="2" indent="0">
              <a:buNone/>
            </a:pPr>
            <a:r>
              <a:rPr lang="en-US" altLang="en-US" dirty="0" err="1">
                <a:latin typeface="Courier New" panose="02070309020205020404" pitchFamily="49" charset="0"/>
                <a:cs typeface="Courier New" panose="02070309020205020404" pitchFamily="49" charset="0"/>
              </a:rPr>
              <a:t>hsl</a:t>
            </a:r>
            <a:r>
              <a:rPr lang="en-US" altLang="en-US" i="1" dirty="0"/>
              <a:t>(hue-</a:t>
            </a:r>
            <a:r>
              <a:rPr lang="en-US" altLang="en-US" i="1" dirty="0" err="1"/>
              <a:t>integer,saturation</a:t>
            </a:r>
            <a:r>
              <a:rPr lang="en-US" altLang="en-US" i="1" dirty="0"/>
              <a:t>-</a:t>
            </a:r>
            <a:r>
              <a:rPr lang="en-US" altLang="en-US" i="1" dirty="0" err="1"/>
              <a:t>percentage,lightness</a:t>
            </a:r>
            <a:r>
              <a:rPr lang="en-US" altLang="en-US" i="1" dirty="0"/>
              <a:t>-percentage)</a:t>
            </a:r>
          </a:p>
        </p:txBody>
      </p:sp>
      <p:pic>
        <p:nvPicPr>
          <p:cNvPr id="4" name="Picture 3" descr="In the given color wheel, the marked degrees with the corresponding colors in a clockwise direction are as follows. 0 degrees for red. 60 degrees for yellow. 120 degrees for green. 180 degrees for Cyan. 240 degrees for Blue. 300 degrees for magenta."/>
          <p:cNvPicPr>
            <a:picLocks noChangeAspect="1"/>
          </p:cNvPicPr>
          <p:nvPr/>
        </p:nvPicPr>
        <p:blipFill>
          <a:blip r:embed="rId3" cstate="print"/>
          <a:stretch>
            <a:fillRect/>
          </a:stretch>
        </p:blipFill>
        <p:spPr>
          <a:xfrm>
            <a:off x="3886200" y="2667000"/>
            <a:ext cx="2215545" cy="1828800"/>
          </a:xfrm>
          <a:prstGeom prst="rect">
            <a:avLst/>
          </a:prstGeom>
        </p:spPr>
      </p:pic>
      <p:sp>
        <p:nvSpPr>
          <p:cNvPr id="5" name="TextBox 4"/>
          <p:cNvSpPr txBox="1"/>
          <p:nvPr/>
        </p:nvSpPr>
        <p:spPr>
          <a:xfrm>
            <a:off x="6248400" y="3810000"/>
            <a:ext cx="4572000" cy="646331"/>
          </a:xfrm>
          <a:prstGeom prst="rect">
            <a:avLst/>
          </a:prstGeom>
          <a:noFill/>
        </p:spPr>
        <p:txBody>
          <a:bodyPr wrap="square" rtlCol="0">
            <a:spAutoFit/>
          </a:bodyPr>
          <a:lstStyle/>
          <a:p>
            <a:r>
              <a:rPr lang="en-US" b="1" dirty="0">
                <a:latin typeface="Arial" pitchFamily="34" charset="0"/>
                <a:cs typeface="Arial" pitchFamily="34" charset="0"/>
              </a:rPr>
              <a:t>Figure 3.13 </a:t>
            </a:r>
            <a:r>
              <a:rPr lang="en-US" dirty="0">
                <a:latin typeface="Arial" pitchFamily="34" charset="0"/>
                <a:cs typeface="Arial" pitchFamily="34" charset="0"/>
              </a:rPr>
              <a:t>Color wheel for the </a:t>
            </a:r>
            <a:r>
              <a:rPr lang="en-US" dirty="0" err="1">
                <a:latin typeface="Arial" pitchFamily="34" charset="0"/>
                <a:cs typeface="Arial" pitchFamily="34" charset="0"/>
              </a:rPr>
              <a:t>hsl</a:t>
            </a:r>
            <a:r>
              <a:rPr lang="en-US" dirty="0">
                <a:latin typeface="Arial" pitchFamily="34" charset="0"/>
                <a:cs typeface="Arial" pitchFamily="34" charset="0"/>
              </a:rPr>
              <a:t> construct’s hue value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a:xfrm>
            <a:off x="0" y="121033"/>
            <a:ext cx="12192000" cy="1002089"/>
          </a:xfrm>
        </p:spPr>
        <p:txBody>
          <a:bodyPr/>
          <a:lstStyle/>
          <a:p>
            <a:r>
              <a:rPr lang="en-US" altLang="en-US" dirty="0"/>
              <a:t>HSLA Values for Color (1 of 2)</a:t>
            </a:r>
          </a:p>
        </p:txBody>
      </p:sp>
      <p:sp>
        <p:nvSpPr>
          <p:cNvPr id="15364" name="Rectangle 3"/>
          <p:cNvSpPr>
            <a:spLocks noGrp="1" noChangeArrowheads="1"/>
          </p:cNvSpPr>
          <p:nvPr>
            <p:ph idx="1"/>
          </p:nvPr>
        </p:nvSpPr>
        <p:spPr>
          <a:xfrm>
            <a:off x="925830" y="1490870"/>
            <a:ext cx="10287000" cy="4699047"/>
          </a:xfrm>
        </p:spPr>
        <p:txBody>
          <a:bodyPr/>
          <a:lstStyle/>
          <a:p>
            <a:r>
              <a:rPr lang="en-US" dirty="0"/>
              <a:t>To get a better understanding of HSL colors, go to the W3Schools’s Colors Tutorial / Color HSL page (</a:t>
            </a:r>
            <a:r>
              <a:rPr lang="en-US" dirty="0">
                <a:hlinkClick r:id="rId3"/>
              </a:rPr>
              <a:t>http://www.w3schools.com/colors/colors_hsl.asp</a:t>
            </a:r>
            <a:r>
              <a:rPr lang="en-US" dirty="0"/>
              <a:t>). Try to generate this background color:</a:t>
            </a:r>
          </a:p>
          <a:p>
            <a:endParaRPr lang="en-US" dirty="0"/>
          </a:p>
          <a:p>
            <a:r>
              <a:rPr lang="en-US" dirty="0"/>
              <a:t>HSLA value:</a:t>
            </a:r>
          </a:p>
          <a:p>
            <a:pPr lvl="1"/>
            <a:r>
              <a:rPr lang="en-US" dirty="0"/>
              <a:t>In addition to hue, saturation, and lightness values, you can add a fourth value for opacity.</a:t>
            </a:r>
          </a:p>
          <a:p>
            <a:pPr lvl="1"/>
            <a:r>
              <a:rPr lang="en-US" dirty="0"/>
              <a:t>Use this form:</a:t>
            </a:r>
          </a:p>
          <a:p>
            <a:pPr marL="914400" lvl="2" indent="0">
              <a:buNone/>
            </a:pPr>
            <a:r>
              <a:rPr lang="en-US" altLang="en-US" dirty="0" err="1">
                <a:latin typeface="Courier New" panose="02070309020205020404" pitchFamily="49" charset="0"/>
                <a:cs typeface="Courier New" panose="02070309020205020404" pitchFamily="49" charset="0"/>
              </a:rPr>
              <a:t>hsl</a:t>
            </a:r>
            <a:r>
              <a:rPr lang="en-US" altLang="en-US" i="1" dirty="0"/>
              <a:t>(hue-</a:t>
            </a:r>
            <a:r>
              <a:rPr lang="en-US" altLang="en-US" i="1" dirty="0" err="1"/>
              <a:t>integer,saturation</a:t>
            </a:r>
            <a:r>
              <a:rPr lang="en-US" altLang="en-US" i="1" dirty="0"/>
              <a:t>-</a:t>
            </a:r>
            <a:r>
              <a:rPr lang="en-US" altLang="en-US" i="1" dirty="0" err="1"/>
              <a:t>percentage,lightness</a:t>
            </a:r>
            <a:r>
              <a:rPr lang="en-US" altLang="en-US" i="1" dirty="0"/>
              <a:t>-percentage, opacity-number-between-0-and-1)</a:t>
            </a:r>
          </a:p>
        </p:txBody>
      </p:sp>
      <p:sp>
        <p:nvSpPr>
          <p:cNvPr id="68613" name="Text Box 15" descr="note number"/>
          <p:cNvSpPr txBox="1">
            <a:spLocks noChangeArrowheads="1"/>
          </p:cNvSpPr>
          <p:nvPr/>
        </p:nvSpPr>
        <p:spPr bwMode="auto">
          <a:xfrm>
            <a:off x="384983" y="3526068"/>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
        <p:nvSpPr>
          <p:cNvPr id="68614" name="Text Box 15" descr="note number"/>
          <p:cNvSpPr txBox="1">
            <a:spLocks noChangeArrowheads="1"/>
          </p:cNvSpPr>
          <p:nvPr/>
        </p:nvSpPr>
        <p:spPr bwMode="auto">
          <a:xfrm>
            <a:off x="384983" y="543874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3</a:t>
            </a:r>
          </a:p>
        </p:txBody>
      </p:sp>
      <p:sp>
        <p:nvSpPr>
          <p:cNvPr id="9" name="Rectangle 8"/>
          <p:cNvSpPr>
            <a:spLocks noChangeArrowheads="1"/>
          </p:cNvSpPr>
          <p:nvPr/>
        </p:nvSpPr>
        <p:spPr bwMode="auto">
          <a:xfrm>
            <a:off x="1295400" y="3150841"/>
            <a:ext cx="4627165" cy="461665"/>
          </a:xfrm>
          <a:prstGeom prst="rect">
            <a:avLst/>
          </a:prstGeom>
          <a:solidFill>
            <a:srgbClr val="9F9FDF"/>
          </a:solidFill>
          <a:ln w="9525" algn="ctr">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0"/>
              </a:spcBef>
              <a:buClrTx/>
              <a:buSzTx/>
              <a:buFontTx/>
              <a:buNone/>
            </a:pPr>
            <a:r>
              <a:rPr lang="en-US" altLang="en-US" dirty="0"/>
              <a:t>This text uses an </a:t>
            </a:r>
            <a:r>
              <a:rPr lang="en-US" altLang="en-US" dirty="0" err="1"/>
              <a:t>hsl</a:t>
            </a:r>
            <a:r>
              <a:rPr lang="en-US" altLang="en-US" dirty="0"/>
              <a:t> color value.</a:t>
            </a:r>
          </a:p>
        </p:txBody>
      </p:sp>
      <p:sp>
        <p:nvSpPr>
          <p:cNvPr id="11" name="Text Box 15" descr="note number"/>
          <p:cNvSpPr txBox="1">
            <a:spLocks noChangeArrowheads="1"/>
          </p:cNvSpPr>
          <p:nvPr/>
        </p:nvSpPr>
        <p:spPr bwMode="auto">
          <a:xfrm>
            <a:off x="457200" y="1333707"/>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Tree>
    <p:extLst>
      <p:ext uri="{BB962C8B-B14F-4D97-AF65-F5344CB8AC3E}">
        <p14:creationId xmlns:p14="http://schemas.microsoft.com/office/powerpoint/2010/main" val="39336458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a:xfrm>
            <a:off x="0" y="121033"/>
            <a:ext cx="12192000" cy="1002089"/>
          </a:xfrm>
        </p:spPr>
        <p:txBody>
          <a:bodyPr/>
          <a:lstStyle/>
          <a:p>
            <a:r>
              <a:rPr lang="en-US" altLang="en-US" dirty="0"/>
              <a:t>HSLA Values for Color (2 of 2)</a:t>
            </a:r>
          </a:p>
        </p:txBody>
      </p:sp>
      <p:sp>
        <p:nvSpPr>
          <p:cNvPr id="15364" name="Rectangle 3"/>
          <p:cNvSpPr>
            <a:spLocks noGrp="1" noChangeArrowheads="1"/>
          </p:cNvSpPr>
          <p:nvPr>
            <p:ph idx="1"/>
          </p:nvPr>
        </p:nvSpPr>
        <p:spPr>
          <a:xfrm>
            <a:off x="925830" y="1490870"/>
            <a:ext cx="10287000" cy="4699047"/>
          </a:xfrm>
        </p:spPr>
        <p:txBody>
          <a:bodyPr/>
          <a:lstStyle/>
          <a:p>
            <a:pPr lvl="1"/>
            <a:r>
              <a:rPr lang="en-US" dirty="0"/>
              <a:t>Example:</a:t>
            </a:r>
          </a:p>
          <a:p>
            <a:pPr marL="914400" lvl="2" indent="0">
              <a:buNone/>
            </a:pPr>
            <a:r>
              <a:rPr lang="en-US" sz="1800" dirty="0">
                <a:latin typeface="Courier New" panose="02070309020205020404" pitchFamily="49" charset="0"/>
                <a:cs typeface="Courier New" panose="02070309020205020404" pitchFamily="49" charset="0"/>
              </a:rPr>
              <a:t>&lt;style&gt;</a:t>
            </a:r>
          </a:p>
          <a:p>
            <a:pPr marL="914400" lvl="2" indent="0">
              <a:buNone/>
            </a:pPr>
            <a:r>
              <a:rPr lang="en-US" sz="1800" dirty="0">
                <a:latin typeface="Courier New" panose="02070309020205020404" pitchFamily="49" charset="0"/>
                <a:cs typeface="Courier New" panose="02070309020205020404" pitchFamily="49" charset="0"/>
              </a:rPr>
              <a:t>  .background {background-color: </a:t>
            </a:r>
            <a:r>
              <a:rPr lang="en-US" sz="1800" dirty="0" err="1">
                <a:latin typeface="Courier New" panose="02070309020205020404" pitchFamily="49" charset="0"/>
                <a:cs typeface="Courier New" panose="02070309020205020404" pitchFamily="49" charset="0"/>
              </a:rPr>
              <a:t>hsla</a:t>
            </a:r>
            <a:r>
              <a:rPr lang="en-US" sz="1800" dirty="0">
                <a:latin typeface="Courier New" panose="02070309020205020404" pitchFamily="49" charset="0"/>
                <a:cs typeface="Courier New" panose="02070309020205020404" pitchFamily="49" charset="0"/>
              </a:rPr>
              <a:t>(240,50%,75%,.5);}</a:t>
            </a:r>
          </a:p>
          <a:p>
            <a:pPr marL="914400" lvl="2" indent="0">
              <a:buNone/>
            </a:pPr>
            <a:r>
              <a:rPr lang="en-US" sz="1800" dirty="0">
                <a:latin typeface="Courier New" panose="02070309020205020404" pitchFamily="49" charset="0"/>
                <a:cs typeface="Courier New" panose="02070309020205020404" pitchFamily="49" charset="0"/>
              </a:rPr>
              <a:t>&lt;/style&gt;</a:t>
            </a:r>
          </a:p>
        </p:txBody>
      </p:sp>
      <p:sp>
        <p:nvSpPr>
          <p:cNvPr id="68616" name="Text Box 15" descr="note number"/>
          <p:cNvSpPr txBox="1">
            <a:spLocks noChangeArrowheads="1"/>
          </p:cNvSpPr>
          <p:nvPr/>
        </p:nvSpPr>
        <p:spPr bwMode="auto">
          <a:xfrm>
            <a:off x="659130" y="20574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4</a:t>
            </a:r>
          </a:p>
        </p:txBody>
      </p:sp>
      <p:sp>
        <p:nvSpPr>
          <p:cNvPr id="10" name="Rectangle 9"/>
          <p:cNvSpPr>
            <a:spLocks noChangeArrowheads="1"/>
          </p:cNvSpPr>
          <p:nvPr/>
        </p:nvSpPr>
        <p:spPr bwMode="auto">
          <a:xfrm>
            <a:off x="2286000" y="2967335"/>
            <a:ext cx="4789068" cy="461665"/>
          </a:xfrm>
          <a:prstGeom prst="rect">
            <a:avLst/>
          </a:prstGeom>
          <a:solidFill>
            <a:srgbClr val="9F9FDF">
              <a:alpha val="49804"/>
            </a:srgbClr>
          </a:solidFill>
          <a:ln w="9525" algn="ctr">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0"/>
              </a:spcBef>
              <a:buClrTx/>
              <a:buSzTx/>
              <a:buFontTx/>
              <a:buNone/>
            </a:pPr>
            <a:r>
              <a:rPr lang="en-US" altLang="en-US" dirty="0"/>
              <a:t>This text uses an </a:t>
            </a:r>
            <a:r>
              <a:rPr lang="en-US" altLang="en-US" dirty="0" err="1"/>
              <a:t>hsla</a:t>
            </a:r>
            <a:r>
              <a:rPr lang="en-US" altLang="en-US" dirty="0"/>
              <a:t> color value.</a:t>
            </a:r>
          </a:p>
        </p:txBody>
      </p:sp>
    </p:spTree>
    <p:extLst>
      <p:ext uri="{BB962C8B-B14F-4D97-AF65-F5344CB8AC3E}">
        <p14:creationId xmlns:p14="http://schemas.microsoft.com/office/powerpoint/2010/main" val="2102988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p:cNvSpPr>
            <a:spLocks noGrp="1" noChangeArrowheads="1"/>
          </p:cNvSpPr>
          <p:nvPr>
            <p:ph type="title"/>
          </p:nvPr>
        </p:nvSpPr>
        <p:spPr>
          <a:xfrm>
            <a:off x="0" y="121033"/>
            <a:ext cx="12192000" cy="1002089"/>
          </a:xfrm>
        </p:spPr>
        <p:txBody>
          <a:bodyPr/>
          <a:lstStyle/>
          <a:p>
            <a:r>
              <a:rPr lang="en-US" altLang="en-US"/>
              <a:t>Font Properties</a:t>
            </a:r>
          </a:p>
        </p:txBody>
      </p:sp>
      <p:sp>
        <p:nvSpPr>
          <p:cNvPr id="74756" name="Rectangle 3"/>
          <p:cNvSpPr>
            <a:spLocks noGrp="1" noChangeArrowheads="1"/>
          </p:cNvSpPr>
          <p:nvPr>
            <p:ph idx="1"/>
          </p:nvPr>
        </p:nvSpPr>
        <p:spPr>
          <a:xfrm>
            <a:off x="925830" y="1490870"/>
            <a:ext cx="10287000" cy="4699047"/>
          </a:xfrm>
        </p:spPr>
        <p:txBody>
          <a:bodyPr/>
          <a:lstStyle/>
          <a:p>
            <a:r>
              <a:rPr lang="en-US" altLang="en-US" dirty="0"/>
              <a:t>Font properties:</a:t>
            </a:r>
          </a:p>
          <a:p>
            <a:pPr lvl="1"/>
            <a:r>
              <a:rPr lang="en-US" altLang="en-US" dirty="0">
                <a:latin typeface="Courier New" panose="02070309020205020404" pitchFamily="49" charset="0"/>
                <a:cs typeface="Courier New" panose="02070309020205020404" pitchFamily="49" charset="0"/>
              </a:rPr>
              <a:t>font-style</a:t>
            </a:r>
          </a:p>
          <a:p>
            <a:pPr lvl="1"/>
            <a:r>
              <a:rPr lang="en-US" altLang="en-US" dirty="0">
                <a:latin typeface="Courier New" panose="02070309020205020404" pitchFamily="49" charset="0"/>
                <a:cs typeface="Courier New" panose="02070309020205020404" pitchFamily="49" charset="0"/>
              </a:rPr>
              <a:t>font-variant</a:t>
            </a:r>
          </a:p>
          <a:p>
            <a:pPr lvl="1"/>
            <a:r>
              <a:rPr lang="en-US" altLang="en-US" dirty="0">
                <a:latin typeface="Courier New" panose="02070309020205020404" pitchFamily="49" charset="0"/>
                <a:cs typeface="Courier New" panose="02070309020205020404" pitchFamily="49" charset="0"/>
              </a:rPr>
              <a:t>font-weight</a:t>
            </a:r>
          </a:p>
          <a:p>
            <a:pPr lvl="1"/>
            <a:r>
              <a:rPr lang="en-US" altLang="en-US" dirty="0">
                <a:latin typeface="Courier New" panose="02070309020205020404" pitchFamily="49" charset="0"/>
                <a:cs typeface="Courier New" panose="02070309020205020404" pitchFamily="49" charset="0"/>
              </a:rPr>
              <a:t>font-size</a:t>
            </a:r>
          </a:p>
          <a:p>
            <a:pPr lvl="1"/>
            <a:r>
              <a:rPr lang="en-US" altLang="en-US" dirty="0">
                <a:latin typeface="Courier New" panose="02070309020205020404" pitchFamily="49" charset="0"/>
                <a:cs typeface="Courier New" panose="02070309020205020404" pitchFamily="49" charset="0"/>
              </a:rPr>
              <a:t>font-family</a:t>
            </a:r>
          </a:p>
          <a:p>
            <a:pPr lvl="1"/>
            <a:r>
              <a:rPr lang="en-US" altLang="en-US" dirty="0">
                <a:latin typeface="Courier New" panose="02070309020205020404" pitchFamily="49" charset="0"/>
                <a:cs typeface="Courier New" panose="02070309020205020404" pitchFamily="49" charset="0"/>
              </a:rPr>
              <a:t>font</a:t>
            </a:r>
          </a:p>
        </p:txBody>
      </p:sp>
      <p:sp>
        <p:nvSpPr>
          <p:cNvPr id="74757" name="Text Box 16" descr="note number"/>
          <p:cNvSpPr txBox="1">
            <a:spLocks noChangeArrowheads="1"/>
          </p:cNvSpPr>
          <p:nvPr/>
        </p:nvSpPr>
        <p:spPr bwMode="auto">
          <a:xfrm>
            <a:off x="457200" y="17526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a:xfrm>
            <a:off x="0" y="121033"/>
            <a:ext cx="12192000" cy="1002089"/>
          </a:xfrm>
        </p:spPr>
        <p:txBody>
          <a:bodyPr/>
          <a:lstStyle/>
          <a:p>
            <a:r>
              <a:rPr lang="en-US" altLang="en-US" dirty="0">
                <a:latin typeface="Courier New" panose="02070309020205020404" pitchFamily="49" charset="0"/>
                <a:cs typeface="Courier New" panose="02070309020205020404" pitchFamily="49" charset="0"/>
              </a:rPr>
              <a:t>font-style</a:t>
            </a:r>
            <a:r>
              <a:rPr lang="en-US" altLang="en-US" dirty="0"/>
              <a:t> Property</a:t>
            </a:r>
          </a:p>
        </p:txBody>
      </p:sp>
      <p:sp>
        <p:nvSpPr>
          <p:cNvPr id="37892" name="Rectangle 3"/>
          <p:cNvSpPr>
            <a:spLocks noGrp="1" noChangeArrowheads="1"/>
          </p:cNvSpPr>
          <p:nvPr>
            <p:ph idx="1"/>
          </p:nvPr>
        </p:nvSpPr>
        <p:spPr>
          <a:xfrm>
            <a:off x="925830" y="1490870"/>
            <a:ext cx="10287000" cy="4699047"/>
          </a:xfrm>
        </p:spPr>
        <p:txBody>
          <a:bodyPr/>
          <a:lstStyle/>
          <a:p>
            <a:r>
              <a:rPr lang="en-US" dirty="0"/>
              <a:t>The </a:t>
            </a:r>
            <a:r>
              <a:rPr lang="en-US" dirty="0">
                <a:latin typeface="Courier New" panose="02070309020205020404" pitchFamily="49" charset="0"/>
                <a:cs typeface="Courier New" panose="02070309020205020404" pitchFamily="49" charset="0"/>
              </a:rPr>
              <a:t>font-style</a:t>
            </a:r>
            <a:r>
              <a:rPr lang="en-US" dirty="0"/>
              <a:t> property specifies whether the text is to be displayed normally or slanted.</a:t>
            </a:r>
          </a:p>
          <a:p>
            <a:r>
              <a:rPr lang="en-US" dirty="0"/>
              <a:t>Valid values for the </a:t>
            </a:r>
            <a:r>
              <a:rPr lang="en-US" dirty="0">
                <a:latin typeface="Courier New" panose="02070309020205020404" pitchFamily="49" charset="0"/>
                <a:cs typeface="Courier New" panose="02070309020205020404" pitchFamily="49" charset="0"/>
              </a:rPr>
              <a:t>font-style</a:t>
            </a:r>
            <a:r>
              <a:rPr lang="en-US" dirty="0"/>
              <a:t> property:</a:t>
            </a:r>
          </a:p>
          <a:p>
            <a:pPr lvl="1"/>
            <a:r>
              <a:rPr lang="en-US" dirty="0">
                <a:latin typeface="Courier New" panose="02070309020205020404" pitchFamily="49" charset="0"/>
                <a:cs typeface="Courier New" panose="02070309020205020404" pitchFamily="49" charset="0"/>
              </a:rPr>
              <a:t>normal</a:t>
            </a:r>
          </a:p>
          <a:p>
            <a:pPr lvl="3"/>
            <a:r>
              <a:rPr lang="en-US" dirty="0"/>
              <a:t>Upright characters (not slanted).</a:t>
            </a:r>
          </a:p>
          <a:p>
            <a:pPr lvl="1"/>
            <a:r>
              <a:rPr lang="en-US" dirty="0">
                <a:latin typeface="Courier New" panose="02070309020205020404" pitchFamily="49" charset="0"/>
                <a:cs typeface="Courier New" panose="02070309020205020404" pitchFamily="49" charset="0"/>
              </a:rPr>
              <a:t>oblique</a:t>
            </a:r>
          </a:p>
          <a:p>
            <a:pPr lvl="3"/>
            <a:r>
              <a:rPr lang="en-US" dirty="0"/>
              <a:t>Use the same font as the current font, but slant the characters.</a:t>
            </a:r>
          </a:p>
          <a:p>
            <a:pPr lvl="1"/>
            <a:r>
              <a:rPr lang="en-US" dirty="0">
                <a:latin typeface="Courier New" panose="02070309020205020404" pitchFamily="49" charset="0"/>
                <a:cs typeface="Courier New" panose="02070309020205020404" pitchFamily="49" charset="0"/>
              </a:rPr>
              <a:t>italic</a:t>
            </a:r>
          </a:p>
          <a:p>
            <a:pPr lvl="3"/>
            <a:r>
              <a:rPr lang="en-US" dirty="0"/>
              <a:t>Use a cursive font (which tends to be slanted and is supposed to look like handwriting).</a:t>
            </a:r>
          </a:p>
          <a:p>
            <a:r>
              <a:rPr lang="en-US" dirty="0"/>
              <a:t>Example:</a:t>
            </a:r>
          </a:p>
          <a:p>
            <a:pPr marL="457200" lvl="1" indent="0">
              <a:buNone/>
            </a:pPr>
            <a:r>
              <a:rPr lang="en-US" dirty="0">
                <a:latin typeface="Courier New" panose="02070309020205020404" pitchFamily="49" charset="0"/>
                <a:cs typeface="Courier New" panose="02070309020205020404" pitchFamily="49" charset="0"/>
              </a:rPr>
              <a:t>.italics {font-style: italic;}</a:t>
            </a:r>
          </a:p>
          <a:p>
            <a:endParaRPr lang="en-US" dirty="0"/>
          </a:p>
        </p:txBody>
      </p:sp>
      <p:sp>
        <p:nvSpPr>
          <p:cNvPr id="76805" name="Text Box 16" descr="note number"/>
          <p:cNvSpPr txBox="1">
            <a:spLocks noChangeArrowheads="1"/>
          </p:cNvSpPr>
          <p:nvPr/>
        </p:nvSpPr>
        <p:spPr bwMode="auto">
          <a:xfrm>
            <a:off x="381000" y="4995431"/>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1</a:t>
            </a:r>
          </a:p>
        </p:txBody>
      </p:sp>
      <p:sp>
        <p:nvSpPr>
          <p:cNvPr id="76806" name="Text Box 16" descr="note number"/>
          <p:cNvSpPr txBox="1">
            <a:spLocks noChangeArrowheads="1"/>
          </p:cNvSpPr>
          <p:nvPr/>
        </p:nvSpPr>
        <p:spPr bwMode="auto">
          <a:xfrm>
            <a:off x="381000" y="5639193"/>
            <a:ext cx="266700" cy="30797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
        <p:nvSpPr>
          <p:cNvPr id="76807" name="Text Box 16" descr="note number"/>
          <p:cNvSpPr txBox="1">
            <a:spLocks noChangeArrowheads="1"/>
          </p:cNvSpPr>
          <p:nvPr/>
        </p:nvSpPr>
        <p:spPr bwMode="auto">
          <a:xfrm>
            <a:off x="375805" y="5947168"/>
            <a:ext cx="266700" cy="30797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3</a:t>
            </a:r>
          </a:p>
        </p:txBody>
      </p:sp>
      <p:sp>
        <p:nvSpPr>
          <p:cNvPr id="8" name="Text Box 16" descr="note number"/>
          <p:cNvSpPr txBox="1">
            <a:spLocks noChangeArrowheads="1"/>
          </p:cNvSpPr>
          <p:nvPr/>
        </p:nvSpPr>
        <p:spPr bwMode="auto">
          <a:xfrm>
            <a:off x="375805" y="6255143"/>
            <a:ext cx="266700" cy="30797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4</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2"/>
          <p:cNvSpPr>
            <a:spLocks noGrp="1" noChangeArrowheads="1"/>
          </p:cNvSpPr>
          <p:nvPr>
            <p:ph type="title"/>
          </p:nvPr>
        </p:nvSpPr>
        <p:spPr/>
        <p:txBody>
          <a:bodyPr/>
          <a:lstStyle/>
          <a:p>
            <a:r>
              <a:rPr lang="en-US" altLang="en-US" dirty="0">
                <a:latin typeface="Courier New" panose="02070309020205020404" pitchFamily="49" charset="0"/>
                <a:cs typeface="Courier New" panose="02070309020205020404" pitchFamily="49" charset="0"/>
              </a:rPr>
              <a:t>font-variant</a:t>
            </a:r>
            <a:r>
              <a:rPr lang="en-US" altLang="en-US" dirty="0"/>
              <a:t> Property</a:t>
            </a:r>
          </a:p>
        </p:txBody>
      </p:sp>
      <p:sp>
        <p:nvSpPr>
          <p:cNvPr id="43012" name="Rectangle 3"/>
          <p:cNvSpPr>
            <a:spLocks noGrp="1" noChangeArrowheads="1"/>
          </p:cNvSpPr>
          <p:nvPr>
            <p:ph idx="1"/>
          </p:nvPr>
        </p:nvSpPr>
        <p:spPr>
          <a:xfrm>
            <a:off x="838200" y="1295400"/>
            <a:ext cx="10287000" cy="4699047"/>
          </a:xfrm>
        </p:spPr>
        <p:txBody>
          <a:bodyPr/>
          <a:lstStyle/>
          <a:p>
            <a:r>
              <a:rPr lang="en-US" dirty="0"/>
              <a:t>The </a:t>
            </a:r>
            <a:r>
              <a:rPr lang="en-US" dirty="0">
                <a:latin typeface="Courier New" panose="02070309020205020404" pitchFamily="49" charset="0"/>
                <a:cs typeface="Courier New" panose="02070309020205020404" pitchFamily="49" charset="0"/>
              </a:rPr>
              <a:t>font-variant</a:t>
            </a:r>
            <a:r>
              <a:rPr lang="en-US" dirty="0"/>
              <a:t> property specifies how lowercase letters are displayed.</a:t>
            </a:r>
          </a:p>
          <a:p>
            <a:r>
              <a:rPr lang="en-US" dirty="0"/>
              <a:t>Valid values for the </a:t>
            </a:r>
            <a:r>
              <a:rPr lang="en-US" dirty="0">
                <a:latin typeface="Courier New" panose="02070309020205020404" pitchFamily="49" charset="0"/>
                <a:cs typeface="Courier New" panose="02070309020205020404" pitchFamily="49" charset="0"/>
              </a:rPr>
              <a:t>font-variant</a:t>
            </a:r>
            <a:r>
              <a:rPr lang="en-US" dirty="0"/>
              <a:t> property:</a:t>
            </a:r>
          </a:p>
          <a:p>
            <a:pPr lvl="1"/>
            <a:r>
              <a:rPr lang="en-US" dirty="0">
                <a:latin typeface="Courier New" panose="02070309020205020404" pitchFamily="49" charset="0"/>
                <a:cs typeface="Courier New" panose="02070309020205020404" pitchFamily="49" charset="0"/>
              </a:rPr>
              <a:t>normal</a:t>
            </a:r>
          </a:p>
          <a:p>
            <a:pPr lvl="3"/>
            <a:r>
              <a:rPr lang="en-US" dirty="0"/>
              <a:t>Display lowercase letters normally.</a:t>
            </a:r>
          </a:p>
          <a:p>
            <a:pPr lvl="1"/>
            <a:r>
              <a:rPr lang="en-US" dirty="0">
                <a:latin typeface="Courier New" panose="02070309020205020404" pitchFamily="49" charset="0"/>
                <a:cs typeface="Courier New" panose="02070309020205020404" pitchFamily="49" charset="0"/>
              </a:rPr>
              <a:t>small-caps</a:t>
            </a:r>
          </a:p>
          <a:p>
            <a:pPr lvl="3"/>
            <a:r>
              <a:rPr lang="en-US" dirty="0"/>
              <a:t>Display lowercase letters with smaller-font uppercase letters.</a:t>
            </a:r>
          </a:p>
          <a:p>
            <a:r>
              <a:rPr lang="en-US" dirty="0"/>
              <a:t>Example:</a:t>
            </a:r>
          </a:p>
          <a:p>
            <a:pPr marL="457200" lvl="1" indent="0">
              <a:buNone/>
            </a:pPr>
            <a:r>
              <a:rPr lang="en-US" sz="1800" dirty="0">
                <a:latin typeface="Courier New" panose="02070309020205020404" pitchFamily="49" charset="0"/>
                <a:cs typeface="Courier New" panose="02070309020205020404" pitchFamily="49" charset="0"/>
              </a:rPr>
              <a:t>h2 {font-variant: small-caps;}</a:t>
            </a:r>
          </a:p>
          <a:p>
            <a:pPr marL="457200" lvl="1" indent="0">
              <a:buNone/>
            </a:pPr>
            <a:r>
              <a:rPr lang="en-US" sz="1800" dirty="0">
                <a:latin typeface="Courier New" panose="02070309020205020404" pitchFamily="49" charset="0"/>
                <a:cs typeface="Courier New" panose="02070309020205020404" pitchFamily="49" charset="0"/>
              </a:rPr>
              <a:t>...</a:t>
            </a:r>
          </a:p>
          <a:p>
            <a:pPr marL="457200" lvl="1" indent="0">
              <a:buNone/>
            </a:pPr>
            <a:r>
              <a:rPr lang="en-US" sz="1800" dirty="0">
                <a:latin typeface="Courier New" panose="02070309020205020404" pitchFamily="49" charset="0"/>
                <a:cs typeface="Courier New" panose="02070309020205020404" pitchFamily="49" charset="0"/>
              </a:rPr>
              <a:t>&lt;h2&gt;The Great Gatsby&lt;/h2&gt;</a:t>
            </a:r>
          </a:p>
          <a:p>
            <a:r>
              <a:rPr lang="en-US" dirty="0"/>
              <a:t>Displayed text for the example above:</a:t>
            </a:r>
          </a:p>
          <a:p>
            <a:pPr marL="457200" lvl="1" indent="0" eaLnBrk="1" hangingPunct="1">
              <a:lnSpc>
                <a:spcPct val="90000"/>
              </a:lnSpc>
              <a:buFont typeface="Wingdings" panose="05000000000000000000" pitchFamily="2" charset="2"/>
              <a:buNone/>
              <a:defRPr/>
            </a:pPr>
            <a:r>
              <a:rPr lang="en-US" sz="2400" cap="small" dirty="0">
                <a:latin typeface="Times New Roman" pitchFamily="18" charset="0"/>
                <a:cs typeface="Times New Roman" pitchFamily="18" charset="0"/>
              </a:rPr>
              <a:t>The Great Gatsby</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2"/>
          <p:cNvSpPr>
            <a:spLocks noGrp="1" noChangeArrowheads="1"/>
          </p:cNvSpPr>
          <p:nvPr>
            <p:ph type="title"/>
          </p:nvPr>
        </p:nvSpPr>
        <p:spPr/>
        <p:txBody>
          <a:bodyPr/>
          <a:lstStyle/>
          <a:p>
            <a:r>
              <a:rPr lang="en-US" altLang="en-US" dirty="0">
                <a:latin typeface="Courier New" panose="02070309020205020404" pitchFamily="49" charset="0"/>
                <a:cs typeface="Courier New" panose="02070309020205020404" pitchFamily="49" charset="0"/>
              </a:rPr>
              <a:t>font-weight</a:t>
            </a:r>
            <a:r>
              <a:rPr lang="en-US" altLang="en-US" dirty="0"/>
              <a:t> Property</a:t>
            </a:r>
          </a:p>
        </p:txBody>
      </p:sp>
      <p:sp>
        <p:nvSpPr>
          <p:cNvPr id="43012" name="Rectangle 3"/>
          <p:cNvSpPr>
            <a:spLocks noGrp="1" noChangeArrowheads="1"/>
          </p:cNvSpPr>
          <p:nvPr>
            <p:ph idx="1"/>
          </p:nvPr>
        </p:nvSpPr>
        <p:spPr>
          <a:xfrm>
            <a:off x="838200" y="1158829"/>
            <a:ext cx="10287000" cy="4699047"/>
          </a:xfrm>
        </p:spPr>
        <p:txBody>
          <a:bodyPr/>
          <a:lstStyle/>
          <a:p>
            <a:r>
              <a:rPr lang="en-US" dirty="0"/>
              <a:t>The </a:t>
            </a:r>
            <a:r>
              <a:rPr lang="en-US" dirty="0">
                <a:latin typeface="Courier New" panose="02070309020205020404" pitchFamily="49" charset="0"/>
                <a:cs typeface="Courier New" panose="02070309020205020404" pitchFamily="49" charset="0"/>
              </a:rPr>
              <a:t>font-weight</a:t>
            </a:r>
            <a:r>
              <a:rPr lang="en-US" dirty="0"/>
              <a:t> property specifies the boldness of the text characters.</a:t>
            </a:r>
          </a:p>
          <a:p>
            <a:r>
              <a:rPr lang="en-US" dirty="0"/>
              <a:t>Valid values for the </a:t>
            </a:r>
            <a:r>
              <a:rPr lang="en-US" dirty="0">
                <a:latin typeface="Courier New" panose="02070309020205020404" pitchFamily="49" charset="0"/>
                <a:cs typeface="Courier New" panose="02070309020205020404" pitchFamily="49" charset="0"/>
              </a:rPr>
              <a:t>font-weight</a:t>
            </a:r>
            <a:r>
              <a:rPr lang="en-US" dirty="0"/>
              <a:t> property:</a:t>
            </a:r>
          </a:p>
          <a:p>
            <a:pPr lvl="1"/>
            <a:r>
              <a:rPr lang="en-US" dirty="0">
                <a:latin typeface="Courier New" panose="02070309020205020404" pitchFamily="49" charset="0"/>
                <a:cs typeface="Courier New" panose="02070309020205020404" pitchFamily="49" charset="0"/>
              </a:rPr>
              <a:t>100, 200, 300, 400, 500, 600, 700, 800, 900</a:t>
            </a:r>
          </a:p>
          <a:p>
            <a:pPr lvl="3"/>
            <a:r>
              <a:rPr lang="en-US" dirty="0">
                <a:latin typeface="Courier New" panose="02070309020205020404" pitchFamily="49" charset="0"/>
                <a:cs typeface="Courier New" panose="02070309020205020404" pitchFamily="49" charset="0"/>
              </a:rPr>
              <a:t>100</a:t>
            </a:r>
            <a:r>
              <a:rPr lang="en-US" dirty="0"/>
              <a:t> generates the thinnest characters and </a:t>
            </a:r>
            <a:r>
              <a:rPr lang="en-US" dirty="0">
                <a:latin typeface="Courier New" panose="02070309020205020404" pitchFamily="49" charset="0"/>
                <a:cs typeface="Courier New" panose="02070309020205020404" pitchFamily="49" charset="0"/>
              </a:rPr>
              <a:t>900 </a:t>
            </a:r>
            <a:r>
              <a:rPr lang="en-US" dirty="0"/>
              <a:t>the thickest characters.</a:t>
            </a:r>
          </a:p>
          <a:p>
            <a:pPr lvl="1"/>
            <a:r>
              <a:rPr lang="en-US" dirty="0">
                <a:latin typeface="Courier New" panose="02070309020205020404" pitchFamily="49" charset="0"/>
                <a:cs typeface="Courier New" panose="02070309020205020404" pitchFamily="49" charset="0"/>
              </a:rPr>
              <a:t>normal, bold, bolder, lighter</a:t>
            </a:r>
          </a:p>
          <a:p>
            <a:pPr lvl="3"/>
            <a:r>
              <a:rPr lang="en-US" dirty="0">
                <a:latin typeface="Courier New" panose="02070309020205020404" pitchFamily="49" charset="0"/>
                <a:cs typeface="Courier New" panose="02070309020205020404" pitchFamily="49" charset="0"/>
              </a:rPr>
              <a:t>normal </a:t>
            </a:r>
            <a:r>
              <a:rPr lang="en-US" dirty="0"/>
              <a:t>is the same as </a:t>
            </a:r>
            <a:r>
              <a:rPr lang="en-US" dirty="0">
                <a:latin typeface="Courier New" panose="02070309020205020404" pitchFamily="49" charset="0"/>
                <a:cs typeface="Courier New" panose="02070309020205020404" pitchFamily="49" charset="0"/>
              </a:rPr>
              <a:t>400</a:t>
            </a:r>
            <a:r>
              <a:rPr lang="en-US" dirty="0"/>
              <a:t>, and </a:t>
            </a:r>
            <a:r>
              <a:rPr lang="en-US" dirty="0">
                <a:latin typeface="Courier New" panose="02070309020205020404" pitchFamily="49" charset="0"/>
                <a:cs typeface="Courier New" panose="02070309020205020404" pitchFamily="49" charset="0"/>
              </a:rPr>
              <a:t>bold</a:t>
            </a:r>
            <a:r>
              <a:rPr lang="en-US" dirty="0"/>
              <a:t> is the same as </a:t>
            </a:r>
            <a:r>
              <a:rPr lang="en-US" dirty="0">
                <a:latin typeface="Courier New" panose="02070309020205020404" pitchFamily="49" charset="0"/>
                <a:cs typeface="Courier New" panose="02070309020205020404" pitchFamily="49" charset="0"/>
              </a:rPr>
              <a:t>700</a:t>
            </a:r>
            <a:r>
              <a:rPr lang="en-US" dirty="0"/>
              <a:t>. </a:t>
            </a:r>
          </a:p>
          <a:p>
            <a:pPr lvl="3"/>
            <a:r>
              <a:rPr lang="en-US" dirty="0"/>
              <a:t>Using a value of </a:t>
            </a:r>
            <a:r>
              <a:rPr lang="en-US" dirty="0">
                <a:latin typeface="Courier New" panose="02070309020205020404" pitchFamily="49" charset="0"/>
                <a:cs typeface="Courier New" panose="02070309020205020404" pitchFamily="49" charset="0"/>
              </a:rPr>
              <a:t>bolder</a:t>
            </a:r>
            <a:r>
              <a:rPr lang="en-US" dirty="0"/>
              <a:t> causes its targeted text to have thicker characters than the text that surrounds it.</a:t>
            </a:r>
          </a:p>
          <a:p>
            <a:pPr lvl="3"/>
            <a:r>
              <a:rPr lang="en-US" dirty="0"/>
              <a:t>Using a value of </a:t>
            </a:r>
            <a:r>
              <a:rPr lang="en-US" dirty="0">
                <a:latin typeface="Courier New" panose="02070309020205020404" pitchFamily="49" charset="0"/>
                <a:cs typeface="Courier New" panose="02070309020205020404" pitchFamily="49" charset="0"/>
              </a:rPr>
              <a:t>lighter</a:t>
            </a:r>
            <a:r>
              <a:rPr lang="en-US" dirty="0"/>
              <a:t> causes its targeted text to have thinner characters than the text that surrounds it.</a:t>
            </a:r>
          </a:p>
          <a:p>
            <a:r>
              <a:rPr lang="en-US" dirty="0"/>
              <a:t>Example:</a:t>
            </a:r>
          </a:p>
          <a:p>
            <a:pPr marL="457200" lvl="1" indent="0">
              <a:buNone/>
            </a:pPr>
            <a:r>
              <a:rPr lang="en-US" sz="2000" dirty="0">
                <a:latin typeface="Courier New" panose="02070309020205020404" pitchFamily="49" charset="0"/>
                <a:cs typeface="Courier New" panose="02070309020205020404" pitchFamily="49" charset="0"/>
              </a:rPr>
              <a:t>.bold {font-weight: bold;}</a:t>
            </a:r>
          </a:p>
          <a:p>
            <a:pPr lvl="3"/>
            <a:endParaRPr lang="en-US" dirty="0"/>
          </a:p>
        </p:txBody>
      </p:sp>
      <p:sp>
        <p:nvSpPr>
          <p:cNvPr id="80901" name="Text Box 16" descr="note number"/>
          <p:cNvSpPr txBox="1">
            <a:spLocks noChangeArrowheads="1"/>
          </p:cNvSpPr>
          <p:nvPr/>
        </p:nvSpPr>
        <p:spPr bwMode="auto">
          <a:xfrm>
            <a:off x="304800" y="47244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80902" name="Text Box 16" descr="note number"/>
          <p:cNvSpPr txBox="1">
            <a:spLocks noChangeArrowheads="1"/>
          </p:cNvSpPr>
          <p:nvPr/>
        </p:nvSpPr>
        <p:spPr bwMode="auto">
          <a:xfrm>
            <a:off x="304800" y="63246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ChangeArrowheads="1"/>
          </p:cNvSpPr>
          <p:nvPr>
            <p:ph type="title"/>
          </p:nvPr>
        </p:nvSpPr>
        <p:spPr/>
        <p:txBody>
          <a:bodyPr/>
          <a:lstStyle/>
          <a:p>
            <a:r>
              <a:rPr lang="en-US" altLang="en-US" dirty="0">
                <a:latin typeface="Courier New" panose="02070309020205020404" pitchFamily="49" charset="0"/>
                <a:cs typeface="Courier New" panose="02070309020205020404" pitchFamily="49" charset="0"/>
              </a:rPr>
              <a:t>font-size</a:t>
            </a:r>
            <a:r>
              <a:rPr lang="en-US" altLang="en-US" dirty="0"/>
              <a:t> Property (1 of 2)</a:t>
            </a:r>
          </a:p>
        </p:txBody>
      </p:sp>
      <p:sp>
        <p:nvSpPr>
          <p:cNvPr id="43012" name="Rectangle 3"/>
          <p:cNvSpPr>
            <a:spLocks noGrp="1" noChangeArrowheads="1"/>
          </p:cNvSpPr>
          <p:nvPr>
            <p:ph idx="1"/>
          </p:nvPr>
        </p:nvSpPr>
        <p:spPr/>
        <p:txBody>
          <a:bodyPr/>
          <a:lstStyle/>
          <a:p>
            <a:r>
              <a:rPr lang="en-US" dirty="0"/>
              <a:t>The </a:t>
            </a:r>
            <a:r>
              <a:rPr lang="en-US" dirty="0">
                <a:latin typeface="Courier New" panose="02070309020205020404" pitchFamily="49" charset="0"/>
                <a:cs typeface="Courier New" panose="02070309020205020404" pitchFamily="49" charset="0"/>
              </a:rPr>
              <a:t>font-size</a:t>
            </a:r>
            <a:r>
              <a:rPr lang="en-US" dirty="0"/>
              <a:t> property specifies the size of the text characters.</a:t>
            </a:r>
          </a:p>
          <a:p>
            <a:r>
              <a:rPr lang="en-US" dirty="0"/>
              <a:t>The most appropriate values for the </a:t>
            </a:r>
            <a:r>
              <a:rPr lang="en-US" dirty="0">
                <a:latin typeface="Courier New" panose="02070309020205020404" pitchFamily="49" charset="0"/>
                <a:cs typeface="Courier New" panose="02070309020205020404" pitchFamily="49" charset="0"/>
              </a:rPr>
              <a:t>font-size</a:t>
            </a:r>
            <a:r>
              <a:rPr lang="en-US" dirty="0"/>
              <a:t> property:</a:t>
            </a:r>
          </a:p>
          <a:p>
            <a:pPr lvl="1"/>
            <a:r>
              <a:rPr lang="en-US" dirty="0">
                <a:latin typeface="Courier New" panose="02070309020205020404" pitchFamily="49" charset="0"/>
                <a:cs typeface="Courier New" panose="02070309020205020404" pitchFamily="49" charset="0"/>
              </a:rPr>
              <a:t>xx-small</a:t>
            </a:r>
            <a:r>
              <a:rPr lang="en-US" dirty="0"/>
              <a:t>, </a:t>
            </a:r>
            <a:r>
              <a:rPr lang="en-US" dirty="0">
                <a:latin typeface="Courier New" panose="02070309020205020404" pitchFamily="49" charset="0"/>
                <a:cs typeface="Courier New" panose="02070309020205020404" pitchFamily="49" charset="0"/>
              </a:rPr>
              <a:t>x-small</a:t>
            </a:r>
            <a:r>
              <a:rPr lang="en-US" dirty="0"/>
              <a:t>, </a:t>
            </a:r>
            <a:r>
              <a:rPr lang="en-US" dirty="0">
                <a:latin typeface="Courier New" panose="02070309020205020404" pitchFamily="49" charset="0"/>
                <a:cs typeface="Courier New" panose="02070309020205020404" pitchFamily="49" charset="0"/>
              </a:rPr>
              <a:t>small</a:t>
            </a:r>
            <a:r>
              <a:rPr lang="en-US" dirty="0"/>
              <a:t>, </a:t>
            </a:r>
            <a:r>
              <a:rPr lang="en-US" dirty="0">
                <a:latin typeface="Courier New" panose="02070309020205020404" pitchFamily="49" charset="0"/>
                <a:cs typeface="Courier New" panose="02070309020205020404" pitchFamily="49" charset="0"/>
              </a:rPr>
              <a:t>medium</a:t>
            </a:r>
            <a:r>
              <a:rPr lang="en-US" dirty="0"/>
              <a:t>, </a:t>
            </a:r>
            <a:r>
              <a:rPr lang="en-US" dirty="0">
                <a:latin typeface="Courier New" panose="02070309020205020404" pitchFamily="49" charset="0"/>
                <a:cs typeface="Courier New" panose="02070309020205020404" pitchFamily="49" charset="0"/>
              </a:rPr>
              <a:t>large</a:t>
            </a:r>
            <a:r>
              <a:rPr lang="en-US" dirty="0"/>
              <a:t>, </a:t>
            </a:r>
            <a:r>
              <a:rPr lang="en-US" dirty="0">
                <a:latin typeface="Courier New" panose="02070309020205020404" pitchFamily="49" charset="0"/>
                <a:cs typeface="Courier New" panose="02070309020205020404" pitchFamily="49" charset="0"/>
              </a:rPr>
              <a:t>x-large</a:t>
            </a:r>
            <a:r>
              <a:rPr lang="en-US" dirty="0"/>
              <a:t>, </a:t>
            </a:r>
            <a:r>
              <a:rPr lang="en-US" dirty="0">
                <a:latin typeface="Courier New" panose="02070309020205020404" pitchFamily="49" charset="0"/>
                <a:cs typeface="Courier New" panose="02070309020205020404" pitchFamily="49" charset="0"/>
              </a:rPr>
              <a:t>xx-large</a:t>
            </a:r>
          </a:p>
          <a:p>
            <a:pPr lvl="3"/>
            <a:r>
              <a:rPr lang="en-US" dirty="0"/>
              <a:t>The browser determines a font size that can be reasonably described as </a:t>
            </a:r>
            <a:r>
              <a:rPr lang="en-US" dirty="0">
                <a:latin typeface="Courier New" panose="02070309020205020404" pitchFamily="49" charset="0"/>
                <a:cs typeface="Courier New" panose="02070309020205020404" pitchFamily="49" charset="0"/>
              </a:rPr>
              <a:t>xx-small</a:t>
            </a:r>
            <a:r>
              <a:rPr lang="en-US" dirty="0"/>
              <a:t>, </a:t>
            </a:r>
            <a:r>
              <a:rPr lang="en-US" dirty="0">
                <a:latin typeface="Courier New" panose="02070309020205020404" pitchFamily="49" charset="0"/>
                <a:cs typeface="Courier New" panose="02070309020205020404" pitchFamily="49" charset="0"/>
              </a:rPr>
              <a:t>x-small</a:t>
            </a:r>
            <a:r>
              <a:rPr lang="en-US" dirty="0"/>
              <a:t>, </a:t>
            </a:r>
            <a:r>
              <a:rPr lang="en-US" dirty="0">
                <a:latin typeface="Courier New" panose="02070309020205020404" pitchFamily="49" charset="0"/>
                <a:cs typeface="Courier New" panose="02070309020205020404" pitchFamily="49" charset="0"/>
              </a:rPr>
              <a:t>small</a:t>
            </a:r>
            <a:r>
              <a:rPr lang="en-US" dirty="0"/>
              <a:t>, etc.</a:t>
            </a:r>
          </a:p>
          <a:p>
            <a:pPr lvl="3"/>
            <a:r>
              <a:rPr lang="en-US" dirty="0"/>
              <a:t>Example:</a:t>
            </a:r>
          </a:p>
          <a:p>
            <a:pPr marL="1828800" lvl="4" indent="0">
              <a:buNone/>
            </a:pPr>
            <a:r>
              <a:rPr lang="en-US" sz="1800" dirty="0">
                <a:latin typeface="Courier New" panose="02070309020205020404" pitchFamily="49" charset="0"/>
                <a:cs typeface="Courier New" panose="02070309020205020404" pitchFamily="49" charset="0"/>
              </a:rPr>
              <a:t>.huge-font {font-size: xx-large;}</a:t>
            </a:r>
          </a:p>
          <a:p>
            <a:pPr lvl="1"/>
            <a:r>
              <a:rPr lang="en-US" dirty="0">
                <a:latin typeface="Courier New" panose="02070309020205020404" pitchFamily="49" charset="0"/>
                <a:cs typeface="Courier New" panose="02070309020205020404" pitchFamily="49" charset="0"/>
              </a:rPr>
              <a:t>smaller</a:t>
            </a:r>
            <a:r>
              <a:rPr lang="en-US" dirty="0"/>
              <a:t>, </a:t>
            </a:r>
            <a:r>
              <a:rPr lang="en-US" dirty="0">
                <a:latin typeface="Courier New" panose="02070309020205020404" pitchFamily="49" charset="0"/>
                <a:cs typeface="Courier New" panose="02070309020205020404" pitchFamily="49" charset="0"/>
              </a:rPr>
              <a:t>larger</a:t>
            </a:r>
          </a:p>
          <a:p>
            <a:pPr lvl="3"/>
            <a:r>
              <a:rPr lang="en-US" dirty="0"/>
              <a:t>Using a value of </a:t>
            </a:r>
            <a:r>
              <a:rPr lang="en-US" dirty="0">
                <a:latin typeface="Courier New" panose="02070309020205020404" pitchFamily="49" charset="0"/>
                <a:cs typeface="Courier New" panose="02070309020205020404" pitchFamily="49" charset="0"/>
              </a:rPr>
              <a:t>smaller</a:t>
            </a:r>
            <a:r>
              <a:rPr lang="en-US" dirty="0"/>
              <a:t> or </a:t>
            </a:r>
            <a:r>
              <a:rPr lang="en-US" dirty="0">
                <a:latin typeface="Courier New" panose="02070309020205020404" pitchFamily="49" charset="0"/>
                <a:cs typeface="Courier New" panose="02070309020205020404" pitchFamily="49" charset="0"/>
              </a:rPr>
              <a:t>larger</a:t>
            </a:r>
            <a:r>
              <a:rPr lang="en-US" dirty="0"/>
              <a:t> causes its targeted text to have characters that are smaller or larger, respectively, than the text that surrounds it.</a:t>
            </a:r>
          </a:p>
          <a:p>
            <a:pPr lvl="3"/>
            <a:endParaRPr lang="en-US" dirty="0"/>
          </a:p>
        </p:txBody>
      </p:sp>
      <p:sp>
        <p:nvSpPr>
          <p:cNvPr id="82949" name="Text Box 7" descr="note number"/>
          <p:cNvSpPr txBox="1">
            <a:spLocks noChangeArrowheads="1"/>
          </p:cNvSpPr>
          <p:nvPr/>
        </p:nvSpPr>
        <p:spPr bwMode="auto">
          <a:xfrm>
            <a:off x="304800" y="21336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1</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ChangeArrowheads="1"/>
          </p:cNvSpPr>
          <p:nvPr>
            <p:ph type="title"/>
          </p:nvPr>
        </p:nvSpPr>
        <p:spPr/>
        <p:txBody>
          <a:bodyPr/>
          <a:lstStyle/>
          <a:p>
            <a:r>
              <a:rPr lang="en-US" altLang="en-US" dirty="0">
                <a:latin typeface="Courier New" panose="02070309020205020404" pitchFamily="49" charset="0"/>
                <a:cs typeface="Courier New" panose="02070309020205020404" pitchFamily="49" charset="0"/>
              </a:rPr>
              <a:t>font-size</a:t>
            </a:r>
            <a:r>
              <a:rPr lang="en-US" altLang="en-US" dirty="0"/>
              <a:t> Property (2 of 2)</a:t>
            </a:r>
          </a:p>
        </p:txBody>
      </p:sp>
      <p:sp>
        <p:nvSpPr>
          <p:cNvPr id="43012" name="Rectangle 3"/>
          <p:cNvSpPr>
            <a:spLocks noGrp="1" noChangeArrowheads="1"/>
          </p:cNvSpPr>
          <p:nvPr>
            <p:ph idx="1"/>
          </p:nvPr>
        </p:nvSpPr>
        <p:spPr>
          <a:xfrm>
            <a:off x="925830" y="1524000"/>
            <a:ext cx="10287000" cy="4699047"/>
          </a:xfrm>
        </p:spPr>
        <p:txBody>
          <a:bodyPr/>
          <a:lstStyle/>
          <a:p>
            <a:r>
              <a:rPr lang="en-US" dirty="0"/>
              <a:t>The most appropriate values for the </a:t>
            </a:r>
            <a:r>
              <a:rPr lang="en-US" dirty="0">
                <a:latin typeface="Courier New" panose="02070309020205020404" pitchFamily="49" charset="0"/>
                <a:cs typeface="Courier New" panose="02070309020205020404" pitchFamily="49" charset="0"/>
              </a:rPr>
              <a:t>font-size</a:t>
            </a:r>
            <a:r>
              <a:rPr lang="en-US" dirty="0"/>
              <a:t> property (continued):</a:t>
            </a:r>
          </a:p>
          <a:p>
            <a:pPr lvl="1"/>
            <a:r>
              <a:rPr lang="en-US" dirty="0"/>
              <a:t>number of </a:t>
            </a:r>
            <a:r>
              <a:rPr lang="en-US" dirty="0" err="1">
                <a:latin typeface="Courier New" panose="02070309020205020404" pitchFamily="49" charset="0"/>
                <a:cs typeface="Courier New" panose="02070309020205020404" pitchFamily="49" charset="0"/>
              </a:rPr>
              <a:t>em</a:t>
            </a:r>
            <a:r>
              <a:rPr lang="en-US" dirty="0"/>
              <a:t> units</a:t>
            </a:r>
          </a:p>
          <a:p>
            <a:pPr lvl="3"/>
            <a:r>
              <a:rPr lang="en-US" dirty="0"/>
              <a:t>One </a:t>
            </a:r>
            <a:r>
              <a:rPr lang="en-US" dirty="0" err="1">
                <a:latin typeface="Courier New" panose="02070309020205020404" pitchFamily="49" charset="0"/>
                <a:cs typeface="Courier New" panose="02070309020205020404" pitchFamily="49" charset="0"/>
              </a:rPr>
              <a:t>em</a:t>
            </a:r>
            <a:r>
              <a:rPr lang="en-US" dirty="0"/>
              <a:t> unit is the height of the element’s normal font size.</a:t>
            </a:r>
          </a:p>
          <a:p>
            <a:pPr lvl="3"/>
            <a:r>
              <a:rPr lang="en-US" dirty="0"/>
              <a:t>Example:</a:t>
            </a:r>
          </a:p>
          <a:p>
            <a:pPr marL="1828800" lvl="4" indent="0">
              <a:buNone/>
            </a:pPr>
            <a:r>
              <a:rPr lang="en-US" dirty="0">
                <a:latin typeface="Courier New" panose="02070309020205020404" pitchFamily="49" charset="0"/>
                <a:cs typeface="Courier New" panose="02070309020205020404" pitchFamily="49" charset="0"/>
              </a:rPr>
              <a:t>.</a:t>
            </a:r>
            <a:r>
              <a:rPr lang="en-US" sz="1800" dirty="0">
                <a:latin typeface="Courier New" panose="02070309020205020404" pitchFamily="49" charset="0"/>
                <a:cs typeface="Courier New" panose="02070309020205020404" pitchFamily="49" charset="0"/>
              </a:rPr>
              <a:t>disclaimer {font-size: .5em;}</a:t>
            </a:r>
          </a:p>
          <a:p>
            <a:pPr marL="1828800" lvl="4" indent="0">
              <a:buNone/>
            </a:pPr>
            <a:r>
              <a:rPr lang="en-US" sz="1800" dirty="0">
                <a:latin typeface="Courier New" panose="02070309020205020404" pitchFamily="49" charset="0"/>
                <a:cs typeface="Courier New" panose="02070309020205020404" pitchFamily="49" charset="0"/>
              </a:rPr>
              <a:t>.advertisement {font-size: 3em;}</a:t>
            </a:r>
          </a:p>
          <a:p>
            <a:pPr lvl="3"/>
            <a:endParaRPr lang="en-US" dirty="0"/>
          </a:p>
        </p:txBody>
      </p:sp>
      <p:sp>
        <p:nvSpPr>
          <p:cNvPr id="82950" name="Text Box 7" descr="note number"/>
          <p:cNvSpPr txBox="1">
            <a:spLocks noChangeArrowheads="1"/>
          </p:cNvSpPr>
          <p:nvPr/>
        </p:nvSpPr>
        <p:spPr bwMode="auto">
          <a:xfrm>
            <a:off x="533400" y="3114675"/>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
        <p:nvSpPr>
          <p:cNvPr id="82951" name="Text Box 7" descr="note number"/>
          <p:cNvSpPr txBox="1">
            <a:spLocks noChangeArrowheads="1"/>
          </p:cNvSpPr>
          <p:nvPr/>
        </p:nvSpPr>
        <p:spPr bwMode="auto">
          <a:xfrm>
            <a:off x="533400" y="3480176"/>
            <a:ext cx="266700" cy="30797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3</a:t>
            </a:r>
          </a:p>
        </p:txBody>
      </p:sp>
      <p:sp>
        <p:nvSpPr>
          <p:cNvPr id="8" name="Rectangle 12"/>
          <p:cNvSpPr>
            <a:spLocks noChangeArrowheads="1"/>
          </p:cNvSpPr>
          <p:nvPr/>
        </p:nvSpPr>
        <p:spPr bwMode="auto">
          <a:xfrm>
            <a:off x="7620577" y="2778286"/>
            <a:ext cx="1146175" cy="338138"/>
          </a:xfrm>
          <a:prstGeom prst="rect">
            <a:avLst/>
          </a:prstGeom>
          <a:solidFill>
            <a:srgbClr val="CCFFCC"/>
          </a:solidFill>
          <a:ln w="9525">
            <a:solidFill>
              <a:srgbClr val="0000FF"/>
            </a:solidFill>
            <a:miter lim="800000"/>
            <a:headEnd/>
            <a:tailEnd/>
          </a:ln>
        </p:spPr>
        <p:txBody>
          <a:bodyPr anchor="ctr">
            <a:spAutoFit/>
          </a:bodyPr>
          <a:lstStyle/>
          <a:p>
            <a:pPr algn="ctr" eaLnBrk="1" hangingPunct="1">
              <a:defRPr/>
            </a:pPr>
            <a:r>
              <a:rPr lang="en-US" sz="1600" dirty="0">
                <a:latin typeface="+mn-lt"/>
                <a:cs typeface="Courier New" pitchFamily="49" charset="0"/>
              </a:rPr>
              <a:t>no space</a:t>
            </a:r>
          </a:p>
        </p:txBody>
      </p:sp>
      <p:sp>
        <p:nvSpPr>
          <p:cNvPr id="82953" name="Line 9"/>
          <p:cNvSpPr>
            <a:spLocks noChangeShapeType="1"/>
          </p:cNvSpPr>
          <p:nvPr/>
        </p:nvSpPr>
        <p:spPr bwMode="auto">
          <a:xfrm flipH="1">
            <a:off x="6705600" y="2895600"/>
            <a:ext cx="76200" cy="223837"/>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2954" name="Text Box 7" descr="note number"/>
          <p:cNvSpPr txBox="1">
            <a:spLocks noChangeArrowheads="1"/>
          </p:cNvSpPr>
          <p:nvPr/>
        </p:nvSpPr>
        <p:spPr bwMode="auto">
          <a:xfrm>
            <a:off x="533400" y="3839327"/>
            <a:ext cx="266700" cy="30797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4</a:t>
            </a:r>
          </a:p>
        </p:txBody>
      </p:sp>
      <p:cxnSp>
        <p:nvCxnSpPr>
          <p:cNvPr id="82955" name="Straight Connector 2"/>
          <p:cNvCxnSpPr>
            <a:cxnSpLocks noChangeShapeType="1"/>
          </p:cNvCxnSpPr>
          <p:nvPr/>
        </p:nvCxnSpPr>
        <p:spPr bwMode="auto">
          <a:xfrm flipH="1">
            <a:off x="6781800" y="2895600"/>
            <a:ext cx="841375" cy="0"/>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7496731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4995" name="Rectangle 2"/>
          <p:cNvSpPr>
            <a:spLocks noGrp="1" noChangeArrowheads="1"/>
          </p:cNvSpPr>
          <p:nvPr>
            <p:ph type="title"/>
          </p:nvPr>
        </p:nvSpPr>
        <p:spPr/>
        <p:txBody>
          <a:bodyPr/>
          <a:lstStyle/>
          <a:p>
            <a:r>
              <a:rPr lang="en-US" altLang="en-US" dirty="0">
                <a:latin typeface="Courier New" panose="02070309020205020404" pitchFamily="49" charset="0"/>
                <a:cs typeface="Courier New" panose="02070309020205020404" pitchFamily="49" charset="0"/>
              </a:rPr>
              <a:t>font-size</a:t>
            </a:r>
            <a:r>
              <a:rPr lang="en-US" altLang="en-US" dirty="0"/>
              <a:t> Property (hidden)</a:t>
            </a:r>
          </a:p>
        </p:txBody>
      </p:sp>
      <p:sp>
        <p:nvSpPr>
          <p:cNvPr id="43012" name="Rectangle 3"/>
          <p:cNvSpPr>
            <a:spLocks noGrp="1" noChangeArrowheads="1"/>
          </p:cNvSpPr>
          <p:nvPr>
            <p:ph idx="1"/>
          </p:nvPr>
        </p:nvSpPr>
        <p:spPr/>
        <p:txBody>
          <a:bodyPr/>
          <a:lstStyle/>
          <a:p>
            <a:r>
              <a:rPr lang="en-US" dirty="0"/>
              <a:t>The </a:t>
            </a:r>
            <a:r>
              <a:rPr lang="en-US" dirty="0">
                <a:latin typeface="Courier New" panose="02070309020205020404" pitchFamily="49" charset="0"/>
                <a:cs typeface="Courier New" panose="02070309020205020404" pitchFamily="49" charset="0"/>
              </a:rPr>
              <a:t>font-size</a:t>
            </a:r>
            <a:r>
              <a:rPr lang="en-US" dirty="0"/>
              <a:t> property specifies the size of the text characters.</a:t>
            </a:r>
          </a:p>
          <a:p>
            <a:r>
              <a:rPr lang="en-US" dirty="0"/>
              <a:t>The most appropriate values for the </a:t>
            </a:r>
            <a:r>
              <a:rPr lang="en-US" dirty="0">
                <a:latin typeface="Courier New" panose="02070309020205020404" pitchFamily="49" charset="0"/>
                <a:cs typeface="Courier New" panose="02070309020205020404" pitchFamily="49" charset="0"/>
              </a:rPr>
              <a:t>font-size</a:t>
            </a:r>
            <a:r>
              <a:rPr lang="en-US" dirty="0"/>
              <a:t> property:</a:t>
            </a:r>
          </a:p>
          <a:p>
            <a:pPr lvl="1"/>
            <a:r>
              <a:rPr lang="en-US" dirty="0">
                <a:latin typeface="Courier New" panose="02070309020205020404" pitchFamily="49" charset="0"/>
                <a:cs typeface="Courier New" panose="02070309020205020404" pitchFamily="49" charset="0"/>
              </a:rPr>
              <a:t>xx-small, x-small, small, medium, large, x-large, xx-large, smaller, larger -</a:t>
            </a:r>
          </a:p>
          <a:p>
            <a:pPr lvl="3"/>
            <a:r>
              <a:rPr lang="en-US" dirty="0"/>
              <a:t>The browser determines the exact size for each value.</a:t>
            </a:r>
          </a:p>
          <a:p>
            <a:pPr lvl="3"/>
            <a:r>
              <a:rPr lang="en-US" dirty="0"/>
              <a:t>Example:</a:t>
            </a:r>
          </a:p>
          <a:p>
            <a:pPr marL="1828800" lvl="4" indent="0">
              <a:buNone/>
            </a:pPr>
            <a:r>
              <a:rPr lang="en-US" sz="1800" dirty="0">
                <a:latin typeface="Courier New" panose="02070309020205020404" pitchFamily="49" charset="0"/>
                <a:cs typeface="Courier New" panose="02070309020205020404" pitchFamily="49" charset="0"/>
              </a:rPr>
              <a:t>.huge-font {font-size: xx-large;}</a:t>
            </a:r>
          </a:p>
          <a:p>
            <a:pPr lvl="1"/>
            <a:r>
              <a:rPr lang="en-US" dirty="0"/>
              <a:t>number of </a:t>
            </a:r>
            <a:r>
              <a:rPr lang="en-US" dirty="0" err="1">
                <a:latin typeface="Courier New" panose="02070309020205020404" pitchFamily="49" charset="0"/>
                <a:cs typeface="Courier New" panose="02070309020205020404" pitchFamily="49" charset="0"/>
              </a:rPr>
              <a:t>em</a:t>
            </a:r>
            <a:r>
              <a:rPr lang="en-US" dirty="0"/>
              <a:t> units -</a:t>
            </a:r>
          </a:p>
          <a:p>
            <a:pPr lvl="3"/>
            <a:r>
              <a:rPr lang="en-US" dirty="0"/>
              <a:t>One </a:t>
            </a:r>
            <a:r>
              <a:rPr lang="en-US" dirty="0" err="1">
                <a:latin typeface="Courier New" panose="02070309020205020404" pitchFamily="49" charset="0"/>
                <a:cs typeface="Courier New" panose="02070309020205020404" pitchFamily="49" charset="0"/>
              </a:rPr>
              <a:t>em</a:t>
            </a:r>
            <a:r>
              <a:rPr lang="en-US" dirty="0"/>
              <a:t> unit is the height of the element’s normal font size </a:t>
            </a:r>
          </a:p>
          <a:p>
            <a:pPr lvl="3"/>
            <a:r>
              <a:rPr lang="en-US" dirty="0"/>
              <a:t>Example:</a:t>
            </a:r>
          </a:p>
          <a:p>
            <a:pPr marL="1828800" lvl="4" indent="0">
              <a:buNone/>
            </a:pPr>
            <a:r>
              <a:rPr lang="en-US" sz="1800" dirty="0">
                <a:latin typeface="Courier New" panose="02070309020205020404" pitchFamily="49" charset="0"/>
                <a:cs typeface="Courier New" panose="02070309020205020404" pitchFamily="49" charset="0"/>
              </a:rPr>
              <a:t>.disclaimer {font-size: .5em;}</a:t>
            </a:r>
          </a:p>
          <a:p>
            <a:pPr marL="1828800" lvl="4" indent="0">
              <a:buNone/>
            </a:pPr>
            <a:r>
              <a:rPr lang="en-US" sz="1800" dirty="0">
                <a:latin typeface="Courier New" panose="02070309020205020404" pitchFamily="49" charset="0"/>
                <a:cs typeface="Courier New" panose="02070309020205020404" pitchFamily="49" charset="0"/>
              </a:rPr>
              <a:t>.advertisement {font-size: 3em;}</a:t>
            </a:r>
          </a:p>
          <a:p>
            <a:pPr lvl="3"/>
            <a:endParaRPr lang="en-US" dirty="0"/>
          </a:p>
        </p:txBody>
      </p:sp>
      <p:sp>
        <p:nvSpPr>
          <p:cNvPr id="8" name="Rectangle 12"/>
          <p:cNvSpPr>
            <a:spLocks noChangeArrowheads="1"/>
          </p:cNvSpPr>
          <p:nvPr/>
        </p:nvSpPr>
        <p:spPr bwMode="auto">
          <a:xfrm>
            <a:off x="7499350" y="4974224"/>
            <a:ext cx="1146175" cy="338138"/>
          </a:xfrm>
          <a:prstGeom prst="rect">
            <a:avLst/>
          </a:prstGeom>
          <a:solidFill>
            <a:srgbClr val="CCFFCC"/>
          </a:solidFill>
          <a:ln w="9525">
            <a:solidFill>
              <a:srgbClr val="0000FF"/>
            </a:solidFill>
            <a:miter lim="800000"/>
            <a:headEnd/>
            <a:tailEnd/>
          </a:ln>
        </p:spPr>
        <p:txBody>
          <a:bodyPr anchor="ctr">
            <a:spAutoFit/>
          </a:bodyPr>
          <a:lstStyle/>
          <a:p>
            <a:pPr algn="ctr" eaLnBrk="1" hangingPunct="1">
              <a:defRPr/>
            </a:pPr>
            <a:r>
              <a:rPr lang="en-US" sz="1600" dirty="0">
                <a:latin typeface="+mn-lt"/>
                <a:cs typeface="Courier New" pitchFamily="49" charset="0"/>
              </a:rPr>
              <a:t>no space</a:t>
            </a:r>
          </a:p>
        </p:txBody>
      </p:sp>
      <p:sp>
        <p:nvSpPr>
          <p:cNvPr id="84998" name="Line 9"/>
          <p:cNvSpPr>
            <a:spLocks noChangeShapeType="1"/>
          </p:cNvSpPr>
          <p:nvPr/>
        </p:nvSpPr>
        <p:spPr bwMode="auto">
          <a:xfrm flipH="1">
            <a:off x="6553200" y="5143293"/>
            <a:ext cx="104775" cy="223837"/>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4999" name="Text Box 7" descr="note number"/>
          <p:cNvSpPr txBox="1">
            <a:spLocks noChangeArrowheads="1"/>
          </p:cNvSpPr>
          <p:nvPr/>
        </p:nvSpPr>
        <p:spPr bwMode="auto">
          <a:xfrm>
            <a:off x="693420" y="5759073"/>
            <a:ext cx="266700" cy="30797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cxnSp>
        <p:nvCxnSpPr>
          <p:cNvPr id="85000" name="Straight Connector 2"/>
          <p:cNvCxnSpPr>
            <a:cxnSpLocks noChangeShapeType="1"/>
          </p:cNvCxnSpPr>
          <p:nvPr/>
        </p:nvCxnSpPr>
        <p:spPr bwMode="auto">
          <a:xfrm flipH="1">
            <a:off x="6657975" y="5143293"/>
            <a:ext cx="841375" cy="0"/>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sp>
        <p:nvSpPr>
          <p:cNvPr id="85001" name="Text Box 7" descr="note number"/>
          <p:cNvSpPr txBox="1">
            <a:spLocks noChangeArrowheads="1"/>
          </p:cNvSpPr>
          <p:nvPr/>
        </p:nvSpPr>
        <p:spPr bwMode="auto">
          <a:xfrm>
            <a:off x="703811" y="6097364"/>
            <a:ext cx="266700" cy="30797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2</a:t>
            </a: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2"/>
          <p:cNvSpPr>
            <a:spLocks noGrp="1" noChangeArrowheads="1"/>
          </p:cNvSpPr>
          <p:nvPr>
            <p:ph type="title"/>
          </p:nvPr>
        </p:nvSpPr>
        <p:spPr/>
        <p:txBody>
          <a:bodyPr/>
          <a:lstStyle/>
          <a:p>
            <a:r>
              <a:rPr lang="en-US" altLang="en-US" dirty="0">
                <a:latin typeface="Courier New" panose="02070309020205020404" pitchFamily="49" charset="0"/>
                <a:cs typeface="Courier New" panose="02070309020205020404" pitchFamily="49" charset="0"/>
              </a:rPr>
              <a:t>font-family</a:t>
            </a:r>
            <a:r>
              <a:rPr lang="en-US" altLang="en-US" dirty="0"/>
              <a:t> Property (1 of 4)</a:t>
            </a:r>
          </a:p>
        </p:txBody>
      </p:sp>
      <p:sp>
        <p:nvSpPr>
          <p:cNvPr id="43012" name="Rectangle 3"/>
          <p:cNvSpPr>
            <a:spLocks noGrp="1" noChangeArrowheads="1"/>
          </p:cNvSpPr>
          <p:nvPr>
            <p:ph idx="1"/>
          </p:nvPr>
        </p:nvSpPr>
        <p:spPr/>
        <p:txBody>
          <a:bodyPr/>
          <a:lstStyle/>
          <a:p>
            <a:r>
              <a:rPr lang="en-US" dirty="0"/>
              <a:t>The </a:t>
            </a:r>
            <a:r>
              <a:rPr lang="en-US" dirty="0">
                <a:latin typeface="Courier New" panose="02070309020205020404" pitchFamily="49" charset="0"/>
                <a:cs typeface="Courier New" panose="02070309020205020404" pitchFamily="49" charset="0"/>
              </a:rPr>
              <a:t>font-family</a:t>
            </a:r>
            <a:r>
              <a:rPr lang="en-US" dirty="0"/>
              <a:t> property specifies a comma-separated list of fonts, such that one of the fonts will be applied to the element(s) that the CSS rule matches. For example:</a:t>
            </a:r>
          </a:p>
          <a:p>
            <a:pPr marL="457200" lvl="1" indent="0">
              <a:buNone/>
            </a:pPr>
            <a:r>
              <a:rPr lang="en-US" sz="2000" dirty="0">
                <a:latin typeface="Courier New" panose="02070309020205020404" pitchFamily="49" charset="0"/>
                <a:cs typeface="Courier New" panose="02070309020205020404" pitchFamily="49" charset="0"/>
              </a:rPr>
              <a:t>body {font-family: Courier, </a:t>
            </a:r>
            <a:r>
              <a:rPr lang="en-US" sz="2000" dirty="0" err="1">
                <a:latin typeface="Courier New" panose="02070309020205020404" pitchFamily="49" charset="0"/>
                <a:cs typeface="Courier New" panose="02070309020205020404" pitchFamily="49" charset="0"/>
              </a:rPr>
              <a:t>monospace</a:t>
            </a:r>
            <a:r>
              <a:rPr lang="en-US" sz="2000" dirty="0">
                <a:latin typeface="Courier New" panose="02070309020205020404" pitchFamily="49" charset="0"/>
                <a:cs typeface="Courier New" panose="02070309020205020404" pitchFamily="49" charset="0"/>
              </a:rPr>
              <a:t>;}</a:t>
            </a:r>
          </a:p>
          <a:p>
            <a:r>
              <a:rPr lang="en-US" dirty="0"/>
              <a:t>Working its way through the list from left to right, the browser uses the first font value it finds installed on the browser’s computer and skips the other fonts.</a:t>
            </a:r>
          </a:p>
          <a:p>
            <a:r>
              <a:rPr lang="en-US" dirty="0"/>
              <a:t>There are lots of font names, and different browsers support different ones. Users are able to install fonts in addition to the ones provided by their browsers.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2"/>
          <p:cNvSpPr>
            <a:spLocks noGrp="1" noChangeArrowheads="1"/>
          </p:cNvSpPr>
          <p:nvPr>
            <p:ph type="title"/>
          </p:nvPr>
        </p:nvSpPr>
        <p:spPr/>
        <p:txBody>
          <a:bodyPr/>
          <a:lstStyle/>
          <a:p>
            <a:r>
              <a:rPr lang="en-US" altLang="en-US" dirty="0">
                <a:latin typeface="Courier New" panose="02070309020205020404" pitchFamily="49" charset="0"/>
                <a:cs typeface="Courier New" panose="02070309020205020404" pitchFamily="49" charset="0"/>
              </a:rPr>
              <a:t>font-family</a:t>
            </a:r>
            <a:r>
              <a:rPr lang="en-US" altLang="en-US" dirty="0"/>
              <a:t> Property (2 of 4)</a:t>
            </a:r>
          </a:p>
        </p:txBody>
      </p:sp>
      <p:sp>
        <p:nvSpPr>
          <p:cNvPr id="43012" name="Rectangle 3"/>
          <p:cNvSpPr>
            <a:spLocks noGrp="1" noChangeArrowheads="1"/>
          </p:cNvSpPr>
          <p:nvPr>
            <p:ph idx="1"/>
          </p:nvPr>
        </p:nvSpPr>
        <p:spPr/>
        <p:txBody>
          <a:bodyPr/>
          <a:lstStyle/>
          <a:p>
            <a:r>
              <a:rPr lang="en-US" dirty="0"/>
              <a:t>For a small sample of font names, see </a:t>
            </a:r>
            <a:r>
              <a:rPr lang="en-US" dirty="0">
                <a:hlinkClick r:id="rId3"/>
              </a:rPr>
              <a:t>https://developer.mozilla.org/en-US/docs/Web/CSS/font-family</a:t>
            </a:r>
            <a:r>
              <a:rPr lang="en-US" dirty="0"/>
              <a:t>.</a:t>
            </a:r>
          </a:p>
          <a:p>
            <a:r>
              <a:rPr lang="en-US" dirty="0"/>
              <a:t>Font names are case sensitive on some operating systems, so use the proper case.</a:t>
            </a:r>
          </a:p>
          <a:p>
            <a:r>
              <a:rPr lang="en-US" dirty="0"/>
              <a:t>Normal font names use title case, but not generic fonts…</a:t>
            </a:r>
          </a:p>
        </p:txBody>
      </p:sp>
      <p:sp>
        <p:nvSpPr>
          <p:cNvPr id="87045" name="Text Box 7" descr="note number"/>
          <p:cNvSpPr txBox="1">
            <a:spLocks noChangeArrowheads="1"/>
          </p:cNvSpPr>
          <p:nvPr/>
        </p:nvSpPr>
        <p:spPr bwMode="auto">
          <a:xfrm>
            <a:off x="381000" y="22098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87046" name="Text Box 7" descr="note number"/>
          <p:cNvSpPr txBox="1">
            <a:spLocks noChangeArrowheads="1"/>
          </p:cNvSpPr>
          <p:nvPr/>
        </p:nvSpPr>
        <p:spPr bwMode="auto">
          <a:xfrm>
            <a:off x="381000" y="3998769"/>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2</a:t>
            </a:r>
          </a:p>
        </p:txBody>
      </p:sp>
    </p:spTree>
    <p:extLst>
      <p:ext uri="{BB962C8B-B14F-4D97-AF65-F5344CB8AC3E}">
        <p14:creationId xmlns:p14="http://schemas.microsoft.com/office/powerpoint/2010/main" val="2962347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2"/>
          <p:cNvSpPr>
            <a:spLocks noGrp="1" noChangeArrowheads="1"/>
          </p:cNvSpPr>
          <p:nvPr>
            <p:ph type="title"/>
          </p:nvPr>
        </p:nvSpPr>
        <p:spPr/>
        <p:txBody>
          <a:bodyPr/>
          <a:lstStyle/>
          <a:p>
            <a:r>
              <a:rPr lang="en-US" altLang="en-US" dirty="0">
                <a:latin typeface="Courier New" panose="02070309020205020404" pitchFamily="49" charset="0"/>
                <a:cs typeface="Courier New" panose="02070309020205020404" pitchFamily="49" charset="0"/>
              </a:rPr>
              <a:t>font-family</a:t>
            </a:r>
            <a:r>
              <a:rPr lang="en-US" altLang="en-US" dirty="0"/>
              <a:t> Property (3 of 4)</a:t>
            </a:r>
          </a:p>
        </p:txBody>
      </p:sp>
      <p:sp>
        <p:nvSpPr>
          <p:cNvPr id="43012" name="Rectangle 3"/>
          <p:cNvSpPr>
            <a:spLocks noGrp="1" noChangeArrowheads="1"/>
          </p:cNvSpPr>
          <p:nvPr>
            <p:ph idx="1"/>
          </p:nvPr>
        </p:nvSpPr>
        <p:spPr/>
        <p:txBody>
          <a:bodyPr/>
          <a:lstStyle/>
          <a:p>
            <a:r>
              <a:rPr lang="en-US" dirty="0"/>
              <a:t>To handle the possibility that your preferred font isn’t supported by the user’s browser, you should specify one of these </a:t>
            </a:r>
            <a:r>
              <a:rPr lang="en-US" i="1" dirty="0"/>
              <a:t>generic font families </a:t>
            </a:r>
            <a:r>
              <a:rPr lang="en-US" dirty="0"/>
              <a:t>at the end of your font lists:</a:t>
            </a:r>
          </a:p>
          <a:p>
            <a:pPr marL="457200" lvl="1" indent="0">
              <a:buNone/>
            </a:pPr>
            <a:r>
              <a:rPr lang="en-US" sz="2000" dirty="0">
                <a:latin typeface="Courier New" panose="02070309020205020404" pitchFamily="49" charset="0"/>
                <a:cs typeface="Courier New" panose="02070309020205020404" pitchFamily="49" charset="0"/>
              </a:rPr>
              <a:t>serif, sans-serif, </a:t>
            </a:r>
            <a:r>
              <a:rPr lang="en-US" sz="2000" dirty="0" err="1">
                <a:latin typeface="Courier New" panose="02070309020205020404" pitchFamily="49" charset="0"/>
                <a:cs typeface="Courier New" panose="02070309020205020404" pitchFamily="49" charset="0"/>
              </a:rPr>
              <a:t>monospace</a:t>
            </a:r>
            <a:r>
              <a:rPr lang="en-US" sz="2000" dirty="0">
                <a:latin typeface="Courier New" panose="02070309020205020404" pitchFamily="49" charset="0"/>
                <a:cs typeface="Courier New" panose="02070309020205020404" pitchFamily="49" charset="0"/>
              </a:rPr>
              <a:t>, cursive, fantasy</a:t>
            </a:r>
          </a:p>
          <a:p>
            <a:r>
              <a:rPr lang="en-US" dirty="0"/>
              <a:t>Generic font family names use lowercase.</a:t>
            </a:r>
          </a:p>
          <a:p>
            <a:r>
              <a:rPr lang="en-US" dirty="0"/>
              <a:t>All browsers recognize the generic font families and render them using a font from that family.</a:t>
            </a:r>
          </a:p>
          <a:p>
            <a:r>
              <a:rPr lang="en-US" dirty="0"/>
              <a:t>For generic font family descriptions and example fonts within each generic font family, see (same as on the previous slide):</a:t>
            </a:r>
          </a:p>
          <a:p>
            <a:pPr lvl="1"/>
            <a:r>
              <a:rPr lang="en-US" dirty="0">
                <a:hlinkClick r:id="rId3"/>
              </a:rPr>
              <a:t>https://developer.mozilla.org/en-US/docs/Web/CSS/font-family</a:t>
            </a:r>
            <a:endParaRPr lang="en-US" dirty="0"/>
          </a:p>
        </p:txBody>
      </p:sp>
      <p:sp>
        <p:nvSpPr>
          <p:cNvPr id="89093" name="Text Box 7" descr="note number"/>
          <p:cNvSpPr txBox="1">
            <a:spLocks noChangeArrowheads="1"/>
          </p:cNvSpPr>
          <p:nvPr/>
        </p:nvSpPr>
        <p:spPr bwMode="auto">
          <a:xfrm>
            <a:off x="381000" y="54864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2"/>
          <p:cNvSpPr>
            <a:spLocks noGrp="1" noChangeArrowheads="1"/>
          </p:cNvSpPr>
          <p:nvPr>
            <p:ph type="title"/>
          </p:nvPr>
        </p:nvSpPr>
        <p:spPr/>
        <p:txBody>
          <a:bodyPr/>
          <a:lstStyle/>
          <a:p>
            <a:r>
              <a:rPr lang="en-US" altLang="en-US" dirty="0">
                <a:latin typeface="Courier New" panose="02070309020205020404" pitchFamily="49" charset="0"/>
                <a:cs typeface="Courier New" panose="02070309020205020404" pitchFamily="49" charset="0"/>
              </a:rPr>
              <a:t>font-family</a:t>
            </a:r>
            <a:r>
              <a:rPr lang="en-US" altLang="en-US" dirty="0"/>
              <a:t> Property (4 of 4)</a:t>
            </a:r>
          </a:p>
        </p:txBody>
      </p:sp>
      <p:sp>
        <p:nvSpPr>
          <p:cNvPr id="43012" name="Rectangle 3"/>
          <p:cNvSpPr>
            <a:spLocks noGrp="1" noChangeArrowheads="1"/>
          </p:cNvSpPr>
          <p:nvPr>
            <p:ph idx="1"/>
          </p:nvPr>
        </p:nvSpPr>
        <p:spPr/>
        <p:txBody>
          <a:bodyPr/>
          <a:lstStyle/>
          <a:p>
            <a:r>
              <a:rPr lang="en-US" dirty="0"/>
              <a:t>When specifying a multiple-word font name, surround the name with quotes. For example:</a:t>
            </a:r>
          </a:p>
          <a:p>
            <a:pPr marL="457200" lvl="1" indent="0">
              <a:buNone/>
            </a:pPr>
            <a:r>
              <a:rPr lang="en-US" sz="1800" dirty="0">
                <a:latin typeface="Courier New" panose="02070309020205020404" pitchFamily="49" charset="0"/>
                <a:cs typeface="Courier New" panose="02070309020205020404" pitchFamily="49" charset="0"/>
              </a:rPr>
              <a:t>.</a:t>
            </a:r>
            <a:r>
              <a:rPr lang="en-US" sz="1800" dirty="0" err="1">
                <a:latin typeface="Courier New" panose="02070309020205020404" pitchFamily="49" charset="0"/>
                <a:cs typeface="Courier New" panose="02070309020205020404" pitchFamily="49" charset="0"/>
              </a:rPr>
              <a:t>cmd</a:t>
            </a:r>
            <a:r>
              <a:rPr lang="en-US" sz="1800" dirty="0">
                <a:latin typeface="Courier New" panose="02070309020205020404" pitchFamily="49" charset="0"/>
                <a:cs typeface="Courier New" panose="02070309020205020404" pitchFamily="49" charset="0"/>
              </a:rPr>
              <a:t>-font {font-family: "</a:t>
            </a:r>
            <a:r>
              <a:rPr lang="en-US" sz="1800" dirty="0" err="1">
                <a:latin typeface="Courier New" panose="02070309020205020404" pitchFamily="49" charset="0"/>
                <a:cs typeface="Courier New" panose="02070309020205020404" pitchFamily="49" charset="0"/>
              </a:rPr>
              <a:t>DejaVu</a:t>
            </a:r>
            <a:r>
              <a:rPr lang="en-US" sz="1800" dirty="0">
                <a:latin typeface="Courier New" panose="02070309020205020404" pitchFamily="49" charset="0"/>
                <a:cs typeface="Courier New" panose="02070309020205020404" pitchFamily="49" charset="0"/>
              </a:rPr>
              <a:t> Sans Mono", Courier, monospace;}</a:t>
            </a:r>
          </a:p>
          <a:p>
            <a:pPr lvl="1"/>
            <a:endParaRPr lang="en-US" dirty="0"/>
          </a:p>
          <a:p>
            <a:pPr lvl="1"/>
            <a:endParaRPr lang="en-US" dirty="0"/>
          </a:p>
          <a:p>
            <a:pPr lvl="1"/>
            <a:r>
              <a:rPr lang="en-US" dirty="0"/>
              <a:t>Suppose a web page includes the CSS rule above and the paragraph below. If a user’s computer has the </a:t>
            </a:r>
            <a:r>
              <a:rPr lang="en-US" dirty="0" err="1"/>
              <a:t>DejaVu</a:t>
            </a:r>
            <a:r>
              <a:rPr lang="en-US" dirty="0"/>
              <a:t> Sans Mono font and also the Courier font installed on it, what font will the browser use to display the div?</a:t>
            </a:r>
          </a:p>
          <a:p>
            <a:pPr marL="457200" lvl="1" indent="0">
              <a:buNone/>
            </a:pPr>
            <a:r>
              <a:rPr lang="en-US" sz="1600" dirty="0">
                <a:latin typeface="Courier New" panose="02070309020205020404" pitchFamily="49" charset="0"/>
                <a:cs typeface="Courier New" panose="02070309020205020404" pitchFamily="49" charset="0"/>
              </a:rPr>
              <a:t>&lt;div class="</a:t>
            </a:r>
            <a:r>
              <a:rPr lang="en-US" sz="1600" dirty="0" err="1">
                <a:latin typeface="Courier New" panose="02070309020205020404" pitchFamily="49" charset="0"/>
                <a:cs typeface="Courier New" panose="02070309020205020404" pitchFamily="49" charset="0"/>
              </a:rPr>
              <a:t>cmd</a:t>
            </a:r>
            <a:r>
              <a:rPr lang="en-US" sz="1600" dirty="0">
                <a:latin typeface="Courier New" panose="02070309020205020404" pitchFamily="49" charset="0"/>
                <a:cs typeface="Courier New" panose="02070309020205020404" pitchFamily="49" charset="0"/>
              </a:rPr>
              <a:t>-font"&gt;</a:t>
            </a:r>
          </a:p>
          <a:p>
            <a:pPr marL="457200" lvl="1" indent="0">
              <a:buNone/>
            </a:pPr>
            <a:r>
              <a:rPr lang="en-US" sz="1600" dirty="0">
                <a:latin typeface="Courier New" panose="02070309020205020404" pitchFamily="49" charset="0"/>
                <a:cs typeface="Courier New" panose="02070309020205020404" pitchFamily="49" charset="0"/>
              </a:rPr>
              <a:t>  C:\temp&gt;netstat</a:t>
            </a:r>
          </a:p>
          <a:p>
            <a:pPr marL="457200" lvl="1" indent="0">
              <a:buNone/>
            </a:pPr>
            <a:r>
              <a:rPr lang="en-US" sz="1600" dirty="0">
                <a:latin typeface="Courier New" panose="02070309020205020404" pitchFamily="49" charset="0"/>
                <a:cs typeface="Courier New" panose="02070309020205020404" pitchFamily="49" charset="0"/>
              </a:rPr>
              <a:t>  Proto  Local Address        Foreign Address      State</a:t>
            </a:r>
          </a:p>
          <a:p>
            <a:pPr marL="457200" lvl="1" indent="0">
              <a:buNone/>
            </a:pPr>
            <a:r>
              <a:rPr lang="en-US" sz="1600" dirty="0">
                <a:latin typeface="Courier New" panose="02070309020205020404" pitchFamily="49" charset="0"/>
                <a:cs typeface="Courier New" panose="02070309020205020404" pitchFamily="49" charset="0"/>
              </a:rPr>
              <a:t>  TCP    10.0.0.158:50302     13.8o.220.65:https   ESTABLISHED</a:t>
            </a:r>
          </a:p>
          <a:p>
            <a:pPr marL="457200" lvl="1" indent="0">
              <a:buNone/>
            </a:pPr>
            <a:r>
              <a:rPr lang="en-US" sz="1600" dirty="0">
                <a:latin typeface="Courier New" panose="02070309020205020404" pitchFamily="49" charset="0"/>
                <a:cs typeface="Courier New" panose="02070309020205020404" pitchFamily="49" charset="0"/>
              </a:rPr>
              <a:t>&lt;/div&gt;</a:t>
            </a:r>
          </a:p>
        </p:txBody>
      </p:sp>
      <p:sp>
        <p:nvSpPr>
          <p:cNvPr id="91141" name="Text Box 7" descr="note number"/>
          <p:cNvSpPr txBox="1">
            <a:spLocks noChangeArrowheads="1"/>
          </p:cNvSpPr>
          <p:nvPr/>
        </p:nvSpPr>
        <p:spPr bwMode="auto">
          <a:xfrm>
            <a:off x="659130" y="2756071"/>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7" name="Rectangle 12"/>
          <p:cNvSpPr>
            <a:spLocks noChangeArrowheads="1"/>
          </p:cNvSpPr>
          <p:nvPr/>
        </p:nvSpPr>
        <p:spPr bwMode="auto">
          <a:xfrm>
            <a:off x="6248400" y="2776853"/>
            <a:ext cx="3429000" cy="368300"/>
          </a:xfrm>
          <a:prstGeom prst="rect">
            <a:avLst/>
          </a:prstGeom>
          <a:solidFill>
            <a:srgbClr val="CCFFCC"/>
          </a:solidFill>
          <a:ln w="9525">
            <a:solidFill>
              <a:srgbClr val="0000FF"/>
            </a:solidFill>
            <a:miter lim="800000"/>
            <a:headEnd/>
            <a:tailEnd/>
          </a:ln>
        </p:spPr>
        <p:txBody>
          <a:bodyPr anchor="ctr">
            <a:spAutoFit/>
          </a:bodyPr>
          <a:lstStyle/>
          <a:p>
            <a:pPr algn="ctr" eaLnBrk="1" hangingPunct="1">
              <a:defRPr/>
            </a:pPr>
            <a:r>
              <a:rPr lang="en-US" sz="1800" dirty="0">
                <a:latin typeface="+mn-lt"/>
                <a:cs typeface="Courier New" pitchFamily="49" charset="0"/>
              </a:rPr>
              <a:t>blank space after each comma</a:t>
            </a:r>
          </a:p>
        </p:txBody>
      </p:sp>
      <p:sp>
        <p:nvSpPr>
          <p:cNvPr id="91143" name="Line 9"/>
          <p:cNvSpPr>
            <a:spLocks noChangeShapeType="1"/>
          </p:cNvSpPr>
          <p:nvPr/>
        </p:nvSpPr>
        <p:spPr bwMode="auto">
          <a:xfrm flipV="1">
            <a:off x="7467600" y="2574205"/>
            <a:ext cx="0" cy="203200"/>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1144" name="Line 9"/>
          <p:cNvSpPr>
            <a:spLocks noChangeShapeType="1"/>
          </p:cNvSpPr>
          <p:nvPr/>
        </p:nvSpPr>
        <p:spPr bwMode="auto">
          <a:xfrm flipV="1">
            <a:off x="8610600" y="2563092"/>
            <a:ext cx="0" cy="214313"/>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1145" name="Text Box 7" descr="note number"/>
          <p:cNvSpPr txBox="1">
            <a:spLocks noChangeArrowheads="1"/>
          </p:cNvSpPr>
          <p:nvPr/>
        </p:nvSpPr>
        <p:spPr bwMode="auto">
          <a:xfrm>
            <a:off x="659130" y="49530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2"/>
          <p:cNvSpPr>
            <a:spLocks noGrp="1" noChangeArrowheads="1"/>
          </p:cNvSpPr>
          <p:nvPr>
            <p:ph type="title"/>
          </p:nvPr>
        </p:nvSpPr>
        <p:spPr>
          <a:xfrm>
            <a:off x="0" y="121033"/>
            <a:ext cx="12192000" cy="1002089"/>
          </a:xfrm>
        </p:spPr>
        <p:txBody>
          <a:bodyPr/>
          <a:lstStyle/>
          <a:p>
            <a:r>
              <a:rPr lang="en-US" altLang="en-US" dirty="0">
                <a:latin typeface="Courier New" panose="02070309020205020404" pitchFamily="49" charset="0"/>
                <a:cs typeface="Courier New" panose="02070309020205020404" pitchFamily="49" charset="0"/>
              </a:rPr>
              <a:t>font</a:t>
            </a:r>
            <a:r>
              <a:rPr lang="en-US" altLang="en-US" dirty="0"/>
              <a:t> Shorthand Property (1 of 2)</a:t>
            </a:r>
          </a:p>
        </p:txBody>
      </p:sp>
      <p:sp>
        <p:nvSpPr>
          <p:cNvPr id="39940" name="Rectangle 3"/>
          <p:cNvSpPr>
            <a:spLocks noGrp="1" noChangeArrowheads="1"/>
          </p:cNvSpPr>
          <p:nvPr>
            <p:ph idx="1"/>
          </p:nvPr>
        </p:nvSpPr>
        <p:spPr>
          <a:xfrm>
            <a:off x="925830" y="1490870"/>
            <a:ext cx="10287000" cy="4699047"/>
          </a:xfrm>
        </p:spPr>
        <p:txBody>
          <a:bodyPr/>
          <a:lstStyle/>
          <a:p>
            <a:r>
              <a:rPr lang="en-US" dirty="0"/>
              <a:t>It is legal to use the </a:t>
            </a:r>
            <a:r>
              <a:rPr lang="en-US" dirty="0">
                <a:latin typeface="Courier New" panose="02070309020205020404" pitchFamily="49" charset="0"/>
                <a:cs typeface="Courier New" panose="02070309020205020404" pitchFamily="49" charset="0"/>
              </a:rPr>
              <a:t>font</a:t>
            </a:r>
            <a:r>
              <a:rPr lang="en-US" dirty="0"/>
              <a:t> property as a shorthand notation for specifying these font properties:</a:t>
            </a:r>
          </a:p>
          <a:p>
            <a:pPr marL="914400" lvl="2" indent="0">
              <a:buNone/>
            </a:pPr>
            <a:r>
              <a:rPr lang="en-US" sz="1600" dirty="0">
                <a:latin typeface="Courier New" panose="02070309020205020404" pitchFamily="49" charset="0"/>
                <a:cs typeface="Courier New" panose="02070309020205020404" pitchFamily="49" charset="0"/>
              </a:rPr>
              <a:t>font-style, font-variant, font-weight, font-size/line-height, font-family</a:t>
            </a:r>
          </a:p>
          <a:p>
            <a:r>
              <a:rPr lang="en-US" dirty="0"/>
              <a:t>If you use the </a:t>
            </a:r>
            <a:r>
              <a:rPr lang="en-US" dirty="0">
                <a:latin typeface="Courier New" panose="02070309020205020404" pitchFamily="49" charset="0"/>
                <a:cs typeface="Courier New" panose="02070309020205020404" pitchFamily="49" charset="0"/>
              </a:rPr>
              <a:t>font</a:t>
            </a:r>
            <a:r>
              <a:rPr lang="en-US" dirty="0"/>
              <a:t> property:</a:t>
            </a:r>
          </a:p>
          <a:p>
            <a:pPr lvl="1"/>
            <a:r>
              <a:rPr lang="en-US" dirty="0"/>
              <a:t>You must specify values for the </a:t>
            </a:r>
            <a:r>
              <a:rPr lang="en-US" dirty="0">
                <a:latin typeface="Courier New" panose="02070309020205020404" pitchFamily="49" charset="0"/>
                <a:cs typeface="Courier New" panose="02070309020205020404" pitchFamily="49" charset="0"/>
              </a:rPr>
              <a:t>font-size</a:t>
            </a:r>
            <a:r>
              <a:rPr lang="en-US" dirty="0"/>
              <a:t> and </a:t>
            </a:r>
            <a:r>
              <a:rPr lang="en-US" dirty="0">
                <a:latin typeface="Courier New" panose="02070309020205020404" pitchFamily="49" charset="0"/>
                <a:cs typeface="Courier New" panose="02070309020205020404" pitchFamily="49" charset="0"/>
              </a:rPr>
              <a:t>font-family</a:t>
            </a:r>
            <a:r>
              <a:rPr lang="en-US" dirty="0"/>
              <a:t> properties (the other properties are optional).</a:t>
            </a:r>
          </a:p>
          <a:p>
            <a:pPr lvl="1"/>
            <a:r>
              <a:rPr lang="en-US" dirty="0"/>
              <a:t>For the property values you specify, they must appear in the order shown above.</a:t>
            </a:r>
          </a:p>
          <a:p>
            <a:pPr lvl="1"/>
            <a:r>
              <a:rPr lang="en-US" dirty="0"/>
              <a:t>If a </a:t>
            </a:r>
            <a:r>
              <a:rPr lang="en-US" dirty="0">
                <a:latin typeface="Courier New" panose="02070309020205020404" pitchFamily="49" charset="0"/>
                <a:cs typeface="Courier New" panose="02070309020205020404" pitchFamily="49" charset="0"/>
              </a:rPr>
              <a:t>line-height</a:t>
            </a:r>
            <a:r>
              <a:rPr lang="en-US" dirty="0"/>
              <a:t> value is included, you must position it at the right of the </a:t>
            </a:r>
            <a:r>
              <a:rPr lang="en-US" dirty="0">
                <a:latin typeface="Courier New" panose="02070309020205020404" pitchFamily="49" charset="0"/>
                <a:cs typeface="Courier New" panose="02070309020205020404" pitchFamily="49" charset="0"/>
              </a:rPr>
              <a:t>font-size</a:t>
            </a:r>
            <a:r>
              <a:rPr lang="en-US" dirty="0"/>
              <a:t> value, with a / separating the two values.</a:t>
            </a:r>
          </a:p>
        </p:txBody>
      </p:sp>
      <p:sp>
        <p:nvSpPr>
          <p:cNvPr id="93190" name="Text Box 6" descr="note number"/>
          <p:cNvSpPr txBox="1">
            <a:spLocks noChangeArrowheads="1"/>
          </p:cNvSpPr>
          <p:nvPr/>
        </p:nvSpPr>
        <p:spPr bwMode="auto">
          <a:xfrm>
            <a:off x="363206" y="2210901"/>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93197" name="Text Box 6" descr="note number"/>
          <p:cNvSpPr txBox="1">
            <a:spLocks noChangeArrowheads="1"/>
          </p:cNvSpPr>
          <p:nvPr/>
        </p:nvSpPr>
        <p:spPr bwMode="auto">
          <a:xfrm>
            <a:off x="377818" y="4752975"/>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2</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2"/>
          <p:cNvSpPr>
            <a:spLocks noGrp="1" noChangeArrowheads="1"/>
          </p:cNvSpPr>
          <p:nvPr>
            <p:ph type="title"/>
          </p:nvPr>
        </p:nvSpPr>
        <p:spPr>
          <a:xfrm>
            <a:off x="0" y="121033"/>
            <a:ext cx="12192000" cy="1002089"/>
          </a:xfrm>
        </p:spPr>
        <p:txBody>
          <a:bodyPr/>
          <a:lstStyle/>
          <a:p>
            <a:r>
              <a:rPr lang="en-US" altLang="en-US" dirty="0">
                <a:latin typeface="Courier New" panose="02070309020205020404" pitchFamily="49" charset="0"/>
                <a:cs typeface="Courier New" panose="02070309020205020404" pitchFamily="49" charset="0"/>
              </a:rPr>
              <a:t>font</a:t>
            </a:r>
            <a:r>
              <a:rPr lang="en-US" altLang="en-US" dirty="0"/>
              <a:t> Shorthand Property (2 of 2)</a:t>
            </a:r>
          </a:p>
        </p:txBody>
      </p:sp>
      <p:sp>
        <p:nvSpPr>
          <p:cNvPr id="39940" name="Rectangle 3"/>
          <p:cNvSpPr>
            <a:spLocks noGrp="1" noChangeArrowheads="1"/>
          </p:cNvSpPr>
          <p:nvPr>
            <p:ph idx="1"/>
          </p:nvPr>
        </p:nvSpPr>
        <p:spPr>
          <a:xfrm>
            <a:off x="925830" y="1490870"/>
            <a:ext cx="10287000" cy="4699047"/>
          </a:xfrm>
        </p:spPr>
        <p:txBody>
          <a:bodyPr/>
          <a:lstStyle/>
          <a:p>
            <a:pPr lvl="1"/>
            <a:r>
              <a:rPr lang="en-US" dirty="0"/>
              <a:t>For example:</a:t>
            </a:r>
          </a:p>
          <a:p>
            <a:pPr marL="914400" lvl="2" indent="0">
              <a:buNone/>
            </a:pPr>
            <a:r>
              <a:rPr lang="en-US" sz="1800" dirty="0" err="1">
                <a:latin typeface="Courier New" panose="02070309020205020404" pitchFamily="49" charset="0"/>
                <a:cs typeface="Courier New" panose="02070309020205020404" pitchFamily="49" charset="0"/>
              </a:rPr>
              <a:t>blockquote</a:t>
            </a:r>
            <a:r>
              <a:rPr lang="en-US" sz="1800" dirty="0">
                <a:latin typeface="Courier New" panose="02070309020205020404" pitchFamily="49" charset="0"/>
                <a:cs typeface="Courier New" panose="02070309020205020404" pitchFamily="49" charset="0"/>
              </a:rPr>
              <a:t> {</a:t>
            </a:r>
          </a:p>
          <a:p>
            <a:pPr marL="914400" lvl="2" indent="0">
              <a:buNone/>
            </a:pPr>
            <a:r>
              <a:rPr lang="en-US" sz="1800" dirty="0">
                <a:latin typeface="Courier New" panose="02070309020205020404" pitchFamily="49" charset="0"/>
                <a:cs typeface="Courier New" panose="02070309020205020404" pitchFamily="49" charset="0"/>
              </a:rPr>
              <a:t>  font: italic large "Arial Black", Helvetica, sans-serif;</a:t>
            </a:r>
          </a:p>
          <a:p>
            <a:pPr marL="914400" lvl="2" indent="0">
              <a:buNone/>
            </a:pPr>
            <a:r>
              <a:rPr lang="en-US" sz="1800" dirty="0">
                <a:latin typeface="Courier New" panose="02070309020205020404" pitchFamily="49" charset="0"/>
                <a:cs typeface="Courier New" panose="02070309020205020404" pitchFamily="49" charset="0"/>
              </a:rPr>
              <a:t>}</a:t>
            </a:r>
          </a:p>
          <a:p>
            <a:endParaRPr lang="en-US" dirty="0"/>
          </a:p>
          <a:p>
            <a:r>
              <a:rPr lang="en-US" dirty="0"/>
              <a:t>Because of its length and its different delimiters (spaces and commas), you may want to avoid using the shorthand </a:t>
            </a:r>
            <a:r>
              <a:rPr lang="en-US" dirty="0">
                <a:latin typeface="Courier New" panose="02070309020205020404" pitchFamily="49" charset="0"/>
                <a:cs typeface="Courier New" panose="02070309020205020404" pitchFamily="49" charset="0"/>
              </a:rPr>
              <a:t>font</a:t>
            </a:r>
            <a:r>
              <a:rPr lang="en-US" dirty="0"/>
              <a:t> property and use the more granular </a:t>
            </a:r>
            <a:r>
              <a:rPr lang="en-US" dirty="0">
                <a:latin typeface="Courier New" panose="02070309020205020404" pitchFamily="49" charset="0"/>
                <a:cs typeface="Courier New" panose="02070309020205020404" pitchFamily="49" charset="0"/>
              </a:rPr>
              <a:t>font</a:t>
            </a:r>
            <a:r>
              <a:rPr lang="en-US" dirty="0"/>
              <a:t> properties (</a:t>
            </a:r>
            <a:r>
              <a:rPr lang="en-US" dirty="0">
                <a:latin typeface="Courier New" panose="02070309020205020404" pitchFamily="49" charset="0"/>
                <a:cs typeface="Courier New" panose="02070309020205020404" pitchFamily="49" charset="0"/>
              </a:rPr>
              <a:t>font-style</a:t>
            </a:r>
            <a:r>
              <a:rPr lang="en-US" dirty="0"/>
              <a:t>, etc.) instead.</a:t>
            </a:r>
          </a:p>
        </p:txBody>
      </p:sp>
      <p:sp>
        <p:nvSpPr>
          <p:cNvPr id="93189" name="Text Box 15" descr="note number"/>
          <p:cNvSpPr txBox="1">
            <a:spLocks noChangeArrowheads="1"/>
          </p:cNvSpPr>
          <p:nvPr/>
        </p:nvSpPr>
        <p:spPr bwMode="auto">
          <a:xfrm>
            <a:off x="457200" y="17526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3</a:t>
            </a:r>
          </a:p>
        </p:txBody>
      </p:sp>
      <p:sp>
        <p:nvSpPr>
          <p:cNvPr id="93191" name="Rectangle 12"/>
          <p:cNvSpPr>
            <a:spLocks noChangeArrowheads="1"/>
          </p:cNvSpPr>
          <p:nvPr/>
        </p:nvSpPr>
        <p:spPr bwMode="auto">
          <a:xfrm>
            <a:off x="2971800" y="2670175"/>
            <a:ext cx="2362200" cy="584200"/>
          </a:xfrm>
          <a:prstGeom prst="rect">
            <a:avLst/>
          </a:prstGeom>
          <a:solidFill>
            <a:srgbClr val="CCFFCC"/>
          </a:solidFill>
          <a:ln w="9525">
            <a:solidFill>
              <a:srgbClr val="0000FF"/>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eaLnBrk="1" hangingPunct="1">
              <a:spcBef>
                <a:spcPct val="50000"/>
              </a:spcBef>
              <a:buClrTx/>
              <a:buSzTx/>
              <a:buFontTx/>
              <a:buNone/>
            </a:pPr>
            <a:r>
              <a:rPr lang="en-US" altLang="en-US" sz="1600" dirty="0"/>
              <a:t>Use spaces to separate property values.</a:t>
            </a:r>
          </a:p>
        </p:txBody>
      </p:sp>
      <p:sp>
        <p:nvSpPr>
          <p:cNvPr id="93192" name="Line 9"/>
          <p:cNvSpPr>
            <a:spLocks noChangeShapeType="1"/>
          </p:cNvSpPr>
          <p:nvPr/>
        </p:nvSpPr>
        <p:spPr bwMode="auto">
          <a:xfrm flipV="1">
            <a:off x="3886200" y="2514600"/>
            <a:ext cx="0" cy="155575"/>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3193" name="Line 9"/>
          <p:cNvSpPr>
            <a:spLocks noChangeShapeType="1"/>
          </p:cNvSpPr>
          <p:nvPr/>
        </p:nvSpPr>
        <p:spPr bwMode="auto">
          <a:xfrm flipV="1">
            <a:off x="4724400" y="2514601"/>
            <a:ext cx="0" cy="155575"/>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3194" name="Rectangle 12"/>
          <p:cNvSpPr>
            <a:spLocks noChangeArrowheads="1"/>
          </p:cNvSpPr>
          <p:nvPr/>
        </p:nvSpPr>
        <p:spPr bwMode="auto">
          <a:xfrm>
            <a:off x="6400800" y="2771631"/>
            <a:ext cx="2590800" cy="584200"/>
          </a:xfrm>
          <a:prstGeom prst="rect">
            <a:avLst/>
          </a:prstGeom>
          <a:solidFill>
            <a:srgbClr val="CCFFCC"/>
          </a:solidFill>
          <a:ln w="9525">
            <a:solidFill>
              <a:srgbClr val="0000FF"/>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eaLnBrk="1" hangingPunct="1">
              <a:spcBef>
                <a:spcPct val="50000"/>
              </a:spcBef>
              <a:buClrTx/>
              <a:buSzTx/>
              <a:buFontTx/>
              <a:buNone/>
            </a:pPr>
            <a:r>
              <a:rPr lang="en-US" altLang="en-US" sz="1600" dirty="0"/>
              <a:t>Use commas  to separate </a:t>
            </a:r>
            <a:r>
              <a:rPr lang="en-US" altLang="en-US" sz="1600" dirty="0">
                <a:latin typeface="Courier New" panose="02070309020205020404" pitchFamily="49" charset="0"/>
                <a:cs typeface="Courier New" panose="02070309020205020404" pitchFamily="49" charset="0"/>
              </a:rPr>
              <a:t>font-family</a:t>
            </a:r>
            <a:r>
              <a:rPr lang="en-US" altLang="en-US" sz="1600" dirty="0"/>
              <a:t> values.</a:t>
            </a:r>
          </a:p>
        </p:txBody>
      </p:sp>
      <p:sp>
        <p:nvSpPr>
          <p:cNvPr id="93195" name="Line 9"/>
          <p:cNvSpPr>
            <a:spLocks noChangeShapeType="1"/>
          </p:cNvSpPr>
          <p:nvPr/>
        </p:nvSpPr>
        <p:spPr bwMode="auto">
          <a:xfrm flipV="1">
            <a:off x="6781800" y="2592387"/>
            <a:ext cx="0" cy="155575"/>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3196" name="Line 9"/>
          <p:cNvSpPr>
            <a:spLocks noChangeShapeType="1"/>
          </p:cNvSpPr>
          <p:nvPr/>
        </p:nvSpPr>
        <p:spPr bwMode="auto">
          <a:xfrm flipV="1">
            <a:off x="8305800" y="2597611"/>
            <a:ext cx="0" cy="155575"/>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734705669"/>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5235" name="Rectangle 2"/>
          <p:cNvSpPr>
            <a:spLocks noGrp="1" noChangeArrowheads="1"/>
          </p:cNvSpPr>
          <p:nvPr>
            <p:ph type="title"/>
          </p:nvPr>
        </p:nvSpPr>
        <p:spPr>
          <a:xfrm>
            <a:off x="0" y="121033"/>
            <a:ext cx="12192000" cy="1002089"/>
          </a:xfrm>
        </p:spPr>
        <p:txBody>
          <a:bodyPr/>
          <a:lstStyle/>
          <a:p>
            <a:r>
              <a:rPr lang="en-US" altLang="en-US" dirty="0">
                <a:latin typeface="Courier New" panose="02070309020205020404" pitchFamily="49" charset="0"/>
                <a:cs typeface="Courier New" panose="02070309020205020404" pitchFamily="49" charset="0"/>
              </a:rPr>
              <a:t>font</a:t>
            </a:r>
            <a:r>
              <a:rPr lang="en-US" altLang="en-US" dirty="0"/>
              <a:t> Shorthand Property (hidden) (1 of 2)</a:t>
            </a:r>
          </a:p>
        </p:txBody>
      </p:sp>
      <p:sp>
        <p:nvSpPr>
          <p:cNvPr id="39940" name="Rectangle 3"/>
          <p:cNvSpPr>
            <a:spLocks noGrp="1" noChangeArrowheads="1"/>
          </p:cNvSpPr>
          <p:nvPr>
            <p:ph idx="1"/>
          </p:nvPr>
        </p:nvSpPr>
        <p:spPr>
          <a:xfrm>
            <a:off x="925830" y="1490870"/>
            <a:ext cx="10287000" cy="4699047"/>
          </a:xfrm>
        </p:spPr>
        <p:txBody>
          <a:bodyPr/>
          <a:lstStyle/>
          <a:p>
            <a:r>
              <a:rPr lang="en-US" dirty="0"/>
              <a:t>It is legal to use the </a:t>
            </a:r>
            <a:r>
              <a:rPr lang="en-US" dirty="0">
                <a:latin typeface="Courier New" panose="02070309020205020404" pitchFamily="49" charset="0"/>
                <a:cs typeface="Courier New" panose="02070309020205020404" pitchFamily="49" charset="0"/>
              </a:rPr>
              <a:t>font</a:t>
            </a:r>
            <a:r>
              <a:rPr lang="en-US" dirty="0"/>
              <a:t> property as a shorthand notation for specifying these font properties:</a:t>
            </a:r>
          </a:p>
          <a:p>
            <a:pPr marL="914400" lvl="2" indent="0">
              <a:buNone/>
            </a:pPr>
            <a:r>
              <a:rPr lang="en-US" sz="1600" dirty="0">
                <a:latin typeface="Courier New" panose="02070309020205020404" pitchFamily="49" charset="0"/>
                <a:cs typeface="Courier New" panose="02070309020205020404" pitchFamily="49" charset="0"/>
              </a:rPr>
              <a:t>font-style, font-variant, font-weight, font-size/line-height, font-family</a:t>
            </a:r>
          </a:p>
          <a:p>
            <a:r>
              <a:rPr lang="en-US" dirty="0"/>
              <a:t>If you use the </a:t>
            </a:r>
            <a:r>
              <a:rPr lang="en-US" dirty="0">
                <a:latin typeface="Courier New" panose="02070309020205020404" pitchFamily="49" charset="0"/>
                <a:cs typeface="Courier New" panose="02070309020205020404" pitchFamily="49" charset="0"/>
              </a:rPr>
              <a:t>font</a:t>
            </a:r>
            <a:r>
              <a:rPr lang="en-US" dirty="0"/>
              <a:t> property:</a:t>
            </a:r>
          </a:p>
          <a:p>
            <a:pPr lvl="1"/>
            <a:r>
              <a:rPr lang="en-US" dirty="0"/>
              <a:t>You must specify values for the </a:t>
            </a:r>
            <a:r>
              <a:rPr lang="en-US" dirty="0">
                <a:latin typeface="Courier New" panose="02070309020205020404" pitchFamily="49" charset="0"/>
                <a:cs typeface="Courier New" panose="02070309020205020404" pitchFamily="49" charset="0"/>
              </a:rPr>
              <a:t>font-size</a:t>
            </a:r>
            <a:r>
              <a:rPr lang="en-US" dirty="0"/>
              <a:t> and </a:t>
            </a:r>
            <a:r>
              <a:rPr lang="en-US" dirty="0">
                <a:latin typeface="Courier New" panose="02070309020205020404" pitchFamily="49" charset="0"/>
                <a:cs typeface="Courier New" panose="02070309020205020404" pitchFamily="49" charset="0"/>
              </a:rPr>
              <a:t>font-family</a:t>
            </a:r>
            <a:r>
              <a:rPr lang="en-US" dirty="0"/>
              <a:t> properties (the other properties are optional).</a:t>
            </a:r>
          </a:p>
          <a:p>
            <a:pPr lvl="1"/>
            <a:r>
              <a:rPr lang="en-US" dirty="0"/>
              <a:t>For the property values you specify, they must appear in the order shown above.</a:t>
            </a:r>
          </a:p>
          <a:p>
            <a:pPr lvl="1"/>
            <a:r>
              <a:rPr lang="en-US" dirty="0"/>
              <a:t>If a </a:t>
            </a:r>
            <a:r>
              <a:rPr lang="en-US" dirty="0">
                <a:latin typeface="Courier New" panose="02070309020205020404" pitchFamily="49" charset="0"/>
                <a:cs typeface="Courier New" panose="02070309020205020404" pitchFamily="49" charset="0"/>
              </a:rPr>
              <a:t>line-height</a:t>
            </a:r>
            <a:r>
              <a:rPr lang="en-US" dirty="0"/>
              <a:t> value is included, you must position it at the right of the </a:t>
            </a:r>
            <a:r>
              <a:rPr lang="en-US" dirty="0">
                <a:latin typeface="Courier New" panose="02070309020205020404" pitchFamily="49" charset="0"/>
                <a:cs typeface="Courier New" panose="02070309020205020404" pitchFamily="49" charset="0"/>
              </a:rPr>
              <a:t>font-size</a:t>
            </a:r>
            <a:r>
              <a:rPr lang="en-US" dirty="0"/>
              <a:t> value, with a / separating the two values.</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5235" name="Rectangle 2"/>
          <p:cNvSpPr>
            <a:spLocks noGrp="1" noChangeArrowheads="1"/>
          </p:cNvSpPr>
          <p:nvPr>
            <p:ph type="title"/>
          </p:nvPr>
        </p:nvSpPr>
        <p:spPr>
          <a:xfrm>
            <a:off x="0" y="121033"/>
            <a:ext cx="12192000" cy="1002089"/>
          </a:xfrm>
        </p:spPr>
        <p:txBody>
          <a:bodyPr/>
          <a:lstStyle/>
          <a:p>
            <a:r>
              <a:rPr lang="en-US" altLang="en-US" dirty="0">
                <a:latin typeface="Courier New" panose="02070309020205020404" pitchFamily="49" charset="0"/>
                <a:cs typeface="Courier New" panose="02070309020205020404" pitchFamily="49" charset="0"/>
              </a:rPr>
              <a:t>font</a:t>
            </a:r>
            <a:r>
              <a:rPr lang="en-US" altLang="en-US" dirty="0"/>
              <a:t> Shorthand Property (hidden) (2 of 2)</a:t>
            </a:r>
          </a:p>
        </p:txBody>
      </p:sp>
      <p:sp>
        <p:nvSpPr>
          <p:cNvPr id="39940" name="Rectangle 3"/>
          <p:cNvSpPr>
            <a:spLocks noGrp="1" noChangeArrowheads="1"/>
          </p:cNvSpPr>
          <p:nvPr>
            <p:ph idx="1"/>
          </p:nvPr>
        </p:nvSpPr>
        <p:spPr>
          <a:xfrm>
            <a:off x="925830" y="1490870"/>
            <a:ext cx="10287000" cy="4699047"/>
          </a:xfrm>
        </p:spPr>
        <p:txBody>
          <a:bodyPr/>
          <a:lstStyle/>
          <a:p>
            <a:pPr lvl="1"/>
            <a:r>
              <a:rPr lang="en-US" dirty="0"/>
              <a:t>For example:</a:t>
            </a:r>
          </a:p>
          <a:p>
            <a:pPr marL="914400" lvl="2" indent="0">
              <a:buNone/>
            </a:pPr>
            <a:r>
              <a:rPr lang="en-US" sz="1800" dirty="0" err="1">
                <a:latin typeface="Courier New" panose="02070309020205020404" pitchFamily="49" charset="0"/>
                <a:cs typeface="Courier New" panose="02070309020205020404" pitchFamily="49" charset="0"/>
              </a:rPr>
              <a:t>blockquote</a:t>
            </a:r>
            <a:r>
              <a:rPr lang="en-US" sz="1800" dirty="0">
                <a:latin typeface="Courier New" panose="02070309020205020404" pitchFamily="49" charset="0"/>
                <a:cs typeface="Courier New" panose="02070309020205020404" pitchFamily="49" charset="0"/>
              </a:rPr>
              <a:t> {</a:t>
            </a:r>
          </a:p>
          <a:p>
            <a:pPr marL="914400" lvl="2" indent="0">
              <a:buNone/>
            </a:pPr>
            <a:r>
              <a:rPr lang="en-US" sz="1800" dirty="0">
                <a:latin typeface="Courier New" panose="02070309020205020404" pitchFamily="49" charset="0"/>
                <a:cs typeface="Courier New" panose="02070309020205020404" pitchFamily="49" charset="0"/>
              </a:rPr>
              <a:t>  font: italic large "Arial Black", Helvetica, sans-serif;</a:t>
            </a:r>
          </a:p>
          <a:p>
            <a:pPr marL="914400" lvl="2" indent="0">
              <a:buNone/>
            </a:pPr>
            <a:r>
              <a:rPr lang="en-US" sz="1800" dirty="0">
                <a:latin typeface="Courier New" panose="02070309020205020404" pitchFamily="49" charset="0"/>
                <a:cs typeface="Courier New" panose="02070309020205020404" pitchFamily="49" charset="0"/>
              </a:rPr>
              <a:t>}</a:t>
            </a:r>
          </a:p>
          <a:p>
            <a:endParaRPr lang="en-US" dirty="0"/>
          </a:p>
          <a:p>
            <a:r>
              <a:rPr lang="en-US" dirty="0"/>
              <a:t>Because of its length and its different delimiters (spaces and commas), you may want to avoid using the shorthand </a:t>
            </a:r>
            <a:r>
              <a:rPr lang="en-US" dirty="0">
                <a:latin typeface="Courier New" panose="02070309020205020404" pitchFamily="49" charset="0"/>
                <a:cs typeface="Courier New" panose="02070309020205020404" pitchFamily="49" charset="0"/>
              </a:rPr>
              <a:t>font</a:t>
            </a:r>
            <a:r>
              <a:rPr lang="en-US" dirty="0"/>
              <a:t> property and use the more granular font properties (</a:t>
            </a:r>
            <a:r>
              <a:rPr lang="en-US" dirty="0">
                <a:latin typeface="Courier New" panose="02070309020205020404" pitchFamily="49" charset="0"/>
                <a:cs typeface="Courier New" panose="02070309020205020404" pitchFamily="49" charset="0"/>
              </a:rPr>
              <a:t>font-style</a:t>
            </a:r>
            <a:r>
              <a:rPr lang="en-US" dirty="0"/>
              <a:t>, etc.) instead.</a:t>
            </a:r>
          </a:p>
        </p:txBody>
      </p:sp>
      <p:sp>
        <p:nvSpPr>
          <p:cNvPr id="95237" name="Text Box 15" descr="note number"/>
          <p:cNvSpPr txBox="1">
            <a:spLocks noChangeArrowheads="1"/>
          </p:cNvSpPr>
          <p:nvPr/>
        </p:nvSpPr>
        <p:spPr bwMode="auto">
          <a:xfrm>
            <a:off x="440574" y="2514599"/>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1</a:t>
            </a:r>
          </a:p>
        </p:txBody>
      </p:sp>
      <p:sp>
        <p:nvSpPr>
          <p:cNvPr id="95238" name="Rectangle 12"/>
          <p:cNvSpPr>
            <a:spLocks noChangeArrowheads="1"/>
          </p:cNvSpPr>
          <p:nvPr/>
        </p:nvSpPr>
        <p:spPr bwMode="auto">
          <a:xfrm>
            <a:off x="3048000" y="2670175"/>
            <a:ext cx="2362200" cy="584200"/>
          </a:xfrm>
          <a:prstGeom prst="rect">
            <a:avLst/>
          </a:prstGeom>
          <a:solidFill>
            <a:srgbClr val="CCFFCC"/>
          </a:solidFill>
          <a:ln w="9525">
            <a:solidFill>
              <a:srgbClr val="0000FF"/>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eaLnBrk="1" hangingPunct="1">
              <a:spcBef>
                <a:spcPct val="50000"/>
              </a:spcBef>
              <a:buClrTx/>
              <a:buSzTx/>
              <a:buFontTx/>
              <a:buNone/>
            </a:pPr>
            <a:r>
              <a:rPr lang="en-US" altLang="en-US" sz="1600"/>
              <a:t>Use spaces to separate property values.</a:t>
            </a:r>
          </a:p>
        </p:txBody>
      </p:sp>
      <p:sp>
        <p:nvSpPr>
          <p:cNvPr id="95239" name="Line 9"/>
          <p:cNvSpPr>
            <a:spLocks noChangeShapeType="1"/>
          </p:cNvSpPr>
          <p:nvPr/>
        </p:nvSpPr>
        <p:spPr bwMode="auto">
          <a:xfrm flipV="1">
            <a:off x="3886200" y="2514600"/>
            <a:ext cx="0" cy="155575"/>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5240" name="Line 9"/>
          <p:cNvSpPr>
            <a:spLocks noChangeShapeType="1"/>
          </p:cNvSpPr>
          <p:nvPr/>
        </p:nvSpPr>
        <p:spPr bwMode="auto">
          <a:xfrm flipV="1">
            <a:off x="4724400" y="2514600"/>
            <a:ext cx="0" cy="155575"/>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5241" name="Rectangle 12"/>
          <p:cNvSpPr>
            <a:spLocks noChangeArrowheads="1"/>
          </p:cNvSpPr>
          <p:nvPr/>
        </p:nvSpPr>
        <p:spPr bwMode="auto">
          <a:xfrm>
            <a:off x="6248399" y="2670175"/>
            <a:ext cx="2590800" cy="584200"/>
          </a:xfrm>
          <a:prstGeom prst="rect">
            <a:avLst/>
          </a:prstGeom>
          <a:solidFill>
            <a:srgbClr val="CCFFCC"/>
          </a:solidFill>
          <a:ln w="9525">
            <a:solidFill>
              <a:srgbClr val="0000FF"/>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eaLnBrk="1" hangingPunct="1">
              <a:spcBef>
                <a:spcPct val="50000"/>
              </a:spcBef>
              <a:buClrTx/>
              <a:buSzTx/>
              <a:buFontTx/>
              <a:buNone/>
            </a:pPr>
            <a:r>
              <a:rPr lang="en-US" altLang="en-US" sz="1600" dirty="0"/>
              <a:t>Use commas  to separate </a:t>
            </a:r>
            <a:r>
              <a:rPr lang="en-US" altLang="en-US" sz="1600" dirty="0">
                <a:latin typeface="Courier New" panose="02070309020205020404" pitchFamily="49" charset="0"/>
                <a:cs typeface="Courier New" panose="02070309020205020404" pitchFamily="49" charset="0"/>
              </a:rPr>
              <a:t>font-family</a:t>
            </a:r>
            <a:r>
              <a:rPr lang="en-US" altLang="en-US" sz="1600" dirty="0"/>
              <a:t> values.</a:t>
            </a:r>
          </a:p>
        </p:txBody>
      </p:sp>
      <p:sp>
        <p:nvSpPr>
          <p:cNvPr id="95242" name="Line 9"/>
          <p:cNvSpPr>
            <a:spLocks noChangeShapeType="1"/>
          </p:cNvSpPr>
          <p:nvPr/>
        </p:nvSpPr>
        <p:spPr bwMode="auto">
          <a:xfrm flipV="1">
            <a:off x="6781800" y="2514599"/>
            <a:ext cx="0" cy="155575"/>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5243" name="Line 9"/>
          <p:cNvSpPr>
            <a:spLocks noChangeShapeType="1"/>
          </p:cNvSpPr>
          <p:nvPr/>
        </p:nvSpPr>
        <p:spPr bwMode="auto">
          <a:xfrm flipV="1">
            <a:off x="8229600" y="2514599"/>
            <a:ext cx="0" cy="155575"/>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5244" name="Text Box 15" descr="note number"/>
          <p:cNvSpPr txBox="1">
            <a:spLocks noChangeArrowheads="1"/>
          </p:cNvSpPr>
          <p:nvPr/>
        </p:nvSpPr>
        <p:spPr bwMode="auto">
          <a:xfrm>
            <a:off x="440574" y="47244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2</a:t>
            </a:r>
          </a:p>
        </p:txBody>
      </p:sp>
      <p:sp>
        <p:nvSpPr>
          <p:cNvPr id="95245" name="Text Box 15" descr="note number"/>
          <p:cNvSpPr txBox="1">
            <a:spLocks noChangeArrowheads="1"/>
          </p:cNvSpPr>
          <p:nvPr/>
        </p:nvSpPr>
        <p:spPr bwMode="auto">
          <a:xfrm>
            <a:off x="440574" y="5038725"/>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3</a:t>
            </a:r>
          </a:p>
        </p:txBody>
      </p:sp>
    </p:spTree>
    <p:extLst>
      <p:ext uri="{BB962C8B-B14F-4D97-AF65-F5344CB8AC3E}">
        <p14:creationId xmlns:p14="http://schemas.microsoft.com/office/powerpoint/2010/main" val="4103341132"/>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2"/>
          <p:cNvSpPr>
            <a:spLocks noGrp="1" noChangeArrowheads="1"/>
          </p:cNvSpPr>
          <p:nvPr>
            <p:ph type="title"/>
          </p:nvPr>
        </p:nvSpPr>
        <p:spPr/>
        <p:txBody>
          <a:bodyPr/>
          <a:lstStyle/>
          <a:p>
            <a:r>
              <a:rPr lang="en-US" altLang="en-US" dirty="0">
                <a:latin typeface="Courier New" panose="02070309020205020404" pitchFamily="49" charset="0"/>
                <a:cs typeface="Courier New" panose="02070309020205020404" pitchFamily="49" charset="0"/>
              </a:rPr>
              <a:t>line-height</a:t>
            </a:r>
            <a:r>
              <a:rPr lang="en-US" altLang="en-US" dirty="0"/>
              <a:t> Property (1 of 2)</a:t>
            </a:r>
          </a:p>
        </p:txBody>
      </p:sp>
      <p:sp>
        <p:nvSpPr>
          <p:cNvPr id="43012" name="Rectangle 3"/>
          <p:cNvSpPr>
            <a:spLocks noGrp="1" noChangeArrowheads="1"/>
          </p:cNvSpPr>
          <p:nvPr>
            <p:ph idx="1"/>
          </p:nvPr>
        </p:nvSpPr>
        <p:spPr/>
        <p:txBody>
          <a:bodyPr/>
          <a:lstStyle/>
          <a:p>
            <a:r>
              <a:rPr lang="en-US" dirty="0"/>
              <a:t>The </a:t>
            </a:r>
            <a:r>
              <a:rPr lang="en-US" dirty="0">
                <a:latin typeface="Courier New" panose="02070309020205020404" pitchFamily="49" charset="0"/>
                <a:cs typeface="Courier New" panose="02070309020205020404" pitchFamily="49" charset="0"/>
              </a:rPr>
              <a:t>line-height</a:t>
            </a:r>
            <a:r>
              <a:rPr lang="en-US" dirty="0"/>
              <a:t> property specifies the line height:</a:t>
            </a:r>
          </a:p>
          <a:p>
            <a:pPr marL="457200" lvl="1" indent="0">
              <a:buNone/>
            </a:pPr>
            <a:r>
              <a:rPr lang="en-US" sz="1800" dirty="0">
                <a:latin typeface="Times New Roman" panose="02020603050405020304" pitchFamily="18" charset="0"/>
                <a:cs typeface="Times New Roman" panose="02020603050405020304" pitchFamily="18" charset="0"/>
              </a:rPr>
              <a:t>I have a dream that one day this nation will rise up and live</a:t>
            </a:r>
          </a:p>
          <a:p>
            <a:pPr marL="457200" lvl="1" indent="0">
              <a:buNone/>
            </a:pPr>
            <a:r>
              <a:rPr lang="en-US" sz="1800" dirty="0">
                <a:latin typeface="Times New Roman" panose="02020603050405020304" pitchFamily="18" charset="0"/>
                <a:cs typeface="Times New Roman" panose="02020603050405020304" pitchFamily="18" charset="0"/>
              </a:rPr>
              <a:t>out the true meaning of its creed: "We hold these truths to</a:t>
            </a:r>
          </a:p>
          <a:p>
            <a:pPr marL="457200" lvl="1" indent="0">
              <a:buNone/>
            </a:pPr>
            <a:r>
              <a:rPr lang="en-US" sz="1800" dirty="0">
                <a:latin typeface="Times New Roman" panose="02020603050405020304" pitchFamily="18" charset="0"/>
                <a:cs typeface="Times New Roman" panose="02020603050405020304" pitchFamily="18" charset="0"/>
              </a:rPr>
              <a:t>be self-evident: that all men are created equal."</a:t>
            </a:r>
          </a:p>
          <a:p>
            <a:r>
              <a:rPr lang="en-US" dirty="0"/>
              <a:t>The most appropriate values for the </a:t>
            </a:r>
            <a:r>
              <a:rPr lang="en-US" dirty="0">
                <a:latin typeface="Courier New" panose="02070309020205020404" pitchFamily="49" charset="0"/>
                <a:cs typeface="Courier New" panose="02070309020205020404" pitchFamily="49" charset="0"/>
              </a:rPr>
              <a:t>line-height</a:t>
            </a:r>
            <a:r>
              <a:rPr lang="en-US" dirty="0"/>
              <a:t> property:</a:t>
            </a:r>
          </a:p>
          <a:p>
            <a:pPr lvl="1"/>
            <a:r>
              <a:rPr lang="en-US" dirty="0"/>
              <a:t>A percentage value, as compared to the element’s font size.</a:t>
            </a:r>
          </a:p>
          <a:p>
            <a:pPr lvl="3"/>
            <a:r>
              <a:rPr lang="en-US" dirty="0"/>
              <a:t>Example:</a:t>
            </a:r>
          </a:p>
          <a:p>
            <a:pPr marL="1828800" lvl="4" indent="0">
              <a:buNone/>
            </a:pPr>
            <a:r>
              <a:rPr lang="en-US" sz="1800" dirty="0">
                <a:latin typeface="Courier New" panose="02070309020205020404" pitchFamily="49" charset="0"/>
                <a:cs typeface="Courier New" panose="02070309020205020404" pitchFamily="49" charset="0"/>
              </a:rPr>
              <a:t>.proof-reading {line-height: 200%}</a:t>
            </a:r>
          </a:p>
          <a:p>
            <a:pPr lvl="1"/>
            <a:r>
              <a:rPr lang="en-US" dirty="0"/>
              <a:t>number of </a:t>
            </a:r>
            <a:r>
              <a:rPr lang="en-US" dirty="0" err="1">
                <a:latin typeface="Courier New" panose="02070309020205020404" pitchFamily="49" charset="0"/>
                <a:cs typeface="Courier New" panose="02070309020205020404" pitchFamily="49" charset="0"/>
              </a:rPr>
              <a:t>em</a:t>
            </a:r>
            <a:r>
              <a:rPr lang="en-US" dirty="0"/>
              <a:t> units -</a:t>
            </a:r>
          </a:p>
          <a:p>
            <a:pPr lvl="3"/>
            <a:r>
              <a:rPr lang="en-US" dirty="0"/>
              <a:t>One </a:t>
            </a:r>
            <a:r>
              <a:rPr lang="en-US" dirty="0" err="1">
                <a:latin typeface="Courier New" panose="02070309020205020404" pitchFamily="49" charset="0"/>
                <a:cs typeface="Courier New" panose="02070309020205020404" pitchFamily="49" charset="0"/>
              </a:rPr>
              <a:t>em</a:t>
            </a:r>
            <a:r>
              <a:rPr lang="en-US" dirty="0"/>
              <a:t> unit is the height of the element’s font size.</a:t>
            </a:r>
          </a:p>
          <a:p>
            <a:pPr lvl="3"/>
            <a:r>
              <a:rPr lang="en-US" dirty="0"/>
              <a:t>Example:</a:t>
            </a:r>
          </a:p>
          <a:p>
            <a:pPr marL="1828800" lvl="4" indent="0">
              <a:buNone/>
            </a:pPr>
            <a:r>
              <a:rPr lang="en-US" sz="1800" dirty="0">
                <a:latin typeface="Courier New" panose="02070309020205020404" pitchFamily="49" charset="0"/>
                <a:cs typeface="Courier New" panose="02070309020205020404" pitchFamily="49" charset="0"/>
              </a:rPr>
              <a:t>.proof-reading {line-height: 2em}</a:t>
            </a:r>
          </a:p>
        </p:txBody>
      </p:sp>
      <p:sp>
        <p:nvSpPr>
          <p:cNvPr id="97285" name="Text Box 7" descr="note number"/>
          <p:cNvSpPr txBox="1">
            <a:spLocks noChangeArrowheads="1"/>
          </p:cNvSpPr>
          <p:nvPr/>
        </p:nvSpPr>
        <p:spPr bwMode="auto">
          <a:xfrm>
            <a:off x="381000" y="12954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97286" name="Text Box 7" descr="note number"/>
          <p:cNvSpPr txBox="1">
            <a:spLocks noChangeArrowheads="1"/>
          </p:cNvSpPr>
          <p:nvPr/>
        </p:nvSpPr>
        <p:spPr bwMode="auto">
          <a:xfrm>
            <a:off x="381000" y="34290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
        <p:nvSpPr>
          <p:cNvPr id="97287" name="Text Box 7" descr="note number"/>
          <p:cNvSpPr txBox="1">
            <a:spLocks noChangeArrowheads="1"/>
          </p:cNvSpPr>
          <p:nvPr/>
        </p:nvSpPr>
        <p:spPr bwMode="auto">
          <a:xfrm>
            <a:off x="381000" y="5715000"/>
            <a:ext cx="266700" cy="30797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4</a:t>
            </a:r>
          </a:p>
        </p:txBody>
      </p:sp>
      <p:sp>
        <p:nvSpPr>
          <p:cNvPr id="8" name="Rectangle 12"/>
          <p:cNvSpPr>
            <a:spLocks noChangeArrowheads="1"/>
          </p:cNvSpPr>
          <p:nvPr/>
        </p:nvSpPr>
        <p:spPr bwMode="auto">
          <a:xfrm>
            <a:off x="7948758" y="5268913"/>
            <a:ext cx="1146175" cy="338137"/>
          </a:xfrm>
          <a:prstGeom prst="rect">
            <a:avLst/>
          </a:prstGeom>
          <a:solidFill>
            <a:srgbClr val="CCFFCC"/>
          </a:solidFill>
          <a:ln w="9525">
            <a:solidFill>
              <a:srgbClr val="0000FF"/>
            </a:solidFill>
            <a:miter lim="800000"/>
            <a:headEnd/>
            <a:tailEnd/>
          </a:ln>
        </p:spPr>
        <p:txBody>
          <a:bodyPr anchor="ctr">
            <a:spAutoFit/>
          </a:bodyPr>
          <a:lstStyle/>
          <a:p>
            <a:pPr algn="ctr" eaLnBrk="1" hangingPunct="1">
              <a:defRPr/>
            </a:pPr>
            <a:r>
              <a:rPr lang="en-US" sz="1600" dirty="0">
                <a:latin typeface="+mn-lt"/>
                <a:cs typeface="Courier New" pitchFamily="49" charset="0"/>
              </a:rPr>
              <a:t>no space</a:t>
            </a:r>
          </a:p>
        </p:txBody>
      </p:sp>
      <p:sp>
        <p:nvSpPr>
          <p:cNvPr id="97289" name="Line 9"/>
          <p:cNvSpPr>
            <a:spLocks noChangeShapeType="1"/>
          </p:cNvSpPr>
          <p:nvPr/>
        </p:nvSpPr>
        <p:spPr bwMode="auto">
          <a:xfrm>
            <a:off x="6934200" y="5410200"/>
            <a:ext cx="0" cy="196850"/>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cxnSp>
        <p:nvCxnSpPr>
          <p:cNvPr id="97290" name="Straight Connector 2"/>
          <p:cNvCxnSpPr>
            <a:cxnSpLocks noChangeShapeType="1"/>
            <a:endCxn id="97289" idx="0"/>
          </p:cNvCxnSpPr>
          <p:nvPr/>
        </p:nvCxnSpPr>
        <p:spPr bwMode="auto">
          <a:xfrm flipH="1">
            <a:off x="6934200" y="5410200"/>
            <a:ext cx="993776" cy="0"/>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sp>
        <p:nvSpPr>
          <p:cNvPr id="97291" name="Right Brace 1"/>
          <p:cNvSpPr>
            <a:spLocks/>
          </p:cNvSpPr>
          <p:nvPr/>
        </p:nvSpPr>
        <p:spPr bwMode="auto">
          <a:xfrm>
            <a:off x="6934201" y="2022476"/>
            <a:ext cx="152400" cy="384175"/>
          </a:xfrm>
          <a:prstGeom prst="rightBrace">
            <a:avLst>
              <a:gd name="adj1" fmla="val 8333"/>
              <a:gd name="adj2" fmla="val 50000"/>
            </a:avLst>
          </a:prstGeom>
          <a:noFill/>
          <a:ln w="9525" algn="ctr">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eaLnBrk="1" hangingPunct="1">
              <a:spcBef>
                <a:spcPct val="0"/>
              </a:spcBef>
              <a:buClrTx/>
              <a:buSzTx/>
              <a:buFontTx/>
              <a:buNone/>
            </a:pPr>
            <a:endParaRPr lang="en-US" altLang="en-US"/>
          </a:p>
        </p:txBody>
      </p:sp>
      <p:sp>
        <p:nvSpPr>
          <p:cNvPr id="97292" name="Line 9"/>
          <p:cNvSpPr>
            <a:spLocks noChangeShapeType="1"/>
          </p:cNvSpPr>
          <p:nvPr/>
        </p:nvSpPr>
        <p:spPr bwMode="auto">
          <a:xfrm flipH="1">
            <a:off x="7086601" y="2239386"/>
            <a:ext cx="325437" cy="0"/>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4" name="Rectangle 12"/>
          <p:cNvSpPr>
            <a:spLocks noChangeArrowheads="1"/>
          </p:cNvSpPr>
          <p:nvPr/>
        </p:nvSpPr>
        <p:spPr bwMode="auto">
          <a:xfrm>
            <a:off x="7430453" y="2022476"/>
            <a:ext cx="1146175" cy="338137"/>
          </a:xfrm>
          <a:prstGeom prst="rect">
            <a:avLst/>
          </a:prstGeom>
          <a:solidFill>
            <a:srgbClr val="CCFFCC"/>
          </a:solidFill>
          <a:ln w="9525">
            <a:solidFill>
              <a:srgbClr val="0000FF"/>
            </a:solidFill>
            <a:miter lim="800000"/>
            <a:headEnd/>
            <a:tailEnd/>
          </a:ln>
        </p:spPr>
        <p:txBody>
          <a:bodyPr anchor="ctr">
            <a:spAutoFit/>
          </a:bodyPr>
          <a:lstStyle/>
          <a:p>
            <a:pPr algn="ctr" eaLnBrk="1" hangingPunct="1">
              <a:defRPr/>
            </a:pPr>
            <a:r>
              <a:rPr lang="en-US" sz="1600" dirty="0">
                <a:latin typeface="+mn-lt"/>
                <a:cs typeface="Courier New" pitchFamily="49" charset="0"/>
              </a:rPr>
              <a:t>line height</a:t>
            </a:r>
          </a:p>
        </p:txBody>
      </p:sp>
      <p:sp>
        <p:nvSpPr>
          <p:cNvPr id="97294" name="Text Box 7" descr="note number"/>
          <p:cNvSpPr txBox="1">
            <a:spLocks noChangeArrowheads="1"/>
          </p:cNvSpPr>
          <p:nvPr/>
        </p:nvSpPr>
        <p:spPr bwMode="auto">
          <a:xfrm>
            <a:off x="381000" y="41148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3</a:t>
            </a:r>
          </a:p>
        </p:txBody>
      </p:sp>
      <p:sp>
        <p:nvSpPr>
          <p:cNvPr id="97295" name="Text Box 7" descr="note number"/>
          <p:cNvSpPr txBox="1">
            <a:spLocks noChangeArrowheads="1"/>
          </p:cNvSpPr>
          <p:nvPr/>
        </p:nvSpPr>
        <p:spPr bwMode="auto">
          <a:xfrm>
            <a:off x="381000" y="6022975"/>
            <a:ext cx="266700" cy="30797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5</a:t>
            </a:r>
          </a:p>
        </p:txBody>
      </p:sp>
      <p:sp>
        <p:nvSpPr>
          <p:cNvPr id="2" name="Text Box 7" descr="note number">
            <a:extLst>
              <a:ext uri="{FF2B5EF4-FFF2-40B4-BE49-F238E27FC236}">
                <a16:creationId xmlns:a16="http://schemas.microsoft.com/office/drawing/2014/main" id="{E8DF6CB9-D047-1C3F-46CE-318671396F2F}"/>
              </a:ext>
            </a:extLst>
          </p:cNvPr>
          <p:cNvSpPr txBox="1">
            <a:spLocks noChangeArrowheads="1"/>
          </p:cNvSpPr>
          <p:nvPr/>
        </p:nvSpPr>
        <p:spPr bwMode="auto">
          <a:xfrm>
            <a:off x="381000" y="6330950"/>
            <a:ext cx="266700" cy="30797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6</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Rectangle 2"/>
          <p:cNvSpPr>
            <a:spLocks noGrp="1" noChangeArrowheads="1"/>
          </p:cNvSpPr>
          <p:nvPr>
            <p:ph type="title"/>
          </p:nvPr>
        </p:nvSpPr>
        <p:spPr/>
        <p:txBody>
          <a:bodyPr/>
          <a:lstStyle/>
          <a:p>
            <a:r>
              <a:rPr lang="en-US" altLang="en-US" dirty="0">
                <a:latin typeface="Courier New" panose="02070309020205020404" pitchFamily="49" charset="0"/>
                <a:cs typeface="Courier New" panose="02070309020205020404" pitchFamily="49" charset="0"/>
              </a:rPr>
              <a:t>line-height </a:t>
            </a:r>
            <a:r>
              <a:rPr lang="en-US" altLang="en-US" dirty="0"/>
              <a:t>Property (2 of 2)</a:t>
            </a:r>
          </a:p>
        </p:txBody>
      </p:sp>
      <p:sp>
        <p:nvSpPr>
          <p:cNvPr id="99332" name="Rectangle 3"/>
          <p:cNvSpPr>
            <a:spLocks noGrp="1" noChangeArrowheads="1"/>
          </p:cNvSpPr>
          <p:nvPr>
            <p:ph idx="1"/>
          </p:nvPr>
        </p:nvSpPr>
        <p:spPr/>
        <p:txBody>
          <a:bodyPr/>
          <a:lstStyle/>
          <a:p>
            <a:r>
              <a:rPr lang="en-US" altLang="en-US" dirty="0"/>
              <a:t>Going back to the</a:t>
            </a:r>
            <a:r>
              <a:rPr lang="en-US" altLang="en-US" dirty="0">
                <a:latin typeface="Courier New" panose="02070309020205020404" pitchFamily="49" charset="0"/>
                <a:cs typeface="Courier New" panose="02070309020205020404" pitchFamily="49" charset="0"/>
              </a:rPr>
              <a:t> font </a:t>
            </a:r>
            <a:r>
              <a:rPr lang="en-US" altLang="en-US" dirty="0"/>
              <a:t>shorthand property…</a:t>
            </a:r>
          </a:p>
          <a:p>
            <a:r>
              <a:rPr lang="en-US" altLang="en-US" dirty="0"/>
              <a:t>If you specify a </a:t>
            </a:r>
            <a:r>
              <a:rPr lang="en-US" altLang="en-US" dirty="0">
                <a:latin typeface="Courier New" panose="02070309020205020404" pitchFamily="49" charset="0"/>
                <a:cs typeface="Courier New" panose="02070309020205020404" pitchFamily="49" charset="0"/>
              </a:rPr>
              <a:t>line-height</a:t>
            </a:r>
            <a:r>
              <a:rPr lang="en-US" altLang="en-US" dirty="0"/>
              <a:t> value using the </a:t>
            </a:r>
            <a:r>
              <a:rPr lang="en-US" altLang="en-US" dirty="0">
                <a:latin typeface="Courier New" panose="02070309020205020404" pitchFamily="49" charset="0"/>
                <a:cs typeface="Courier New" panose="02070309020205020404" pitchFamily="49" charset="0"/>
              </a:rPr>
              <a:t>font </a:t>
            </a:r>
            <a:r>
              <a:rPr lang="en-US" altLang="en-US" dirty="0"/>
              <a:t>shorthand property, then you must precede it with a </a:t>
            </a:r>
            <a:r>
              <a:rPr lang="en-US" altLang="en-US" dirty="0">
                <a:latin typeface="Courier New" panose="02070309020205020404" pitchFamily="49" charset="0"/>
                <a:cs typeface="Courier New" panose="02070309020205020404" pitchFamily="49" charset="0"/>
              </a:rPr>
              <a:t>font-size</a:t>
            </a:r>
            <a:r>
              <a:rPr lang="en-US" altLang="en-US" dirty="0"/>
              <a:t> value and a / between the two values. For example:</a:t>
            </a:r>
          </a:p>
          <a:p>
            <a:pPr marL="914400" lvl="2" indent="0">
              <a:buNone/>
            </a:pPr>
            <a:r>
              <a:rPr lang="en-US" altLang="en-US" sz="1800" dirty="0">
                <a:latin typeface="Courier New" panose="02070309020205020404" pitchFamily="49" charset="0"/>
                <a:cs typeface="Courier New" panose="02070309020205020404" pitchFamily="49" charset="0"/>
              </a:rPr>
              <a:t>.</a:t>
            </a:r>
            <a:r>
              <a:rPr lang="en-US" altLang="en-US" sz="1800" dirty="0" err="1">
                <a:latin typeface="Courier New" panose="02070309020205020404" pitchFamily="49" charset="0"/>
                <a:cs typeface="Courier New" panose="02070309020205020404" pitchFamily="49" charset="0"/>
              </a:rPr>
              <a:t>smushed</a:t>
            </a:r>
            <a:r>
              <a:rPr lang="en-US" altLang="en-US" sz="1800" dirty="0">
                <a:latin typeface="Courier New" panose="02070309020205020404" pitchFamily="49" charset="0"/>
                <a:cs typeface="Courier New" panose="02070309020205020404" pitchFamily="49" charset="0"/>
              </a:rPr>
              <a:t> {font: 2.5em/3em "Times new Roman", serif;}</a:t>
            </a:r>
          </a:p>
          <a:p>
            <a:r>
              <a:rPr lang="en-US" altLang="en-US" dirty="0"/>
              <a:t>The way to remember the slash is to think of “font-size / line-height” as a fraction, where </a:t>
            </a:r>
            <a:r>
              <a:rPr lang="en-US" altLang="en-US" dirty="0">
                <a:latin typeface="Courier New" panose="02070309020205020404" pitchFamily="49" charset="0"/>
                <a:cs typeface="Courier New" panose="02070309020205020404" pitchFamily="49" charset="0"/>
              </a:rPr>
              <a:t>font-size</a:t>
            </a:r>
            <a:r>
              <a:rPr lang="en-US" altLang="en-US" dirty="0"/>
              <a:t> is approximately the letter height. So 2em/4em means the letters take up half of the vertical distance between two lines.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2"/>
          <p:cNvSpPr>
            <a:spLocks noGrp="1" noChangeArrowheads="1"/>
          </p:cNvSpPr>
          <p:nvPr>
            <p:ph type="title"/>
          </p:nvPr>
        </p:nvSpPr>
        <p:spPr>
          <a:xfrm>
            <a:off x="0" y="121033"/>
            <a:ext cx="12192000" cy="1002089"/>
          </a:xfrm>
        </p:spPr>
        <p:txBody>
          <a:bodyPr/>
          <a:lstStyle/>
          <a:p>
            <a:r>
              <a:rPr lang="en-US" altLang="en-US" dirty="0"/>
              <a:t>Text Properties (1 of 3)</a:t>
            </a:r>
          </a:p>
        </p:txBody>
      </p:sp>
      <p:sp>
        <p:nvSpPr>
          <p:cNvPr id="39940" name="Rectangle 3"/>
          <p:cNvSpPr>
            <a:spLocks noGrp="1" noChangeArrowheads="1"/>
          </p:cNvSpPr>
          <p:nvPr>
            <p:ph idx="1"/>
          </p:nvPr>
        </p:nvSpPr>
        <p:spPr>
          <a:xfrm>
            <a:off x="838200" y="1274532"/>
            <a:ext cx="10287000" cy="4699047"/>
          </a:xfrm>
        </p:spPr>
        <p:txBody>
          <a:bodyPr/>
          <a:lstStyle/>
          <a:p>
            <a:r>
              <a:rPr lang="en-US" dirty="0"/>
              <a:t>Text properties (not an exhaustive list):</a:t>
            </a:r>
          </a:p>
          <a:p>
            <a:pPr lvl="1"/>
            <a:r>
              <a:rPr lang="en-US" sz="2000" dirty="0">
                <a:latin typeface="Courier New" panose="02070309020205020404" pitchFamily="49" charset="0"/>
                <a:cs typeface="Courier New" panose="02070309020205020404" pitchFamily="49" charset="0"/>
              </a:rPr>
              <a:t>line-height</a:t>
            </a:r>
          </a:p>
          <a:p>
            <a:pPr lvl="1"/>
            <a:r>
              <a:rPr lang="en-US" sz="2000" dirty="0">
                <a:latin typeface="Courier New" panose="02070309020205020404" pitchFamily="49" charset="0"/>
                <a:cs typeface="Courier New" panose="02070309020205020404" pitchFamily="49" charset="0"/>
              </a:rPr>
              <a:t>text-align</a:t>
            </a:r>
          </a:p>
          <a:p>
            <a:pPr lvl="1"/>
            <a:r>
              <a:rPr lang="en-US" sz="2000" dirty="0">
                <a:latin typeface="Courier New" panose="02070309020205020404" pitchFamily="49" charset="0"/>
                <a:cs typeface="Courier New" panose="02070309020205020404" pitchFamily="49" charset="0"/>
              </a:rPr>
              <a:t>text-decoration</a:t>
            </a:r>
          </a:p>
          <a:p>
            <a:pPr lvl="1"/>
            <a:r>
              <a:rPr lang="en-US" sz="2000" dirty="0">
                <a:latin typeface="Courier New" panose="02070309020205020404" pitchFamily="49" charset="0"/>
                <a:cs typeface="Courier New" panose="02070309020205020404" pitchFamily="49" charset="0"/>
              </a:rPr>
              <a:t>text-transform</a:t>
            </a:r>
          </a:p>
          <a:p>
            <a:pPr lvl="1"/>
            <a:r>
              <a:rPr lang="en-US" sz="2000" dirty="0">
                <a:latin typeface="Courier New" panose="02070309020205020404" pitchFamily="49" charset="0"/>
                <a:cs typeface="Courier New" panose="02070309020205020404" pitchFamily="49" charset="0"/>
              </a:rPr>
              <a:t>text-indent</a:t>
            </a:r>
          </a:p>
          <a:p>
            <a:r>
              <a:rPr lang="en-US" dirty="0"/>
              <a:t>The </a:t>
            </a:r>
            <a:r>
              <a:rPr lang="en-US" dirty="0">
                <a:latin typeface="Courier New" panose="02070309020205020404" pitchFamily="49" charset="0"/>
                <a:cs typeface="Courier New" panose="02070309020205020404" pitchFamily="49" charset="0"/>
              </a:rPr>
              <a:t>text-align</a:t>
            </a:r>
            <a:r>
              <a:rPr lang="en-US" dirty="0"/>
              <a:t> property specifies the alignment for a block of text.</a:t>
            </a:r>
          </a:p>
          <a:p>
            <a:r>
              <a:rPr lang="en-US" dirty="0"/>
              <a:t>Valid values for the </a:t>
            </a:r>
            <a:r>
              <a:rPr lang="en-US" dirty="0">
                <a:latin typeface="Courier New" panose="02070309020205020404" pitchFamily="49" charset="0"/>
                <a:cs typeface="Courier New" panose="02070309020205020404" pitchFamily="49" charset="0"/>
              </a:rPr>
              <a:t>text-align</a:t>
            </a:r>
            <a:r>
              <a:rPr lang="en-US" dirty="0"/>
              <a:t> property:</a:t>
            </a:r>
          </a:p>
          <a:p>
            <a:pPr lvl="1"/>
            <a:r>
              <a:rPr lang="en-US" sz="2000" dirty="0">
                <a:latin typeface="Courier New" panose="02070309020205020404" pitchFamily="49" charset="0"/>
                <a:cs typeface="Courier New" panose="02070309020205020404" pitchFamily="49" charset="0"/>
              </a:rPr>
              <a:t>left</a:t>
            </a:r>
            <a:r>
              <a:rPr lang="en-US" sz="2000" dirty="0"/>
              <a:t> – aligns the text to the left.</a:t>
            </a:r>
          </a:p>
          <a:p>
            <a:pPr lvl="1"/>
            <a:r>
              <a:rPr lang="en-US" sz="2000" dirty="0">
                <a:latin typeface="Courier New" panose="02070309020205020404" pitchFamily="49" charset="0"/>
                <a:cs typeface="Courier New" panose="02070309020205020404" pitchFamily="49" charset="0"/>
              </a:rPr>
              <a:t>right</a:t>
            </a:r>
            <a:r>
              <a:rPr lang="en-US" sz="2000" dirty="0"/>
              <a:t> – aligns the text to the right.</a:t>
            </a:r>
          </a:p>
          <a:p>
            <a:pPr lvl="1"/>
            <a:r>
              <a:rPr lang="en-US" sz="2000" dirty="0">
                <a:latin typeface="Courier New" panose="02070309020205020404" pitchFamily="49" charset="0"/>
                <a:cs typeface="Courier New" panose="02070309020205020404" pitchFamily="49" charset="0"/>
              </a:rPr>
              <a:t>center</a:t>
            </a:r>
            <a:r>
              <a:rPr lang="en-US" sz="2000" dirty="0"/>
              <a:t> – centers the text.</a:t>
            </a:r>
          </a:p>
          <a:p>
            <a:pPr lvl="1"/>
            <a:r>
              <a:rPr lang="en-US" sz="2000" dirty="0">
                <a:latin typeface="Courier New" panose="02070309020205020404" pitchFamily="49" charset="0"/>
                <a:cs typeface="Courier New" panose="02070309020205020404" pitchFamily="49" charset="0"/>
              </a:rPr>
              <a:t>justify</a:t>
            </a:r>
            <a:r>
              <a:rPr lang="en-US" sz="2000" dirty="0"/>
              <a:t> – stretches the lines so that each line extends to the left edge and the right edge.</a:t>
            </a:r>
          </a:p>
        </p:txBody>
      </p:sp>
      <p:sp>
        <p:nvSpPr>
          <p:cNvPr id="101381" name="Text Box 10" descr="note number"/>
          <p:cNvSpPr txBox="1">
            <a:spLocks noChangeArrowheads="1"/>
          </p:cNvSpPr>
          <p:nvPr/>
        </p:nvSpPr>
        <p:spPr bwMode="auto">
          <a:xfrm>
            <a:off x="228600" y="1333707"/>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101382" name="Text Box 11" descr="note number"/>
          <p:cNvSpPr txBox="1">
            <a:spLocks noChangeArrowheads="1"/>
          </p:cNvSpPr>
          <p:nvPr/>
        </p:nvSpPr>
        <p:spPr bwMode="auto">
          <a:xfrm>
            <a:off x="228600" y="28956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2</a:t>
            </a:r>
          </a:p>
        </p:txBody>
      </p:sp>
      <p:sp>
        <p:nvSpPr>
          <p:cNvPr id="101383" name="Text Box 13" descr="note number"/>
          <p:cNvSpPr txBox="1">
            <a:spLocks noChangeArrowheads="1"/>
          </p:cNvSpPr>
          <p:nvPr/>
        </p:nvSpPr>
        <p:spPr bwMode="auto">
          <a:xfrm>
            <a:off x="228600" y="5816416"/>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3</a:t>
            </a:r>
          </a:p>
        </p:txBody>
      </p:sp>
      <p:sp>
        <p:nvSpPr>
          <p:cNvPr id="101384" name="Text Box 13" descr="note number"/>
          <p:cNvSpPr txBox="1">
            <a:spLocks noChangeArrowheads="1"/>
          </p:cNvSpPr>
          <p:nvPr/>
        </p:nvSpPr>
        <p:spPr bwMode="auto">
          <a:xfrm>
            <a:off x="228600" y="62484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4</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2"/>
          <p:cNvSpPr>
            <a:spLocks noGrp="1" noChangeArrowheads="1"/>
          </p:cNvSpPr>
          <p:nvPr>
            <p:ph type="title"/>
          </p:nvPr>
        </p:nvSpPr>
        <p:spPr>
          <a:xfrm>
            <a:off x="0" y="121033"/>
            <a:ext cx="12192000" cy="1002089"/>
          </a:xfrm>
        </p:spPr>
        <p:txBody>
          <a:bodyPr/>
          <a:lstStyle/>
          <a:p>
            <a:r>
              <a:rPr lang="en-US" altLang="en-US" dirty="0"/>
              <a:t>Text Properties (2 of 3)</a:t>
            </a:r>
          </a:p>
        </p:txBody>
      </p:sp>
      <p:sp>
        <p:nvSpPr>
          <p:cNvPr id="39940" name="Rectangle 3"/>
          <p:cNvSpPr>
            <a:spLocks noGrp="1" noChangeArrowheads="1"/>
          </p:cNvSpPr>
          <p:nvPr>
            <p:ph idx="1"/>
          </p:nvPr>
        </p:nvSpPr>
        <p:spPr>
          <a:xfrm>
            <a:off x="762000" y="1066800"/>
            <a:ext cx="10668000" cy="4699047"/>
          </a:xfrm>
        </p:spPr>
        <p:txBody>
          <a:bodyPr/>
          <a:lstStyle/>
          <a:p>
            <a:r>
              <a:rPr lang="en-US" dirty="0"/>
              <a:t>The </a:t>
            </a:r>
            <a:r>
              <a:rPr lang="en-US" dirty="0">
                <a:latin typeface="Courier New" panose="02070309020205020404" pitchFamily="49" charset="0"/>
                <a:cs typeface="Courier New" panose="02070309020205020404" pitchFamily="49" charset="0"/>
              </a:rPr>
              <a:t>text-decoration</a:t>
            </a:r>
            <a:r>
              <a:rPr lang="en-US" dirty="0"/>
              <a:t> property specifies something decorative that is added to text.</a:t>
            </a:r>
          </a:p>
          <a:p>
            <a:r>
              <a:rPr lang="en-US" dirty="0"/>
              <a:t>Valid values for the </a:t>
            </a:r>
            <a:r>
              <a:rPr lang="en-US" dirty="0">
                <a:latin typeface="Courier New" panose="02070309020205020404" pitchFamily="49" charset="0"/>
                <a:cs typeface="Courier New" panose="02070309020205020404" pitchFamily="49" charset="0"/>
              </a:rPr>
              <a:t>text-decoration</a:t>
            </a:r>
            <a:r>
              <a:rPr lang="en-US" dirty="0"/>
              <a:t> property:</a:t>
            </a:r>
          </a:p>
          <a:p>
            <a:pPr lvl="1"/>
            <a:r>
              <a:rPr lang="en-US" sz="2000" dirty="0">
                <a:latin typeface="Courier New" panose="02070309020205020404" pitchFamily="49" charset="0"/>
                <a:cs typeface="Courier New" panose="02070309020205020404" pitchFamily="49" charset="0"/>
              </a:rPr>
              <a:t>none</a:t>
            </a:r>
            <a:r>
              <a:rPr lang="en-US" sz="2000" dirty="0"/>
              <a:t> – normal text (no decoration added to the text).</a:t>
            </a:r>
          </a:p>
          <a:p>
            <a:pPr lvl="1"/>
            <a:r>
              <a:rPr lang="en-US" sz="2000" dirty="0">
                <a:latin typeface="Courier New" panose="02070309020205020404" pitchFamily="49" charset="0"/>
                <a:cs typeface="Courier New" panose="02070309020205020404" pitchFamily="49" charset="0"/>
              </a:rPr>
              <a:t>underline</a:t>
            </a:r>
            <a:r>
              <a:rPr lang="en-US" sz="2000" dirty="0"/>
              <a:t> – draws a line below the text.</a:t>
            </a:r>
          </a:p>
          <a:p>
            <a:pPr lvl="1"/>
            <a:r>
              <a:rPr lang="en-US" sz="2000" dirty="0">
                <a:latin typeface="Courier New" panose="02070309020205020404" pitchFamily="49" charset="0"/>
                <a:cs typeface="Courier New" panose="02070309020205020404" pitchFamily="49" charset="0"/>
              </a:rPr>
              <a:t>overline</a:t>
            </a:r>
            <a:r>
              <a:rPr lang="en-US" sz="2000" dirty="0"/>
              <a:t> – draws a line above the text.</a:t>
            </a:r>
          </a:p>
          <a:p>
            <a:pPr lvl="1"/>
            <a:r>
              <a:rPr lang="en-US" sz="2000" dirty="0">
                <a:latin typeface="Courier New" panose="02070309020205020404" pitchFamily="49" charset="0"/>
                <a:cs typeface="Courier New" panose="02070309020205020404" pitchFamily="49" charset="0"/>
              </a:rPr>
              <a:t>line-through</a:t>
            </a:r>
            <a:r>
              <a:rPr lang="en-US" sz="2000" dirty="0"/>
              <a:t> – draws a line through the text.</a:t>
            </a:r>
          </a:p>
          <a:p>
            <a:pPr lvl="1"/>
            <a:r>
              <a:rPr lang="en-US" sz="2000" dirty="0">
                <a:latin typeface="Courier New" panose="02070309020205020404" pitchFamily="49" charset="0"/>
                <a:cs typeface="Courier New" panose="02070309020205020404" pitchFamily="49" charset="0"/>
              </a:rPr>
              <a:t>blink</a:t>
            </a:r>
            <a:r>
              <a:rPr lang="en-US" sz="2000" dirty="0"/>
              <a:t> – causes the text to blink.</a:t>
            </a:r>
          </a:p>
          <a:p>
            <a:r>
              <a:rPr lang="en-US" dirty="0"/>
              <a:t>The </a:t>
            </a:r>
            <a:r>
              <a:rPr lang="en-US" dirty="0">
                <a:latin typeface="Courier New" panose="02070309020205020404" pitchFamily="49" charset="0"/>
                <a:cs typeface="Courier New" panose="02070309020205020404" pitchFamily="49" charset="0"/>
              </a:rPr>
              <a:t>text-transform</a:t>
            </a:r>
            <a:r>
              <a:rPr lang="en-US" dirty="0"/>
              <a:t> property controls the text's capitalization.</a:t>
            </a:r>
          </a:p>
          <a:p>
            <a:r>
              <a:rPr lang="en-US" dirty="0"/>
              <a:t>Valid values for the </a:t>
            </a:r>
            <a:r>
              <a:rPr lang="en-US" dirty="0">
                <a:latin typeface="Courier New" panose="02070309020205020404" pitchFamily="49" charset="0"/>
                <a:cs typeface="Courier New" panose="02070309020205020404" pitchFamily="49" charset="0"/>
              </a:rPr>
              <a:t>text-transform</a:t>
            </a:r>
            <a:r>
              <a:rPr lang="en-US" dirty="0"/>
              <a:t> property:</a:t>
            </a:r>
          </a:p>
          <a:p>
            <a:pPr lvl="1"/>
            <a:r>
              <a:rPr lang="en-US" sz="2000" dirty="0">
                <a:latin typeface="Courier New" panose="02070309020205020404" pitchFamily="49" charset="0"/>
                <a:cs typeface="Courier New" panose="02070309020205020404" pitchFamily="49" charset="0"/>
              </a:rPr>
              <a:t>none</a:t>
            </a:r>
            <a:r>
              <a:rPr lang="en-US" sz="2000" dirty="0"/>
              <a:t> – the text renders the same as the original text.</a:t>
            </a:r>
          </a:p>
          <a:p>
            <a:pPr lvl="1"/>
            <a:r>
              <a:rPr lang="en-US" sz="2000" dirty="0">
                <a:latin typeface="Courier New" panose="02070309020205020404" pitchFamily="49" charset="0"/>
                <a:cs typeface="Courier New" panose="02070309020205020404" pitchFamily="49" charset="0"/>
              </a:rPr>
              <a:t>capitalize</a:t>
            </a:r>
            <a:r>
              <a:rPr lang="en-US" sz="2000" dirty="0"/>
              <a:t> – transforms the first character of each word to uppercase.</a:t>
            </a:r>
          </a:p>
          <a:p>
            <a:pPr lvl="1"/>
            <a:r>
              <a:rPr lang="en-US" sz="2000" dirty="0">
                <a:latin typeface="Courier New" panose="02070309020205020404" pitchFamily="49" charset="0"/>
                <a:cs typeface="Courier New" panose="02070309020205020404" pitchFamily="49" charset="0"/>
              </a:rPr>
              <a:t>uppercase</a:t>
            </a:r>
            <a:r>
              <a:rPr lang="en-US" sz="2000" dirty="0"/>
              <a:t> – transforms all characters to uppercase.</a:t>
            </a:r>
          </a:p>
          <a:p>
            <a:pPr lvl="1"/>
            <a:r>
              <a:rPr lang="en-US" sz="2000" dirty="0">
                <a:latin typeface="Courier New" panose="02070309020205020404" pitchFamily="49" charset="0"/>
                <a:cs typeface="Courier New" panose="02070309020205020404" pitchFamily="49" charset="0"/>
              </a:rPr>
              <a:t>lowercase</a:t>
            </a:r>
            <a:r>
              <a:rPr lang="en-US" sz="2000" dirty="0"/>
              <a:t> – transforms all characters to lowercase.</a:t>
            </a:r>
            <a:endParaRPr lang="en-US" dirty="0"/>
          </a:p>
        </p:txBody>
      </p:sp>
      <p:sp>
        <p:nvSpPr>
          <p:cNvPr id="103429" name="Text Box 17" descr="note number"/>
          <p:cNvSpPr txBox="1">
            <a:spLocks noChangeArrowheads="1"/>
          </p:cNvSpPr>
          <p:nvPr/>
        </p:nvSpPr>
        <p:spPr bwMode="auto">
          <a:xfrm>
            <a:off x="304800" y="26670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103430" name="Text Box 17" descr="note number"/>
          <p:cNvSpPr txBox="1">
            <a:spLocks noChangeArrowheads="1"/>
          </p:cNvSpPr>
          <p:nvPr/>
        </p:nvSpPr>
        <p:spPr bwMode="auto">
          <a:xfrm>
            <a:off x="304800" y="40386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
        <p:nvSpPr>
          <p:cNvPr id="103431" name="Text Box 17" descr="note number"/>
          <p:cNvSpPr txBox="1">
            <a:spLocks noChangeArrowheads="1"/>
          </p:cNvSpPr>
          <p:nvPr/>
        </p:nvSpPr>
        <p:spPr bwMode="auto">
          <a:xfrm>
            <a:off x="304800" y="61722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3</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2"/>
          <p:cNvSpPr>
            <a:spLocks noGrp="1" noChangeArrowheads="1"/>
          </p:cNvSpPr>
          <p:nvPr>
            <p:ph type="title"/>
          </p:nvPr>
        </p:nvSpPr>
        <p:spPr>
          <a:xfrm>
            <a:off x="0" y="121033"/>
            <a:ext cx="12192000" cy="1002089"/>
          </a:xfrm>
        </p:spPr>
        <p:txBody>
          <a:bodyPr/>
          <a:lstStyle/>
          <a:p>
            <a:r>
              <a:rPr lang="en-US" altLang="en-US" dirty="0"/>
              <a:t>Text Properties (3 of 3)</a:t>
            </a:r>
          </a:p>
        </p:txBody>
      </p:sp>
      <p:sp>
        <p:nvSpPr>
          <p:cNvPr id="105476" name="Rectangle 3"/>
          <p:cNvSpPr>
            <a:spLocks noGrp="1" noChangeArrowheads="1"/>
          </p:cNvSpPr>
          <p:nvPr>
            <p:ph idx="1"/>
          </p:nvPr>
        </p:nvSpPr>
        <p:spPr>
          <a:xfrm>
            <a:off x="925830" y="1490870"/>
            <a:ext cx="10287000" cy="4699047"/>
          </a:xfrm>
        </p:spPr>
        <p:txBody>
          <a:bodyPr/>
          <a:lstStyle/>
          <a:p>
            <a:r>
              <a:rPr lang="en-US" altLang="en-US" dirty="0"/>
              <a:t>The </a:t>
            </a:r>
            <a:r>
              <a:rPr lang="en-US" altLang="en-US" dirty="0">
                <a:latin typeface="Courier New" panose="02070309020205020404" pitchFamily="49" charset="0"/>
                <a:cs typeface="Courier New" panose="02070309020205020404" pitchFamily="49" charset="0"/>
              </a:rPr>
              <a:t>text-indent</a:t>
            </a:r>
            <a:r>
              <a:rPr lang="en-US" altLang="en-US" dirty="0"/>
              <a:t> property specifies the size of the indentation of the first line in a block of text.</a:t>
            </a:r>
          </a:p>
          <a:p>
            <a:r>
              <a:rPr lang="en-US" altLang="en-US" dirty="0"/>
              <a:t>The most appropriate way to specify a value for the </a:t>
            </a:r>
            <a:r>
              <a:rPr lang="en-US" altLang="en-US" dirty="0">
                <a:latin typeface="Courier New" panose="02070309020205020404" pitchFamily="49" charset="0"/>
                <a:cs typeface="Courier New" panose="02070309020205020404" pitchFamily="49" charset="0"/>
              </a:rPr>
              <a:t>text-indent</a:t>
            </a:r>
            <a:r>
              <a:rPr lang="en-US" altLang="en-US" dirty="0"/>
              <a:t> property is to use </a:t>
            </a:r>
            <a:r>
              <a:rPr lang="en-US" altLang="en-US" dirty="0" err="1">
                <a:latin typeface="Courier New" panose="02070309020205020404" pitchFamily="49" charset="0"/>
                <a:cs typeface="Courier New" panose="02070309020205020404" pitchFamily="49" charset="0"/>
              </a:rPr>
              <a:t>em</a:t>
            </a:r>
            <a:r>
              <a:rPr lang="en-US" altLang="en-US" dirty="0"/>
              <a:t> units. For example:</a:t>
            </a:r>
          </a:p>
          <a:p>
            <a:pPr marL="457200" lvl="1" indent="0">
              <a:buNone/>
            </a:pPr>
            <a:r>
              <a:rPr lang="en-US" altLang="en-US" sz="2000" dirty="0">
                <a:latin typeface="Courier New" panose="02070309020205020404" pitchFamily="49" charset="0"/>
                <a:cs typeface="Courier New" panose="02070309020205020404" pitchFamily="49" charset="0"/>
              </a:rPr>
              <a:t>p {text-indent: 4em;}</a:t>
            </a:r>
          </a:p>
        </p:txBody>
      </p:sp>
      <p:sp>
        <p:nvSpPr>
          <p:cNvPr id="105477" name="Text Box 10" descr="note number"/>
          <p:cNvSpPr txBox="1">
            <a:spLocks noChangeArrowheads="1"/>
          </p:cNvSpPr>
          <p:nvPr/>
        </p:nvSpPr>
        <p:spPr bwMode="auto">
          <a:xfrm>
            <a:off x="304800" y="20574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2"/>
          <p:cNvSpPr>
            <a:spLocks noGrp="1" noChangeArrowheads="1"/>
          </p:cNvSpPr>
          <p:nvPr>
            <p:ph type="title"/>
          </p:nvPr>
        </p:nvSpPr>
        <p:spPr>
          <a:xfrm>
            <a:off x="0" y="121033"/>
            <a:ext cx="12192000" cy="1002089"/>
          </a:xfrm>
        </p:spPr>
        <p:txBody>
          <a:bodyPr/>
          <a:lstStyle/>
          <a:p>
            <a:r>
              <a:rPr lang="en-US" altLang="en-US" dirty="0"/>
              <a:t>Border Properties (1 of 2)</a:t>
            </a:r>
          </a:p>
        </p:txBody>
      </p:sp>
      <p:sp>
        <p:nvSpPr>
          <p:cNvPr id="16388" name="Rectangle 3"/>
          <p:cNvSpPr>
            <a:spLocks noGrp="1" noChangeArrowheads="1"/>
          </p:cNvSpPr>
          <p:nvPr>
            <p:ph idx="1"/>
          </p:nvPr>
        </p:nvSpPr>
        <p:spPr>
          <a:xfrm>
            <a:off x="925830" y="1490870"/>
            <a:ext cx="10287000" cy="4699047"/>
          </a:xfrm>
        </p:spPr>
        <p:txBody>
          <a:bodyPr/>
          <a:lstStyle/>
          <a:p>
            <a:r>
              <a:rPr lang="en-US" dirty="0"/>
              <a:t>Border properties (not an exhaustive list):</a:t>
            </a:r>
          </a:p>
          <a:p>
            <a:pPr lvl="1"/>
            <a:r>
              <a:rPr lang="en-US" dirty="0">
                <a:latin typeface="Courier New" panose="02070309020205020404" pitchFamily="49" charset="0"/>
                <a:cs typeface="Courier New" panose="02070309020205020404" pitchFamily="49" charset="0"/>
              </a:rPr>
              <a:t>border-style</a:t>
            </a:r>
          </a:p>
          <a:p>
            <a:pPr lvl="1"/>
            <a:r>
              <a:rPr lang="en-US" dirty="0">
                <a:latin typeface="Courier New" panose="02070309020205020404" pitchFamily="49" charset="0"/>
                <a:cs typeface="Courier New" panose="02070309020205020404" pitchFamily="49" charset="0"/>
              </a:rPr>
              <a:t>border-width</a:t>
            </a:r>
          </a:p>
          <a:p>
            <a:pPr lvl="1"/>
            <a:r>
              <a:rPr lang="en-US" dirty="0">
                <a:latin typeface="Courier New" panose="02070309020205020404" pitchFamily="49" charset="0"/>
                <a:cs typeface="Courier New" panose="02070309020205020404" pitchFamily="49" charset="0"/>
              </a:rPr>
              <a:t>border-color</a:t>
            </a:r>
          </a:p>
          <a:p>
            <a:pPr lvl="1"/>
            <a:r>
              <a:rPr lang="en-US" dirty="0">
                <a:latin typeface="Courier New" panose="02070309020205020404" pitchFamily="49" charset="0"/>
                <a:cs typeface="Courier New" panose="02070309020205020404" pitchFamily="49" charset="0"/>
              </a:rPr>
              <a:t>border</a:t>
            </a:r>
          </a:p>
          <a:p>
            <a:r>
              <a:rPr lang="en-US" dirty="0"/>
              <a:t>The </a:t>
            </a:r>
            <a:r>
              <a:rPr lang="en-US" dirty="0">
                <a:latin typeface="Courier New" panose="02070309020205020404" pitchFamily="49" charset="0"/>
                <a:cs typeface="Courier New" panose="02070309020205020404" pitchFamily="49" charset="0"/>
              </a:rPr>
              <a:t>border-style</a:t>
            </a:r>
            <a:r>
              <a:rPr lang="en-US" dirty="0"/>
              <a:t> property specifies the type of border that surrounds the matched element.</a:t>
            </a:r>
          </a:p>
          <a:p>
            <a:r>
              <a:rPr lang="en-US" dirty="0"/>
              <a:t>Valid values for the </a:t>
            </a:r>
            <a:r>
              <a:rPr lang="en-US" dirty="0">
                <a:latin typeface="Courier New" panose="02070309020205020404" pitchFamily="49" charset="0"/>
                <a:cs typeface="Courier New" panose="02070309020205020404" pitchFamily="49" charset="0"/>
              </a:rPr>
              <a:t>border-style</a:t>
            </a:r>
            <a:r>
              <a:rPr lang="en-US" dirty="0"/>
              <a:t> property (not an exhaustive list):</a:t>
            </a:r>
          </a:p>
          <a:p>
            <a:pPr lvl="1"/>
            <a:r>
              <a:rPr lang="en-US" dirty="0">
                <a:latin typeface="Courier New" panose="02070309020205020404" pitchFamily="49" charset="0"/>
                <a:cs typeface="Courier New" panose="02070309020205020404" pitchFamily="49" charset="0"/>
              </a:rPr>
              <a:t>none</a:t>
            </a:r>
            <a:r>
              <a:rPr lang="en-US" dirty="0"/>
              <a:t>, </a:t>
            </a:r>
            <a:r>
              <a:rPr lang="en-US" dirty="0">
                <a:latin typeface="Courier New" panose="02070309020205020404" pitchFamily="49" charset="0"/>
                <a:cs typeface="Courier New" panose="02070309020205020404" pitchFamily="49" charset="0"/>
              </a:rPr>
              <a:t>solid</a:t>
            </a:r>
            <a:r>
              <a:rPr lang="en-US" dirty="0"/>
              <a:t>, </a:t>
            </a:r>
            <a:r>
              <a:rPr lang="en-US" dirty="0">
                <a:latin typeface="Courier New" panose="02070309020205020404" pitchFamily="49" charset="0"/>
                <a:cs typeface="Courier New" panose="02070309020205020404" pitchFamily="49" charset="0"/>
              </a:rPr>
              <a:t>dashed</a:t>
            </a:r>
            <a:r>
              <a:rPr lang="en-US" dirty="0"/>
              <a:t>, </a:t>
            </a:r>
            <a:r>
              <a:rPr lang="en-US" dirty="0">
                <a:latin typeface="Courier New" panose="02070309020205020404" pitchFamily="49" charset="0"/>
                <a:cs typeface="Courier New" panose="02070309020205020404" pitchFamily="49" charset="0"/>
              </a:rPr>
              <a:t>dotted</a:t>
            </a:r>
            <a:r>
              <a:rPr lang="en-US" dirty="0"/>
              <a:t>, </a:t>
            </a:r>
            <a:r>
              <a:rPr lang="en-US" dirty="0">
                <a:latin typeface="Courier New" panose="02070309020205020404" pitchFamily="49" charset="0"/>
                <a:cs typeface="Courier New" panose="02070309020205020404" pitchFamily="49" charset="0"/>
              </a:rPr>
              <a:t>double</a:t>
            </a:r>
          </a:p>
          <a:p>
            <a:r>
              <a:rPr lang="en-US" dirty="0"/>
              <a:t>Example:</a:t>
            </a:r>
          </a:p>
          <a:p>
            <a:pPr marL="457200" lvl="1" indent="0">
              <a:buNone/>
            </a:pPr>
            <a:r>
              <a:rPr lang="en-US" sz="2000" dirty="0">
                <a:latin typeface="Courier New" panose="02070309020205020404" pitchFamily="49" charset="0"/>
                <a:cs typeface="Courier New" panose="02070309020205020404" pitchFamily="49" charset="0"/>
              </a:rPr>
              <a:t>.coupon {border-style: dashed;}</a:t>
            </a:r>
          </a:p>
        </p:txBody>
      </p:sp>
      <p:sp>
        <p:nvSpPr>
          <p:cNvPr id="107525" name="Text Box 4" descr="note number"/>
          <p:cNvSpPr txBox="1">
            <a:spLocks noChangeArrowheads="1"/>
          </p:cNvSpPr>
          <p:nvPr/>
        </p:nvSpPr>
        <p:spPr bwMode="auto">
          <a:xfrm>
            <a:off x="533400" y="5249574"/>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1</a:t>
            </a:r>
          </a:p>
        </p:txBody>
      </p:sp>
      <p:sp>
        <p:nvSpPr>
          <p:cNvPr id="107526" name="Text Box 5" descr="note number"/>
          <p:cNvSpPr txBox="1">
            <a:spLocks noChangeArrowheads="1"/>
          </p:cNvSpPr>
          <p:nvPr/>
        </p:nvSpPr>
        <p:spPr bwMode="auto">
          <a:xfrm>
            <a:off x="533400" y="5563899"/>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2</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2"/>
          <p:cNvSpPr>
            <a:spLocks noGrp="1" noChangeArrowheads="1"/>
          </p:cNvSpPr>
          <p:nvPr>
            <p:ph type="title"/>
          </p:nvPr>
        </p:nvSpPr>
        <p:spPr>
          <a:xfrm>
            <a:off x="0" y="121033"/>
            <a:ext cx="12192000" cy="1002089"/>
          </a:xfrm>
        </p:spPr>
        <p:txBody>
          <a:bodyPr/>
          <a:lstStyle/>
          <a:p>
            <a:r>
              <a:rPr lang="en-US" altLang="en-US" dirty="0"/>
              <a:t>Border Properties (2 of 2)</a:t>
            </a:r>
          </a:p>
        </p:txBody>
      </p:sp>
      <p:sp>
        <p:nvSpPr>
          <p:cNvPr id="16388" name="Rectangle 3"/>
          <p:cNvSpPr>
            <a:spLocks noGrp="1" noChangeArrowheads="1"/>
          </p:cNvSpPr>
          <p:nvPr>
            <p:ph idx="1"/>
          </p:nvPr>
        </p:nvSpPr>
        <p:spPr>
          <a:xfrm>
            <a:off x="925830" y="1490870"/>
            <a:ext cx="10287000" cy="4699047"/>
          </a:xfrm>
        </p:spPr>
        <p:txBody>
          <a:bodyPr/>
          <a:lstStyle/>
          <a:p>
            <a:r>
              <a:rPr lang="en-US" dirty="0"/>
              <a:t>The </a:t>
            </a:r>
            <a:r>
              <a:rPr lang="en-US" dirty="0">
                <a:latin typeface="Courier New" panose="02070309020205020404" pitchFamily="49" charset="0"/>
                <a:cs typeface="Courier New" panose="02070309020205020404" pitchFamily="49" charset="0"/>
              </a:rPr>
              <a:t>border-width</a:t>
            </a:r>
            <a:r>
              <a:rPr lang="en-US" dirty="0"/>
              <a:t> property specifies the border’s width.</a:t>
            </a:r>
          </a:p>
          <a:p>
            <a:r>
              <a:rPr lang="en-US" dirty="0"/>
              <a:t>For the </a:t>
            </a:r>
            <a:r>
              <a:rPr lang="en-US" dirty="0">
                <a:latin typeface="Courier New" panose="02070309020205020404" pitchFamily="49" charset="0"/>
                <a:cs typeface="Courier New" panose="02070309020205020404" pitchFamily="49" charset="0"/>
              </a:rPr>
              <a:t>border-width</a:t>
            </a:r>
            <a:r>
              <a:rPr lang="en-US" dirty="0"/>
              <a:t> property to work, you must declare a </a:t>
            </a:r>
            <a:r>
              <a:rPr lang="en-US" dirty="0">
                <a:latin typeface="Courier New" panose="02070309020205020404" pitchFamily="49" charset="0"/>
                <a:cs typeface="Courier New" panose="02070309020205020404" pitchFamily="49" charset="0"/>
              </a:rPr>
              <a:t>border-style</a:t>
            </a:r>
            <a:r>
              <a:rPr lang="en-US" dirty="0"/>
              <a:t> property in conjunction with the </a:t>
            </a:r>
            <a:r>
              <a:rPr lang="en-US" dirty="0">
                <a:latin typeface="Courier New" panose="02070309020205020404" pitchFamily="49" charset="0"/>
                <a:cs typeface="Courier New" panose="02070309020205020404" pitchFamily="49" charset="0"/>
              </a:rPr>
              <a:t>border-width</a:t>
            </a:r>
            <a:r>
              <a:rPr lang="en-US" dirty="0"/>
              <a:t> property.</a:t>
            </a:r>
          </a:p>
          <a:p>
            <a:r>
              <a:rPr lang="en-US" dirty="0"/>
              <a:t>The most appropriate values for the </a:t>
            </a:r>
            <a:r>
              <a:rPr lang="en-US" dirty="0">
                <a:latin typeface="Courier New" panose="02070309020205020404" pitchFamily="49" charset="0"/>
                <a:cs typeface="Courier New" panose="02070309020205020404" pitchFamily="49" charset="0"/>
              </a:rPr>
              <a:t>border-width</a:t>
            </a:r>
            <a:r>
              <a:rPr lang="en-US" dirty="0"/>
              <a:t> property:</a:t>
            </a:r>
          </a:p>
          <a:p>
            <a:pPr lvl="1"/>
            <a:r>
              <a:rPr lang="en-US" dirty="0">
                <a:latin typeface="Courier New" panose="02070309020205020404" pitchFamily="49" charset="0"/>
                <a:cs typeface="Courier New" panose="02070309020205020404" pitchFamily="49" charset="0"/>
              </a:rPr>
              <a:t>thin</a:t>
            </a:r>
            <a:r>
              <a:rPr lang="en-US" dirty="0"/>
              <a:t>, </a:t>
            </a:r>
            <a:r>
              <a:rPr lang="en-US" dirty="0">
                <a:latin typeface="Courier New" panose="02070309020205020404" pitchFamily="49" charset="0"/>
                <a:cs typeface="Courier New" panose="02070309020205020404" pitchFamily="49" charset="0"/>
              </a:rPr>
              <a:t>medium</a:t>
            </a:r>
            <a:r>
              <a:rPr lang="en-US" dirty="0"/>
              <a:t>, </a:t>
            </a:r>
            <a:r>
              <a:rPr lang="en-US" dirty="0">
                <a:latin typeface="Courier New" panose="02070309020205020404" pitchFamily="49" charset="0"/>
                <a:cs typeface="Courier New" panose="02070309020205020404" pitchFamily="49" charset="0"/>
              </a:rPr>
              <a:t>thick</a:t>
            </a:r>
          </a:p>
          <a:p>
            <a:pPr lvl="1"/>
            <a:r>
              <a:rPr lang="en-US" dirty="0"/>
              <a:t>number of </a:t>
            </a:r>
            <a:r>
              <a:rPr lang="en-US" dirty="0" err="1">
                <a:latin typeface="Courier New" panose="02070309020205020404" pitchFamily="49" charset="0"/>
                <a:cs typeface="Courier New" panose="02070309020205020404" pitchFamily="49" charset="0"/>
              </a:rPr>
              <a:t>px</a:t>
            </a:r>
            <a:r>
              <a:rPr lang="en-US" dirty="0"/>
              <a:t> units:</a:t>
            </a:r>
          </a:p>
          <a:p>
            <a:pPr lvl="3"/>
            <a:r>
              <a:rPr lang="en-US" dirty="0"/>
              <a:t>A CSS pixel is the size of a single projected dot on a computer monitor when the monitor’s zooming factor is at 100%.</a:t>
            </a:r>
          </a:p>
          <a:p>
            <a:pPr lvl="3"/>
            <a:r>
              <a:rPr lang="en-US" dirty="0"/>
              <a:t>As with all the other CSS size values, CSS pixel values are relative. If a user reduces their monitor’s resolution or zooms in on his/her browser, then each CSS pixel expands and elements that use CSS pixel units will likewise expand.</a:t>
            </a:r>
          </a:p>
        </p:txBody>
      </p:sp>
      <p:sp>
        <p:nvSpPr>
          <p:cNvPr id="109573" name="Text Box 4" descr="note number"/>
          <p:cNvSpPr txBox="1">
            <a:spLocks noChangeArrowheads="1"/>
          </p:cNvSpPr>
          <p:nvPr/>
        </p:nvSpPr>
        <p:spPr bwMode="auto">
          <a:xfrm>
            <a:off x="304800" y="28194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1</a:t>
            </a:r>
          </a:p>
        </p:txBody>
      </p:sp>
      <p:sp>
        <p:nvSpPr>
          <p:cNvPr id="109574" name="Text Box 5" descr="note number"/>
          <p:cNvSpPr txBox="1">
            <a:spLocks noChangeArrowheads="1"/>
          </p:cNvSpPr>
          <p:nvPr/>
        </p:nvSpPr>
        <p:spPr bwMode="auto">
          <a:xfrm>
            <a:off x="304800" y="57150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3</a:t>
            </a:r>
          </a:p>
        </p:txBody>
      </p:sp>
      <p:sp>
        <p:nvSpPr>
          <p:cNvPr id="109575" name="Text Box 5" descr="note number"/>
          <p:cNvSpPr txBox="1">
            <a:spLocks noChangeArrowheads="1"/>
          </p:cNvSpPr>
          <p:nvPr/>
        </p:nvSpPr>
        <p:spPr bwMode="auto">
          <a:xfrm>
            <a:off x="304800" y="3840393"/>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2</a:t>
            </a:r>
          </a:p>
        </p:txBody>
      </p:sp>
      <p:sp>
        <p:nvSpPr>
          <p:cNvPr id="109576" name="Text Box 5" descr="note number"/>
          <p:cNvSpPr txBox="1">
            <a:spLocks noChangeArrowheads="1"/>
          </p:cNvSpPr>
          <p:nvPr/>
        </p:nvSpPr>
        <p:spPr bwMode="auto">
          <a:xfrm>
            <a:off x="304800" y="60960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4</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Rectangle 2"/>
          <p:cNvSpPr>
            <a:spLocks noGrp="1" noChangeArrowheads="1"/>
          </p:cNvSpPr>
          <p:nvPr>
            <p:ph type="title"/>
          </p:nvPr>
        </p:nvSpPr>
        <p:spPr>
          <a:xfrm>
            <a:off x="0" y="121033"/>
            <a:ext cx="12192000" cy="1002089"/>
          </a:xfrm>
        </p:spPr>
        <p:txBody>
          <a:bodyPr/>
          <a:lstStyle/>
          <a:p>
            <a:r>
              <a:rPr lang="en-US" altLang="en-US" dirty="0"/>
              <a:t>Ideal Pixels Vs. Actual Pixels (1 of 2)</a:t>
            </a:r>
          </a:p>
        </p:txBody>
      </p:sp>
      <p:sp>
        <p:nvSpPr>
          <p:cNvPr id="16388" name="Rectangle 3"/>
          <p:cNvSpPr>
            <a:spLocks noGrp="1" noChangeArrowheads="1"/>
          </p:cNvSpPr>
          <p:nvPr>
            <p:ph idx="1"/>
          </p:nvPr>
        </p:nvSpPr>
        <p:spPr>
          <a:xfrm>
            <a:off x="925830" y="1490870"/>
            <a:ext cx="10287000" cy="4699047"/>
          </a:xfrm>
        </p:spPr>
        <p:txBody>
          <a:bodyPr/>
          <a:lstStyle/>
          <a:p>
            <a:r>
              <a:rPr lang="en-US" dirty="0"/>
              <a:t>The W3C defines an “ideal pixel” width to be 1/96th of an inch for desktop computers (which means 96 dots per inch) and approximately 1/150th of an inch for mobile devices. For an explanation of how those values were calculated, see </a:t>
            </a:r>
            <a:r>
              <a:rPr lang="en-US" dirty="0">
                <a:hlinkClick r:id="rId3"/>
              </a:rPr>
              <a:t>https://web.dev/articles/high-dpi</a:t>
            </a:r>
            <a:r>
              <a:rPr lang="en-US" dirty="0"/>
              <a:t>.</a:t>
            </a:r>
          </a:p>
          <a:p>
            <a:r>
              <a:rPr lang="en-US" dirty="0"/>
              <a:t>However, as a web programmer, you cannot count on your CSS pixel values to display widths that match precisely the widths that would be produced by ideal pixels.</a:t>
            </a:r>
          </a:p>
          <a:p>
            <a:r>
              <a:rPr lang="en-US" dirty="0"/>
              <a:t>That’s because different monitors have different actual (“physical device”) pixel widths. Monitor manufacturers rely on the W3C’s “ideal pixel” concept as a guide in determining actual pixel widths, but it’s not a precise guide.</a:t>
            </a:r>
          </a:p>
        </p:txBody>
      </p:sp>
      <p:sp>
        <p:nvSpPr>
          <p:cNvPr id="111621" name="Text Box 4" descr="note number"/>
          <p:cNvSpPr txBox="1">
            <a:spLocks noChangeArrowheads="1"/>
          </p:cNvSpPr>
          <p:nvPr/>
        </p:nvSpPr>
        <p:spPr bwMode="auto">
          <a:xfrm>
            <a:off x="381000" y="149087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Rectangle 2"/>
          <p:cNvSpPr>
            <a:spLocks noGrp="1" noChangeArrowheads="1"/>
          </p:cNvSpPr>
          <p:nvPr>
            <p:ph type="title"/>
          </p:nvPr>
        </p:nvSpPr>
        <p:spPr>
          <a:xfrm>
            <a:off x="0" y="121033"/>
            <a:ext cx="12192000" cy="1002089"/>
          </a:xfrm>
        </p:spPr>
        <p:txBody>
          <a:bodyPr/>
          <a:lstStyle/>
          <a:p>
            <a:r>
              <a:rPr lang="en-US" altLang="en-US" dirty="0"/>
              <a:t>Ideal Pixels Vs. Actual Pixels (2 of 2)</a:t>
            </a:r>
          </a:p>
        </p:txBody>
      </p:sp>
      <p:sp>
        <p:nvSpPr>
          <p:cNvPr id="16388" name="Rectangle 3"/>
          <p:cNvSpPr>
            <a:spLocks noGrp="1" noChangeArrowheads="1"/>
          </p:cNvSpPr>
          <p:nvPr>
            <p:ph idx="1"/>
          </p:nvPr>
        </p:nvSpPr>
        <p:spPr>
          <a:xfrm>
            <a:off x="925830" y="1490870"/>
            <a:ext cx="10287000" cy="4699047"/>
          </a:xfrm>
        </p:spPr>
        <p:txBody>
          <a:bodyPr/>
          <a:lstStyle/>
          <a:p>
            <a:r>
              <a:rPr lang="en-US" dirty="0"/>
              <a:t>To further the disparity between ideal pixels and actual pixels, if the user increases or decreases the monitor’s resolution (which changes the size of each actual pixel), then CSS pixel widths will shrink or expand, respectively, and elements that use CSS pixel units will likewise shrink or expand.</a:t>
            </a:r>
          </a:p>
          <a:p>
            <a:r>
              <a:rPr lang="en-US" dirty="0"/>
              <a:t>Likewise, if the user zooms in or zooms out on the browser window, then CSS pixel widths (but not actual pixels) will shrink or expand.</a:t>
            </a:r>
          </a:p>
        </p:txBody>
      </p:sp>
      <p:sp>
        <p:nvSpPr>
          <p:cNvPr id="111622" name="Text Box 5" descr="note number"/>
          <p:cNvSpPr txBox="1">
            <a:spLocks noChangeArrowheads="1"/>
          </p:cNvSpPr>
          <p:nvPr/>
        </p:nvSpPr>
        <p:spPr bwMode="auto">
          <a:xfrm>
            <a:off x="152400" y="1333707"/>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Tree>
    <p:extLst>
      <p:ext uri="{BB962C8B-B14F-4D97-AF65-F5344CB8AC3E}">
        <p14:creationId xmlns:p14="http://schemas.microsoft.com/office/powerpoint/2010/main" val="4019133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Rectangle 2"/>
          <p:cNvSpPr>
            <a:spLocks noGrp="1" noChangeArrowheads="1"/>
          </p:cNvSpPr>
          <p:nvPr>
            <p:ph type="title"/>
          </p:nvPr>
        </p:nvSpPr>
        <p:spPr>
          <a:xfrm>
            <a:off x="0" y="121033"/>
            <a:ext cx="12192000" cy="1002089"/>
          </a:xfrm>
        </p:spPr>
        <p:txBody>
          <a:bodyPr/>
          <a:lstStyle/>
          <a:p>
            <a:r>
              <a:rPr lang="en-US" altLang="en-US" dirty="0"/>
              <a:t>Border Properties (1 of 3)</a:t>
            </a:r>
          </a:p>
        </p:txBody>
      </p:sp>
      <p:sp>
        <p:nvSpPr>
          <p:cNvPr id="16388" name="Rectangle 3"/>
          <p:cNvSpPr>
            <a:spLocks noGrp="1" noChangeArrowheads="1"/>
          </p:cNvSpPr>
          <p:nvPr>
            <p:ph idx="1"/>
          </p:nvPr>
        </p:nvSpPr>
        <p:spPr>
          <a:xfrm>
            <a:off x="925830" y="1295400"/>
            <a:ext cx="10287000" cy="4699047"/>
          </a:xfrm>
        </p:spPr>
        <p:txBody>
          <a:bodyPr/>
          <a:lstStyle/>
          <a:p>
            <a:r>
              <a:rPr lang="en-US" dirty="0"/>
              <a:t>It’s pretty rare to need different widths for the different border sides, but be aware that that feature exists. If you specify 4 values for the </a:t>
            </a:r>
            <a:r>
              <a:rPr lang="en-US" dirty="0">
                <a:latin typeface="Courier New" panose="02070309020205020404" pitchFamily="49" charset="0"/>
                <a:cs typeface="Courier New" panose="02070309020205020404" pitchFamily="49" charset="0"/>
              </a:rPr>
              <a:t>border-width</a:t>
            </a:r>
            <a:r>
              <a:rPr lang="en-US" dirty="0"/>
              <a:t> property, the 4 values apply to the 4 sides in clockwise order, starting at the top. For example:</a:t>
            </a:r>
          </a:p>
          <a:p>
            <a:pPr marL="457200" lvl="1" indent="0">
              <a:buNone/>
            </a:pPr>
            <a:r>
              <a:rPr lang="en-US" sz="1600" dirty="0">
                <a:latin typeface="Courier New" panose="02070309020205020404" pitchFamily="49" charset="0"/>
                <a:cs typeface="Courier New" panose="02070309020205020404" pitchFamily="49" charset="0"/>
              </a:rPr>
              <a:t>h1 {</a:t>
            </a:r>
          </a:p>
          <a:p>
            <a:pPr marL="457200" lvl="1" indent="0">
              <a:buNone/>
            </a:pPr>
            <a:r>
              <a:rPr lang="en-US" sz="1600" dirty="0">
                <a:latin typeface="Courier New" panose="02070309020205020404" pitchFamily="49" charset="0"/>
                <a:cs typeface="Courier New" panose="02070309020205020404" pitchFamily="49" charset="0"/>
              </a:rPr>
              <a:t>  border-style: solid;</a:t>
            </a:r>
          </a:p>
          <a:p>
            <a:pPr marL="457200" lvl="1" indent="0">
              <a:buNone/>
            </a:pPr>
            <a:r>
              <a:rPr lang="en-US" sz="1600" dirty="0">
                <a:latin typeface="Courier New" panose="02070309020205020404" pitchFamily="49" charset="0"/>
                <a:cs typeface="Courier New" panose="02070309020205020404" pitchFamily="49" charset="0"/>
              </a:rPr>
              <a:t>  border-width: 4px 2px 0px 2px;</a:t>
            </a:r>
          </a:p>
          <a:p>
            <a:pPr marL="457200" lvl="1" indent="0">
              <a:buNone/>
            </a:pPr>
            <a:r>
              <a:rPr lang="en-US" sz="1600" dirty="0">
                <a:latin typeface="Courier New" panose="02070309020205020404" pitchFamily="49" charset="0"/>
                <a:cs typeface="Courier New" panose="02070309020205020404" pitchFamily="49" charset="0"/>
              </a:rPr>
              <a:t>}</a:t>
            </a:r>
          </a:p>
          <a:p>
            <a:r>
              <a:rPr lang="en-US" dirty="0"/>
              <a:t>If you specify 3 values, then the 1st value applies to the top side, the 2nd value applies to the right and left sides, and the 3rd value applies to the bottom side.</a:t>
            </a:r>
          </a:p>
          <a:p>
            <a:r>
              <a:rPr lang="en-US" dirty="0"/>
              <a:t>If you specify 2 values, then the 1st value applies to the top and bottom sides and the 2nd value applies to the right and left sides.</a:t>
            </a:r>
          </a:p>
        </p:txBody>
      </p:sp>
      <p:sp>
        <p:nvSpPr>
          <p:cNvPr id="113669" name="Text Box 4" descr="note number"/>
          <p:cNvSpPr txBox="1">
            <a:spLocks noChangeArrowheads="1"/>
          </p:cNvSpPr>
          <p:nvPr/>
        </p:nvSpPr>
        <p:spPr bwMode="auto">
          <a:xfrm>
            <a:off x="381000" y="3125066"/>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1</a:t>
            </a:r>
          </a:p>
        </p:txBody>
      </p:sp>
      <p:sp>
        <p:nvSpPr>
          <p:cNvPr id="113670" name="Text Box 5" descr="note number"/>
          <p:cNvSpPr txBox="1">
            <a:spLocks noChangeArrowheads="1"/>
          </p:cNvSpPr>
          <p:nvPr/>
        </p:nvSpPr>
        <p:spPr bwMode="auto">
          <a:xfrm>
            <a:off x="381000" y="48006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
        <p:nvSpPr>
          <p:cNvPr id="113671" name="Text Box 5" descr="note number"/>
          <p:cNvSpPr txBox="1">
            <a:spLocks noChangeArrowheads="1"/>
          </p:cNvSpPr>
          <p:nvPr/>
        </p:nvSpPr>
        <p:spPr bwMode="auto">
          <a:xfrm>
            <a:off x="381000" y="5886218"/>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3</a:t>
            </a:r>
          </a:p>
        </p:txBody>
      </p:sp>
      <p:sp>
        <p:nvSpPr>
          <p:cNvPr id="113672" name="Text Box 5" descr="note number"/>
          <p:cNvSpPr txBox="1">
            <a:spLocks noChangeArrowheads="1"/>
          </p:cNvSpPr>
          <p:nvPr/>
        </p:nvSpPr>
        <p:spPr bwMode="auto">
          <a:xfrm>
            <a:off x="381000" y="6318971"/>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4</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2"/>
          <p:cNvSpPr>
            <a:spLocks noGrp="1" noChangeArrowheads="1"/>
          </p:cNvSpPr>
          <p:nvPr>
            <p:ph type="title"/>
          </p:nvPr>
        </p:nvSpPr>
        <p:spPr>
          <a:xfrm>
            <a:off x="0" y="121033"/>
            <a:ext cx="12192000" cy="1002089"/>
          </a:xfrm>
        </p:spPr>
        <p:txBody>
          <a:bodyPr/>
          <a:lstStyle/>
          <a:p>
            <a:r>
              <a:rPr lang="en-US" altLang="en-US" dirty="0"/>
              <a:t>Border Properties (2 of 3)</a:t>
            </a:r>
          </a:p>
        </p:txBody>
      </p:sp>
      <p:sp>
        <p:nvSpPr>
          <p:cNvPr id="115716" name="Rectangle 3"/>
          <p:cNvSpPr>
            <a:spLocks noGrp="1" noChangeArrowheads="1"/>
          </p:cNvSpPr>
          <p:nvPr>
            <p:ph idx="1"/>
          </p:nvPr>
        </p:nvSpPr>
        <p:spPr>
          <a:xfrm>
            <a:off x="925830" y="1490870"/>
            <a:ext cx="10287000" cy="4699047"/>
          </a:xfrm>
        </p:spPr>
        <p:txBody>
          <a:bodyPr/>
          <a:lstStyle/>
          <a:p>
            <a:r>
              <a:rPr lang="en-US" altLang="en-US" dirty="0"/>
              <a:t>The</a:t>
            </a:r>
            <a:r>
              <a:rPr lang="en-US" altLang="en-US" dirty="0">
                <a:latin typeface="Courier New" panose="02070309020205020404" pitchFamily="49" charset="0"/>
                <a:cs typeface="Courier New" panose="02070309020205020404" pitchFamily="49" charset="0"/>
              </a:rPr>
              <a:t> border-color </a:t>
            </a:r>
            <a:r>
              <a:rPr lang="en-US" altLang="en-US" dirty="0"/>
              <a:t>property specifies the border’s color.</a:t>
            </a:r>
          </a:p>
          <a:p>
            <a:r>
              <a:rPr lang="en-US" altLang="en-US" dirty="0"/>
              <a:t>For the </a:t>
            </a:r>
            <a:r>
              <a:rPr lang="en-US" altLang="en-US" dirty="0">
                <a:latin typeface="Courier New" panose="02070309020205020404" pitchFamily="49" charset="0"/>
                <a:cs typeface="Courier New" panose="02070309020205020404" pitchFamily="49" charset="0"/>
              </a:rPr>
              <a:t>border-color</a:t>
            </a:r>
            <a:r>
              <a:rPr lang="en-US" altLang="en-US" dirty="0"/>
              <a:t> property to work, you must declare a </a:t>
            </a:r>
            <a:r>
              <a:rPr lang="en-US" altLang="en-US" dirty="0">
                <a:latin typeface="Courier New" panose="02070309020205020404" pitchFamily="49" charset="0"/>
                <a:cs typeface="Courier New" panose="02070309020205020404" pitchFamily="49" charset="0"/>
              </a:rPr>
              <a:t>border-style</a:t>
            </a:r>
            <a:r>
              <a:rPr lang="en-US" altLang="en-US" dirty="0"/>
              <a:t> property in conjunction with the </a:t>
            </a:r>
            <a:r>
              <a:rPr lang="en-US" altLang="en-US" dirty="0">
                <a:latin typeface="Courier New" panose="02070309020205020404" pitchFamily="49" charset="0"/>
                <a:cs typeface="Courier New" panose="02070309020205020404" pitchFamily="49" charset="0"/>
              </a:rPr>
              <a:t>border-color</a:t>
            </a:r>
            <a:r>
              <a:rPr lang="en-US" altLang="en-US" dirty="0"/>
              <a:t> property.</a:t>
            </a:r>
          </a:p>
          <a:p>
            <a:r>
              <a:rPr lang="en-US" altLang="en-US" dirty="0"/>
              <a:t>Values:</a:t>
            </a:r>
          </a:p>
          <a:p>
            <a:pPr lvl="1"/>
            <a:r>
              <a:rPr lang="en-US" altLang="en-US" dirty="0"/>
              <a:t>Same as for the </a:t>
            </a:r>
            <a:r>
              <a:rPr lang="en-US" altLang="en-US" dirty="0">
                <a:latin typeface="Courier New" panose="02070309020205020404" pitchFamily="49" charset="0"/>
                <a:cs typeface="Courier New" panose="02070309020205020404" pitchFamily="49" charset="0"/>
              </a:rPr>
              <a:t>color</a:t>
            </a:r>
            <a:r>
              <a:rPr lang="en-US" altLang="en-US" dirty="0"/>
              <a:t> and </a:t>
            </a:r>
            <a:r>
              <a:rPr lang="en-US" altLang="en-US" dirty="0">
                <a:latin typeface="Courier New" panose="02070309020205020404" pitchFamily="49" charset="0"/>
                <a:cs typeface="Courier New" panose="02070309020205020404" pitchFamily="49" charset="0"/>
              </a:rPr>
              <a:t>background-color</a:t>
            </a:r>
            <a:r>
              <a:rPr lang="en-US" altLang="en-US" dirty="0"/>
              <a:t>  properties:</a:t>
            </a:r>
          </a:p>
          <a:p>
            <a:pPr lvl="3"/>
            <a:r>
              <a:rPr lang="en-US" altLang="en-US" sz="2000" dirty="0">
                <a:latin typeface="Tahoma" panose="020B0604030504040204" pitchFamily="34" charset="0"/>
                <a:ea typeface="Tahoma" panose="020B0604030504040204" pitchFamily="34" charset="0"/>
                <a:cs typeface="Tahoma" panose="020B0604030504040204" pitchFamily="34" charset="0"/>
              </a:rPr>
              <a:t>color name, RGB, RGBA, HSL, HSLA</a:t>
            </a:r>
          </a:p>
        </p:txBody>
      </p:sp>
      <p:sp>
        <p:nvSpPr>
          <p:cNvPr id="115717" name="Text Box 4" descr="note number"/>
          <p:cNvSpPr txBox="1">
            <a:spLocks noChangeArrowheads="1"/>
          </p:cNvSpPr>
          <p:nvPr/>
        </p:nvSpPr>
        <p:spPr bwMode="auto">
          <a:xfrm>
            <a:off x="304800" y="26670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2"/>
          <p:cNvSpPr>
            <a:spLocks noGrp="1" noChangeArrowheads="1"/>
          </p:cNvSpPr>
          <p:nvPr>
            <p:ph type="title"/>
          </p:nvPr>
        </p:nvSpPr>
        <p:spPr>
          <a:xfrm>
            <a:off x="0" y="121033"/>
            <a:ext cx="12192000" cy="1002089"/>
          </a:xfrm>
        </p:spPr>
        <p:txBody>
          <a:bodyPr/>
          <a:lstStyle/>
          <a:p>
            <a:r>
              <a:rPr lang="en-US" altLang="en-US" dirty="0"/>
              <a:t>Border Properties (3 of 3)</a:t>
            </a:r>
          </a:p>
        </p:txBody>
      </p:sp>
      <p:sp>
        <p:nvSpPr>
          <p:cNvPr id="17412" name="Rectangle 3"/>
          <p:cNvSpPr>
            <a:spLocks noGrp="1" noChangeArrowheads="1"/>
          </p:cNvSpPr>
          <p:nvPr>
            <p:ph idx="1"/>
          </p:nvPr>
        </p:nvSpPr>
        <p:spPr>
          <a:xfrm>
            <a:off x="925830" y="1490870"/>
            <a:ext cx="10287000" cy="4699047"/>
          </a:xfrm>
        </p:spPr>
        <p:txBody>
          <a:bodyPr/>
          <a:lstStyle/>
          <a:p>
            <a:r>
              <a:rPr lang="en-US" dirty="0"/>
              <a:t>The </a:t>
            </a:r>
            <a:r>
              <a:rPr lang="en-US" dirty="0">
                <a:latin typeface="Courier New" panose="02070309020205020404" pitchFamily="49" charset="0"/>
                <a:cs typeface="Courier New" panose="02070309020205020404" pitchFamily="49" charset="0"/>
              </a:rPr>
              <a:t>border</a:t>
            </a:r>
            <a:r>
              <a:rPr lang="en-US" dirty="0"/>
              <a:t> property is a shorthand notation for specifying a border’s width, style, and color in that order. For example:</a:t>
            </a:r>
          </a:p>
          <a:p>
            <a:pPr marL="914400" lvl="2" indent="0">
              <a:buNone/>
            </a:pPr>
            <a:r>
              <a:rPr lang="en-US" sz="1800" dirty="0">
                <a:latin typeface="Courier New" panose="02070309020205020404" pitchFamily="49" charset="0"/>
                <a:cs typeface="Courier New" panose="02070309020205020404" pitchFamily="49" charset="0"/>
              </a:rPr>
              <a:t>{border: thin dotted blue;}</a:t>
            </a:r>
          </a:p>
          <a:p>
            <a:pPr marL="914400" lvl="2" indent="0">
              <a:buNone/>
            </a:pPr>
            <a:r>
              <a:rPr lang="en-US" sz="1800" dirty="0">
                <a:latin typeface="Courier New" panose="02070309020205020404" pitchFamily="49" charset="0"/>
                <a:cs typeface="Courier New" panose="02070309020205020404" pitchFamily="49" charset="0"/>
              </a:rPr>
              <a:t>{border: 10px solid;}</a:t>
            </a:r>
          </a:p>
          <a:p>
            <a:pPr lvl="1"/>
            <a:r>
              <a:rPr lang="en-US" dirty="0"/>
              <a:t>You can omit the </a:t>
            </a:r>
            <a:r>
              <a:rPr lang="en-US" dirty="0">
                <a:latin typeface="Courier New" panose="02070309020205020404" pitchFamily="49" charset="0"/>
                <a:cs typeface="Courier New" panose="02070309020205020404" pitchFamily="49" charset="0"/>
              </a:rPr>
              <a:t>width</a:t>
            </a:r>
            <a:r>
              <a:rPr lang="en-US" dirty="0"/>
              <a:t> and/or </a:t>
            </a:r>
            <a:r>
              <a:rPr lang="en-US" dirty="0">
                <a:latin typeface="Courier New" panose="02070309020205020404" pitchFamily="49" charset="0"/>
                <a:cs typeface="Courier New" panose="02070309020205020404" pitchFamily="49" charset="0"/>
              </a:rPr>
              <a:t>color</a:t>
            </a:r>
            <a:r>
              <a:rPr lang="en-US" dirty="0"/>
              <a:t> values, but if you omit the </a:t>
            </a:r>
            <a:r>
              <a:rPr lang="en-US" dirty="0">
                <a:latin typeface="Courier New" panose="02070309020205020404" pitchFamily="49" charset="0"/>
                <a:cs typeface="Courier New" panose="02070309020205020404" pitchFamily="49" charset="0"/>
              </a:rPr>
              <a:t>style</a:t>
            </a:r>
            <a:r>
              <a:rPr lang="en-US" dirty="0"/>
              <a:t> value, then no border displays. The reason why you have to include the </a:t>
            </a:r>
            <a:r>
              <a:rPr lang="en-US" dirty="0">
                <a:latin typeface="Courier New" panose="02070309020205020404" pitchFamily="49" charset="0"/>
                <a:cs typeface="Courier New" panose="02070309020205020404" pitchFamily="49" charset="0"/>
              </a:rPr>
              <a:t>style</a:t>
            </a:r>
            <a:r>
              <a:rPr lang="en-US" dirty="0"/>
              <a:t> value is because if you don’t, then </a:t>
            </a:r>
            <a:r>
              <a:rPr lang="en-US" dirty="0">
                <a:latin typeface="Courier New" panose="02070309020205020404" pitchFamily="49" charset="0"/>
                <a:cs typeface="Courier New" panose="02070309020205020404" pitchFamily="49" charset="0"/>
              </a:rPr>
              <a:t>border-style</a:t>
            </a:r>
            <a:r>
              <a:rPr lang="en-US" dirty="0"/>
              <a:t>’s default value of </a:t>
            </a:r>
            <a:r>
              <a:rPr lang="en-US" dirty="0">
                <a:latin typeface="Courier New" panose="02070309020205020404" pitchFamily="49" charset="0"/>
                <a:cs typeface="Courier New" panose="02070309020205020404" pitchFamily="49" charset="0"/>
              </a:rPr>
              <a:t>none</a:t>
            </a:r>
            <a:r>
              <a:rPr lang="en-US" dirty="0"/>
              <a:t> will be used.</a:t>
            </a:r>
          </a:p>
        </p:txBody>
      </p:sp>
      <p:sp>
        <p:nvSpPr>
          <p:cNvPr id="117765" name="Text Box 4" descr="note number"/>
          <p:cNvSpPr txBox="1">
            <a:spLocks noChangeArrowheads="1"/>
          </p:cNvSpPr>
          <p:nvPr/>
        </p:nvSpPr>
        <p:spPr bwMode="auto">
          <a:xfrm>
            <a:off x="304800" y="42672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Rectangle 2"/>
          <p:cNvSpPr>
            <a:spLocks noGrp="1" noChangeArrowheads="1"/>
          </p:cNvSpPr>
          <p:nvPr>
            <p:ph type="title"/>
          </p:nvPr>
        </p:nvSpPr>
        <p:spPr>
          <a:xfrm>
            <a:off x="0" y="121033"/>
            <a:ext cx="12192000" cy="1002089"/>
          </a:xfrm>
        </p:spPr>
        <p:txBody>
          <a:bodyPr/>
          <a:lstStyle/>
          <a:p>
            <a:r>
              <a:rPr lang="en-US" altLang="en-US"/>
              <a:t>Element Box</a:t>
            </a:r>
          </a:p>
        </p:txBody>
      </p:sp>
      <p:sp>
        <p:nvSpPr>
          <p:cNvPr id="119812" name="Rectangle 3"/>
          <p:cNvSpPr>
            <a:spLocks noGrp="1" noChangeArrowheads="1"/>
          </p:cNvSpPr>
          <p:nvPr>
            <p:ph idx="1"/>
          </p:nvPr>
        </p:nvSpPr>
        <p:spPr>
          <a:xfrm>
            <a:off x="925830" y="1490870"/>
            <a:ext cx="10287000" cy="5138530"/>
          </a:xfrm>
        </p:spPr>
        <p:txBody>
          <a:bodyPr/>
          <a:lstStyle/>
          <a:p>
            <a:r>
              <a:rPr lang="en-US" altLang="en-US" dirty="0"/>
              <a:t>In a web page, every element has an </a:t>
            </a:r>
            <a:r>
              <a:rPr lang="en-US" altLang="en-US" i="1" dirty="0"/>
              <a:t>element box </a:t>
            </a:r>
            <a:r>
              <a:rPr lang="en-US" altLang="en-US" dirty="0"/>
              <a:t>associated with it.</a:t>
            </a:r>
          </a:p>
          <a:p>
            <a:r>
              <a:rPr lang="en-US" altLang="en-US" dirty="0"/>
              <a:t>Each element box has a border, a margin outside the border, and padding inside the border.</a:t>
            </a:r>
          </a:p>
          <a:p>
            <a:r>
              <a:rPr lang="en-US" altLang="en-US" dirty="0"/>
              <a:t>For most elements, but not all, the default border, padding, and margin widths are zero. You can adjust the widths with the </a:t>
            </a:r>
            <a:r>
              <a:rPr lang="en-US" altLang="en-US" dirty="0">
                <a:latin typeface="Courier New" panose="02070309020205020404" pitchFamily="49" charset="0"/>
                <a:cs typeface="Courier New" panose="02070309020205020404" pitchFamily="49" charset="0"/>
              </a:rPr>
              <a:t>border-width</a:t>
            </a:r>
            <a:r>
              <a:rPr lang="en-US" altLang="en-US" dirty="0"/>
              <a:t>, </a:t>
            </a:r>
            <a:r>
              <a:rPr lang="en-US" altLang="en-US" dirty="0">
                <a:latin typeface="Courier New" panose="02070309020205020404" pitchFamily="49" charset="0"/>
                <a:cs typeface="Courier New" panose="02070309020205020404" pitchFamily="49" charset="0"/>
              </a:rPr>
              <a:t>padding</a:t>
            </a:r>
            <a:r>
              <a:rPr lang="en-US" altLang="en-US" dirty="0"/>
              <a:t>, and </a:t>
            </a:r>
            <a:r>
              <a:rPr lang="en-US" altLang="en-US" dirty="0">
                <a:latin typeface="Courier New" panose="02070309020205020404" pitchFamily="49" charset="0"/>
                <a:cs typeface="Courier New" panose="02070309020205020404" pitchFamily="49" charset="0"/>
              </a:rPr>
              <a:t>margin</a:t>
            </a:r>
            <a:r>
              <a:rPr lang="en-US" altLang="en-US" dirty="0"/>
              <a:t> properties.</a:t>
            </a:r>
          </a:p>
          <a:p>
            <a:endParaRPr lang="en-US" altLang="en-US" dirty="0"/>
          </a:p>
          <a:p>
            <a:endParaRPr lang="en-US" altLang="en-US" dirty="0"/>
          </a:p>
          <a:p>
            <a:endParaRPr lang="en-US" altLang="en-US" dirty="0"/>
          </a:p>
          <a:p>
            <a:endParaRPr lang="en-US" altLang="en-US" dirty="0"/>
          </a:p>
        </p:txBody>
      </p:sp>
      <p:sp>
        <p:nvSpPr>
          <p:cNvPr id="119813" name="Text Box 4" descr="note number"/>
          <p:cNvSpPr txBox="1">
            <a:spLocks noChangeArrowheads="1"/>
          </p:cNvSpPr>
          <p:nvPr/>
        </p:nvSpPr>
        <p:spPr bwMode="auto">
          <a:xfrm>
            <a:off x="381000" y="52578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119837" name="Text Box 4" descr="note number"/>
          <p:cNvSpPr txBox="1">
            <a:spLocks noChangeArrowheads="1"/>
          </p:cNvSpPr>
          <p:nvPr/>
        </p:nvSpPr>
        <p:spPr bwMode="auto">
          <a:xfrm>
            <a:off x="381000" y="57150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2</a:t>
            </a:r>
          </a:p>
        </p:txBody>
      </p:sp>
      <p:pic>
        <p:nvPicPr>
          <p:cNvPr id="6" name="Picture 5" descr="In the given diagram of an element box, the rectangular box contains a text that reads, this is sample text contained inside an element box. The width of the border is highlighted. The spacing between the border and the text is highlighted as padding. The spacing between the border of the element box and the dashed rectangle surrounding the box is highlighted as the margin."/>
          <p:cNvPicPr>
            <a:picLocks noChangeAspect="1"/>
          </p:cNvPicPr>
          <p:nvPr/>
        </p:nvPicPr>
        <p:blipFill>
          <a:blip r:embed="rId3" cstate="print"/>
          <a:stretch>
            <a:fillRect/>
          </a:stretch>
        </p:blipFill>
        <p:spPr>
          <a:xfrm>
            <a:off x="1524000" y="4267200"/>
            <a:ext cx="2478024" cy="2103120"/>
          </a:xfrm>
          <a:prstGeom prst="rect">
            <a:avLst/>
          </a:prstGeom>
        </p:spPr>
      </p:pic>
      <p:sp>
        <p:nvSpPr>
          <p:cNvPr id="7" name="TextBox 6"/>
          <p:cNvSpPr txBox="1"/>
          <p:nvPr/>
        </p:nvSpPr>
        <p:spPr>
          <a:xfrm>
            <a:off x="4038600" y="6019800"/>
            <a:ext cx="6629400" cy="646331"/>
          </a:xfrm>
          <a:prstGeom prst="rect">
            <a:avLst/>
          </a:prstGeom>
          <a:noFill/>
        </p:spPr>
        <p:txBody>
          <a:bodyPr wrap="square" rtlCol="0">
            <a:spAutoFit/>
          </a:bodyPr>
          <a:lstStyle/>
          <a:p>
            <a:r>
              <a:rPr lang="en-US" b="1" dirty="0">
                <a:latin typeface="Arial" pitchFamily="34" charset="0"/>
                <a:cs typeface="Arial" pitchFamily="34" charset="0"/>
              </a:rPr>
              <a:t>Figure 3.17</a:t>
            </a:r>
            <a:r>
              <a:rPr lang="en-US" dirty="0">
                <a:latin typeface="Arial" pitchFamily="34" charset="0"/>
                <a:cs typeface="Arial" pitchFamily="34" charset="0"/>
              </a:rPr>
              <a:t> An element box’s margin, border, and padding</a:t>
            </a:r>
          </a:p>
          <a:p>
            <a:endParaRPr lang="en-US" dirty="0">
              <a:latin typeface="Arial" pitchFamily="34" charset="0"/>
              <a:cs typeface="Arial"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2"/>
          <p:cNvSpPr>
            <a:spLocks noGrp="1" noChangeArrowheads="1"/>
          </p:cNvSpPr>
          <p:nvPr>
            <p:ph type="title"/>
          </p:nvPr>
        </p:nvSpPr>
        <p:spPr>
          <a:xfrm>
            <a:off x="0" y="121033"/>
            <a:ext cx="12192000" cy="1002089"/>
          </a:xfrm>
        </p:spPr>
        <p:txBody>
          <a:bodyPr/>
          <a:lstStyle/>
          <a:p>
            <a:r>
              <a:rPr lang="en-US" altLang="en-US" dirty="0">
                <a:latin typeface="Courier New" panose="02070309020205020404" pitchFamily="49" charset="0"/>
                <a:cs typeface="Courier New" panose="02070309020205020404" pitchFamily="49" charset="0"/>
              </a:rPr>
              <a:t>padding</a:t>
            </a:r>
            <a:r>
              <a:rPr lang="en-US" altLang="en-US" dirty="0"/>
              <a:t> and </a:t>
            </a:r>
            <a:r>
              <a:rPr lang="en-US" altLang="en-US" dirty="0">
                <a:latin typeface="Courier New" panose="02070309020205020404" pitchFamily="49" charset="0"/>
                <a:cs typeface="Courier New" panose="02070309020205020404" pitchFamily="49" charset="0"/>
              </a:rPr>
              <a:t>margin</a:t>
            </a:r>
            <a:r>
              <a:rPr lang="en-US" altLang="en-US" dirty="0"/>
              <a:t> Properties</a:t>
            </a:r>
          </a:p>
        </p:txBody>
      </p:sp>
      <p:sp>
        <p:nvSpPr>
          <p:cNvPr id="121860" name="Rectangle 3"/>
          <p:cNvSpPr>
            <a:spLocks noGrp="1" noChangeArrowheads="1"/>
          </p:cNvSpPr>
          <p:nvPr>
            <p:ph idx="1"/>
          </p:nvPr>
        </p:nvSpPr>
        <p:spPr>
          <a:xfrm>
            <a:off x="925830" y="1490870"/>
            <a:ext cx="10287000" cy="4699047"/>
          </a:xfrm>
        </p:spPr>
        <p:txBody>
          <a:bodyPr/>
          <a:lstStyle/>
          <a:p>
            <a:r>
              <a:rPr lang="en-US" altLang="en-US" dirty="0"/>
              <a:t>The </a:t>
            </a:r>
            <a:r>
              <a:rPr lang="en-US" altLang="en-US" dirty="0">
                <a:latin typeface="Courier New" panose="02070309020205020404" pitchFamily="49" charset="0"/>
                <a:cs typeface="Courier New" panose="02070309020205020404" pitchFamily="49" charset="0"/>
              </a:rPr>
              <a:t>padding</a:t>
            </a:r>
            <a:r>
              <a:rPr lang="en-US" altLang="en-US" dirty="0"/>
              <a:t> property:</a:t>
            </a:r>
          </a:p>
          <a:p>
            <a:pPr lvl="1"/>
            <a:r>
              <a:rPr lang="en-US" altLang="en-US" dirty="0"/>
              <a:t>Specifies the width of the area inside an element’s border.</a:t>
            </a:r>
          </a:p>
          <a:p>
            <a:pPr lvl="1"/>
            <a:r>
              <a:rPr lang="en-US" altLang="en-US" dirty="0"/>
              <a:t>Usually, the most appropriate value for the </a:t>
            </a:r>
            <a:r>
              <a:rPr lang="en-US" altLang="en-US" dirty="0">
                <a:latin typeface="Courier New" panose="02070309020205020404" pitchFamily="49" charset="0"/>
                <a:cs typeface="Courier New" panose="02070309020205020404" pitchFamily="49" charset="0"/>
              </a:rPr>
              <a:t>padding</a:t>
            </a:r>
            <a:r>
              <a:rPr lang="en-US" altLang="en-US" dirty="0"/>
              <a:t> property is a length value with </a:t>
            </a:r>
            <a:r>
              <a:rPr lang="en-US" altLang="en-US" dirty="0" err="1">
                <a:latin typeface="Courier New" panose="02070309020205020404" pitchFamily="49" charset="0"/>
                <a:cs typeface="Courier New" panose="02070309020205020404" pitchFamily="49" charset="0"/>
              </a:rPr>
              <a:t>px</a:t>
            </a:r>
            <a:r>
              <a:rPr lang="en-US" altLang="en-US" dirty="0"/>
              <a:t> units. For example:</a:t>
            </a:r>
          </a:p>
          <a:p>
            <a:pPr marL="914400" lvl="2" indent="0">
              <a:buNone/>
            </a:pPr>
            <a:r>
              <a:rPr lang="en-US" altLang="en-US" sz="2000" dirty="0">
                <a:latin typeface="Courier New" panose="02070309020205020404" pitchFamily="49" charset="0"/>
                <a:cs typeface="Courier New" panose="02070309020205020404" pitchFamily="49" charset="0"/>
              </a:rPr>
              <a:t>h1 {padding: 5px;}</a:t>
            </a:r>
          </a:p>
          <a:p>
            <a:r>
              <a:rPr lang="en-US" altLang="en-US" dirty="0"/>
              <a:t>The </a:t>
            </a:r>
            <a:r>
              <a:rPr lang="en-US" altLang="en-US" dirty="0">
                <a:latin typeface="Courier New" panose="02070309020205020404" pitchFamily="49" charset="0"/>
                <a:cs typeface="Courier New" panose="02070309020205020404" pitchFamily="49" charset="0"/>
              </a:rPr>
              <a:t>margin</a:t>
            </a:r>
            <a:r>
              <a:rPr lang="en-US" altLang="en-US" dirty="0"/>
              <a:t> property:</a:t>
            </a:r>
          </a:p>
          <a:p>
            <a:pPr lvl="1"/>
            <a:r>
              <a:rPr lang="en-US" altLang="en-US" dirty="0"/>
              <a:t>Specifies the width of the area outside an element’s border.</a:t>
            </a:r>
          </a:p>
          <a:p>
            <a:pPr lvl="1"/>
            <a:r>
              <a:rPr lang="en-US" altLang="en-US" dirty="0"/>
              <a:t>Usually, the most appropriate value for the </a:t>
            </a:r>
            <a:r>
              <a:rPr lang="en-US" altLang="en-US" dirty="0">
                <a:latin typeface="Courier New" panose="02070309020205020404" pitchFamily="49" charset="0"/>
                <a:cs typeface="Courier New" panose="02070309020205020404" pitchFamily="49" charset="0"/>
              </a:rPr>
              <a:t>margin</a:t>
            </a:r>
            <a:r>
              <a:rPr lang="en-US" altLang="en-US" dirty="0"/>
              <a:t> property is a length value with </a:t>
            </a:r>
            <a:r>
              <a:rPr lang="en-US" altLang="en-US" dirty="0" err="1">
                <a:latin typeface="Courier New" panose="02070309020205020404" pitchFamily="49" charset="0"/>
                <a:cs typeface="Courier New" panose="02070309020205020404" pitchFamily="49" charset="0"/>
              </a:rPr>
              <a:t>px</a:t>
            </a:r>
            <a:r>
              <a:rPr lang="en-US" altLang="en-US" dirty="0"/>
              <a:t> units. For example:</a:t>
            </a:r>
          </a:p>
          <a:p>
            <a:pPr marL="914400" lvl="2" indent="0">
              <a:buNone/>
            </a:pPr>
            <a:r>
              <a:rPr lang="en-US" altLang="en-US" sz="2000" dirty="0">
                <a:latin typeface="Courier New" panose="02070309020205020404" pitchFamily="49" charset="0"/>
                <a:cs typeface="Courier New" panose="02070309020205020404" pitchFamily="49" charset="0"/>
              </a:rPr>
              <a:t>p {margin: 10px;}</a:t>
            </a:r>
          </a:p>
        </p:txBody>
      </p:sp>
      <p:sp>
        <p:nvSpPr>
          <p:cNvPr id="121861" name="Text Box 4" descr="note number"/>
          <p:cNvSpPr txBox="1">
            <a:spLocks noChangeArrowheads="1"/>
          </p:cNvSpPr>
          <p:nvPr/>
        </p:nvSpPr>
        <p:spPr bwMode="auto">
          <a:xfrm>
            <a:off x="381000" y="2777838"/>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121862" name="Text Box 5" descr="note number"/>
          <p:cNvSpPr txBox="1">
            <a:spLocks noChangeArrowheads="1"/>
          </p:cNvSpPr>
          <p:nvPr/>
        </p:nvSpPr>
        <p:spPr bwMode="auto">
          <a:xfrm>
            <a:off x="381000" y="3114675"/>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2</a:t>
            </a:r>
          </a:p>
        </p:txBody>
      </p:sp>
      <p:sp>
        <p:nvSpPr>
          <p:cNvPr id="121863" name="Text Box 8" descr="note number"/>
          <p:cNvSpPr txBox="1">
            <a:spLocks noChangeArrowheads="1"/>
          </p:cNvSpPr>
          <p:nvPr/>
        </p:nvSpPr>
        <p:spPr bwMode="auto">
          <a:xfrm>
            <a:off x="381000" y="52578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4</a:t>
            </a:r>
          </a:p>
        </p:txBody>
      </p:sp>
      <p:sp>
        <p:nvSpPr>
          <p:cNvPr id="121864" name="Text Box 5" descr="note number"/>
          <p:cNvSpPr txBox="1">
            <a:spLocks noChangeArrowheads="1"/>
          </p:cNvSpPr>
          <p:nvPr/>
        </p:nvSpPr>
        <p:spPr bwMode="auto">
          <a:xfrm>
            <a:off x="381000" y="4746879"/>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3</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2"/>
          <p:cNvSpPr>
            <a:spLocks noGrp="1" noChangeArrowheads="1"/>
          </p:cNvSpPr>
          <p:nvPr>
            <p:ph type="title"/>
          </p:nvPr>
        </p:nvSpPr>
        <p:spPr>
          <a:xfrm>
            <a:off x="0" y="121033"/>
            <a:ext cx="12192000" cy="1002089"/>
          </a:xfrm>
        </p:spPr>
        <p:txBody>
          <a:bodyPr/>
          <a:lstStyle/>
          <a:p>
            <a:r>
              <a:rPr lang="en-US" altLang="en-US" dirty="0"/>
              <a:t>Using % for a Web Page's Margin</a:t>
            </a:r>
          </a:p>
        </p:txBody>
      </p:sp>
      <p:sp>
        <p:nvSpPr>
          <p:cNvPr id="49156" name="Rectangle 3"/>
          <p:cNvSpPr>
            <a:spLocks noGrp="1" noChangeArrowheads="1"/>
          </p:cNvSpPr>
          <p:nvPr>
            <p:ph idx="1"/>
          </p:nvPr>
        </p:nvSpPr>
        <p:spPr>
          <a:xfrm>
            <a:off x="762000" y="1163627"/>
            <a:ext cx="10287000" cy="4699047"/>
          </a:xfrm>
        </p:spPr>
        <p:txBody>
          <a:bodyPr/>
          <a:lstStyle/>
          <a:p>
            <a:r>
              <a:rPr lang="en-US" dirty="0"/>
              <a:t>Typically, browsers leave a small blank area on the four sides of the window. That's from the body element having a non-zero value for its default margin width.</a:t>
            </a:r>
          </a:p>
          <a:p>
            <a:r>
              <a:rPr lang="en-US" dirty="0"/>
              <a:t>To change the body’s margin from the default, provide a CSS rule for the </a:t>
            </a:r>
            <a:r>
              <a:rPr lang="en-US" dirty="0">
                <a:latin typeface="Courier New" panose="02070309020205020404" pitchFamily="49" charset="0"/>
                <a:cs typeface="Courier New" panose="02070309020205020404" pitchFamily="49" charset="0"/>
              </a:rPr>
              <a:t>body</a:t>
            </a:r>
            <a:r>
              <a:rPr lang="en-US" dirty="0"/>
              <a:t> element’s </a:t>
            </a:r>
            <a:r>
              <a:rPr lang="en-US" dirty="0">
                <a:latin typeface="Courier New" panose="02070309020205020404" pitchFamily="49" charset="0"/>
                <a:cs typeface="Courier New" panose="02070309020205020404" pitchFamily="49" charset="0"/>
              </a:rPr>
              <a:t>margin</a:t>
            </a:r>
            <a:r>
              <a:rPr lang="en-US" dirty="0"/>
              <a:t> property.</a:t>
            </a:r>
          </a:p>
          <a:p>
            <a:r>
              <a:rPr lang="en-US" dirty="0"/>
              <a:t>It’s OK to use a </a:t>
            </a:r>
            <a:r>
              <a:rPr lang="en-US" dirty="0" err="1">
                <a:latin typeface="Courier New" panose="02070309020205020404" pitchFamily="49" charset="0"/>
                <a:cs typeface="Courier New" panose="02070309020205020404" pitchFamily="49" charset="0"/>
              </a:rPr>
              <a:t>px</a:t>
            </a:r>
            <a:r>
              <a:rPr lang="en-US" dirty="0"/>
              <a:t> value, but if you want to have the web page’s margin shrink and grow when the user resizes the browser window by dragging a corner, use a percentage value, like this:</a:t>
            </a:r>
          </a:p>
          <a:p>
            <a:pPr marL="457200" lvl="1" indent="0">
              <a:buNone/>
            </a:pPr>
            <a:r>
              <a:rPr lang="en-US" sz="1800" dirty="0">
                <a:latin typeface="Courier New" panose="02070309020205020404" pitchFamily="49" charset="0"/>
                <a:cs typeface="Courier New" panose="02070309020205020404" pitchFamily="49" charset="0"/>
              </a:rPr>
              <a:t>body {margin: 10%;}</a:t>
            </a:r>
          </a:p>
          <a:p>
            <a:r>
              <a:rPr lang="en-US" dirty="0"/>
              <a:t>The 10% value indicates that the web page’s left and right sides will have margin widths that each span 10% of the web page’s width. Likewise, the web page’s top and bottom sides will have margin heights that each span 10% of the web page’s height. </a:t>
            </a:r>
          </a:p>
        </p:txBody>
      </p:sp>
      <p:sp>
        <p:nvSpPr>
          <p:cNvPr id="123909" name="Text Box 4" descr="note number"/>
          <p:cNvSpPr txBox="1">
            <a:spLocks noChangeArrowheads="1"/>
          </p:cNvSpPr>
          <p:nvPr/>
        </p:nvSpPr>
        <p:spPr bwMode="auto">
          <a:xfrm>
            <a:off x="304800" y="5889277"/>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16EC4-1149-20E9-1435-149B1ABD559D}"/>
              </a:ext>
            </a:extLst>
          </p:cNvPr>
          <p:cNvSpPr>
            <a:spLocks noGrp="1"/>
          </p:cNvSpPr>
          <p:nvPr>
            <p:ph type="title"/>
          </p:nvPr>
        </p:nvSpPr>
        <p:spPr/>
        <p:txBody>
          <a:bodyPr/>
          <a:lstStyle/>
          <a:p>
            <a:r>
              <a:rPr lang="en-US" dirty="0"/>
              <a:t>Chapter 3 Quiz Questions	</a:t>
            </a:r>
          </a:p>
        </p:txBody>
      </p:sp>
      <p:sp>
        <p:nvSpPr>
          <p:cNvPr id="3" name="Content Placeholder 2">
            <a:extLst>
              <a:ext uri="{FF2B5EF4-FFF2-40B4-BE49-F238E27FC236}">
                <a16:creationId xmlns:a16="http://schemas.microsoft.com/office/drawing/2014/main" id="{1DA7D4DC-73A0-7219-1DB4-322F53DC507B}"/>
              </a:ext>
            </a:extLst>
          </p:cNvPr>
          <p:cNvSpPr>
            <a:spLocks noGrp="1"/>
          </p:cNvSpPr>
          <p:nvPr>
            <p:ph idx="1"/>
          </p:nvPr>
        </p:nvSpPr>
        <p:spPr/>
        <p:txBody>
          <a:bodyPr/>
          <a:lstStyle/>
          <a:p>
            <a:pPr marL="457200" indent="-457200">
              <a:buFont typeface="+mj-lt"/>
              <a:buAutoNum type="arabicPeriod"/>
            </a:pPr>
            <a:r>
              <a:rPr lang="en-US" dirty="0"/>
              <a:t>What attribute is used to attach CSS to an element?</a:t>
            </a:r>
          </a:p>
          <a:p>
            <a:pPr marL="914400" lvl="1" indent="-457200">
              <a:buFont typeface="+mj-lt"/>
              <a:buAutoNum type="alphaLcParenR"/>
            </a:pPr>
            <a:r>
              <a:rPr lang="en-US" dirty="0"/>
              <a:t>The </a:t>
            </a:r>
            <a:r>
              <a:rPr lang="en-US" dirty="0" err="1">
                <a:latin typeface="Courier New" panose="02070309020205020404" pitchFamily="49" charset="0"/>
                <a:cs typeface="Courier New" panose="02070309020205020404" pitchFamily="49" charset="0"/>
              </a:rPr>
              <a:t>css</a:t>
            </a:r>
            <a:r>
              <a:rPr lang="en-US" dirty="0"/>
              <a:t> attribute.</a:t>
            </a:r>
          </a:p>
          <a:p>
            <a:pPr marL="914400" lvl="1" indent="-457200">
              <a:buFont typeface="+mj-lt"/>
              <a:buAutoNum type="alphaLcParenR"/>
            </a:pPr>
            <a:r>
              <a:rPr lang="en-US" dirty="0"/>
              <a:t>The </a:t>
            </a:r>
            <a:r>
              <a:rPr lang="en-US" dirty="0">
                <a:latin typeface="Courier New" panose="02070309020205020404" pitchFamily="49" charset="0"/>
                <a:cs typeface="Courier New" panose="02070309020205020404" pitchFamily="49" charset="0"/>
              </a:rPr>
              <a:t>meta</a:t>
            </a:r>
            <a:r>
              <a:rPr lang="en-US" dirty="0"/>
              <a:t> attribute</a:t>
            </a:r>
          </a:p>
          <a:p>
            <a:pPr marL="914400" lvl="1" indent="-457200">
              <a:buFont typeface="+mj-lt"/>
              <a:buAutoNum type="alphaLcParenR"/>
            </a:pPr>
            <a:r>
              <a:rPr lang="en-US" dirty="0"/>
              <a:t>The </a:t>
            </a:r>
            <a:r>
              <a:rPr lang="en-US" dirty="0">
                <a:latin typeface="Courier New" panose="02070309020205020404" pitchFamily="49" charset="0"/>
                <a:cs typeface="Courier New" panose="02070309020205020404" pitchFamily="49" charset="0"/>
              </a:rPr>
              <a:t>class</a:t>
            </a:r>
            <a:r>
              <a:rPr lang="en-US" dirty="0"/>
              <a:t> attribute.</a:t>
            </a:r>
          </a:p>
          <a:p>
            <a:endParaRPr lang="en-US" dirty="0"/>
          </a:p>
          <a:p>
            <a:pPr marL="457200" indent="-457200">
              <a:buFont typeface="+mj-lt"/>
              <a:buAutoNum type="arabicPeriod" startAt="2"/>
            </a:pPr>
            <a:r>
              <a:rPr lang="en-US" dirty="0"/>
              <a:t>What attribute is used to attach CSS to an element?</a:t>
            </a:r>
          </a:p>
          <a:p>
            <a:pPr marL="914400" lvl="1" indent="-457200">
              <a:buFont typeface="+mj-lt"/>
              <a:buAutoNum type="alphaLcParenR"/>
            </a:pPr>
            <a:r>
              <a:rPr lang="en-US" dirty="0"/>
              <a:t>The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css</a:t>
            </a:r>
            <a:r>
              <a:rPr lang="en-US" dirty="0">
                <a:latin typeface="Courier New" panose="02070309020205020404" pitchFamily="49" charset="0"/>
                <a:cs typeface="Courier New" panose="02070309020205020404" pitchFamily="49" charset="0"/>
              </a:rPr>
              <a:t> </a:t>
            </a:r>
            <a:r>
              <a:rPr lang="en-US" dirty="0"/>
              <a:t>attribute.</a:t>
            </a:r>
          </a:p>
          <a:p>
            <a:pPr marL="914400" lvl="1" indent="-457200">
              <a:buFont typeface="+mj-lt"/>
              <a:buAutoNum type="alphaLcParenR"/>
            </a:pPr>
            <a:r>
              <a:rPr lang="en-US" dirty="0"/>
              <a:t>The </a:t>
            </a:r>
            <a:r>
              <a:rPr lang="en-US" dirty="0">
                <a:latin typeface="Courier New" panose="02070309020205020404" pitchFamily="49" charset="0"/>
                <a:cs typeface="Courier New" panose="02070309020205020404" pitchFamily="49" charset="0"/>
              </a:rPr>
              <a:t>meta</a:t>
            </a:r>
            <a:r>
              <a:rPr lang="en-US" dirty="0"/>
              <a:t> attribute</a:t>
            </a:r>
          </a:p>
          <a:p>
            <a:pPr marL="914400" lvl="1" indent="-457200">
              <a:buFont typeface="+mj-lt"/>
              <a:buAutoNum type="alphaLcParenR"/>
            </a:pPr>
            <a:r>
              <a:rPr lang="en-US" dirty="0"/>
              <a:t>The </a:t>
            </a:r>
            <a:r>
              <a:rPr lang="en-US" dirty="0">
                <a:latin typeface="Courier New" panose="02070309020205020404" pitchFamily="49" charset="0"/>
                <a:cs typeface="Courier New" panose="02070309020205020404" pitchFamily="49" charset="0"/>
              </a:rPr>
              <a:t>class</a:t>
            </a:r>
            <a:r>
              <a:rPr lang="en-US" dirty="0"/>
              <a:t> attribute.</a:t>
            </a:r>
          </a:p>
          <a:p>
            <a:endParaRPr lang="en-US" dirty="0"/>
          </a:p>
        </p:txBody>
      </p:sp>
    </p:spTree>
    <p:extLst>
      <p:ext uri="{BB962C8B-B14F-4D97-AF65-F5344CB8AC3E}">
        <p14:creationId xmlns:p14="http://schemas.microsoft.com/office/powerpoint/2010/main" val="6018217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659" name="Rectangle 2"/>
          <p:cNvSpPr>
            <a:spLocks noGrp="1" noChangeArrowheads="1"/>
          </p:cNvSpPr>
          <p:nvPr>
            <p:ph type="title"/>
          </p:nvPr>
        </p:nvSpPr>
        <p:spPr>
          <a:xfrm>
            <a:off x="0" y="121033"/>
            <a:ext cx="12192000" cy="1002089"/>
          </a:xfrm>
        </p:spPr>
        <p:txBody>
          <a:bodyPr/>
          <a:lstStyle/>
          <a:p>
            <a:r>
              <a:rPr lang="en-US" altLang="en-US" dirty="0"/>
              <a:t>Colors (hidden) (1 of 2)</a:t>
            </a:r>
          </a:p>
        </p:txBody>
      </p:sp>
      <p:sp>
        <p:nvSpPr>
          <p:cNvPr id="70660" name="Rectangle 3"/>
          <p:cNvSpPr>
            <a:spLocks noGrp="1" noChangeArrowheads="1"/>
          </p:cNvSpPr>
          <p:nvPr>
            <p:ph idx="1"/>
          </p:nvPr>
        </p:nvSpPr>
        <p:spPr>
          <a:xfrm>
            <a:off x="925830" y="1490870"/>
            <a:ext cx="10287000" cy="4699047"/>
          </a:xfrm>
        </p:spPr>
        <p:txBody>
          <a:bodyPr/>
          <a:lstStyle/>
          <a:p>
            <a:r>
              <a:rPr lang="en-US" altLang="en-US" dirty="0"/>
              <a:t>RGB values are normally implemented with 24 bits. Why?</a:t>
            </a:r>
          </a:p>
          <a:p>
            <a:r>
              <a:rPr lang="en-US" altLang="en-US" dirty="0"/>
              <a:t>RGB values can be used to represent approximately 16 million different colors. Why?</a:t>
            </a:r>
          </a:p>
          <a:p>
            <a:r>
              <a:rPr lang="en-US" altLang="en-US" dirty="0"/>
              <a:t>All monitors sold today are capable of handling colors that use 24 bits (called </a:t>
            </a:r>
            <a:r>
              <a:rPr lang="en-US" altLang="en-US" i="1" dirty="0"/>
              <a:t>true colors</a:t>
            </a:r>
            <a:r>
              <a:rPr lang="en-US" altLang="en-US" dirty="0"/>
              <a:t>), but colors with fewer bits are still used:</a:t>
            </a:r>
          </a:p>
          <a:p>
            <a:pPr lvl="1"/>
            <a:r>
              <a:rPr lang="en-US" altLang="en-US" dirty="0"/>
              <a:t>When a user adjusts his/her screen settings for 16-bit colors.</a:t>
            </a:r>
          </a:p>
          <a:p>
            <a:pPr lvl="1"/>
            <a:r>
              <a:rPr lang="en-US" altLang="en-US" dirty="0"/>
              <a:t>On mobile devices</a:t>
            </a:r>
          </a:p>
          <a:p>
            <a:endParaRPr lang="en-US" altLang="en-US" dirty="0"/>
          </a:p>
        </p:txBody>
      </p:sp>
      <p:sp>
        <p:nvSpPr>
          <p:cNvPr id="70661" name="Text Box 12" descr="note number"/>
          <p:cNvSpPr txBox="1">
            <a:spLocks noChangeArrowheads="1"/>
          </p:cNvSpPr>
          <p:nvPr/>
        </p:nvSpPr>
        <p:spPr bwMode="auto">
          <a:xfrm>
            <a:off x="381000" y="4030846"/>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3</a:t>
            </a:r>
          </a:p>
        </p:txBody>
      </p:sp>
      <p:sp>
        <p:nvSpPr>
          <p:cNvPr id="70662" name="Text Box 12" descr="note number"/>
          <p:cNvSpPr txBox="1">
            <a:spLocks noChangeArrowheads="1"/>
          </p:cNvSpPr>
          <p:nvPr/>
        </p:nvSpPr>
        <p:spPr bwMode="auto">
          <a:xfrm>
            <a:off x="381000" y="16764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1</a:t>
            </a:r>
          </a:p>
        </p:txBody>
      </p:sp>
      <p:sp>
        <p:nvSpPr>
          <p:cNvPr id="70663" name="Text Box 14" descr="note number"/>
          <p:cNvSpPr txBox="1">
            <a:spLocks noChangeArrowheads="1"/>
          </p:cNvSpPr>
          <p:nvPr/>
        </p:nvSpPr>
        <p:spPr bwMode="auto">
          <a:xfrm>
            <a:off x="381000" y="251283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2</a:t>
            </a:r>
          </a:p>
        </p:txBody>
      </p:sp>
      <p:sp>
        <p:nvSpPr>
          <p:cNvPr id="70664" name="Text Box 12" descr="note number"/>
          <p:cNvSpPr txBox="1">
            <a:spLocks noChangeArrowheads="1"/>
          </p:cNvSpPr>
          <p:nvPr/>
        </p:nvSpPr>
        <p:spPr bwMode="auto">
          <a:xfrm>
            <a:off x="381000" y="4419600"/>
            <a:ext cx="266700" cy="30797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4</a:t>
            </a:r>
          </a:p>
        </p:txBody>
      </p:sp>
    </p:spTree>
    <p:extLst>
      <p:ext uri="{BB962C8B-B14F-4D97-AF65-F5344CB8AC3E}">
        <p14:creationId xmlns:p14="http://schemas.microsoft.com/office/powerpoint/2010/main" val="928584963"/>
      </p:ext>
    </p:extLst>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2707" name="Rectangle 2"/>
          <p:cNvSpPr>
            <a:spLocks noGrp="1" noChangeArrowheads="1"/>
          </p:cNvSpPr>
          <p:nvPr>
            <p:ph type="title"/>
          </p:nvPr>
        </p:nvSpPr>
        <p:spPr>
          <a:xfrm>
            <a:off x="0" y="121033"/>
            <a:ext cx="12192000" cy="1002089"/>
          </a:xfrm>
        </p:spPr>
        <p:txBody>
          <a:bodyPr/>
          <a:lstStyle/>
          <a:p>
            <a:r>
              <a:rPr lang="en-US" altLang="en-US" dirty="0"/>
              <a:t>Colors (hidden) (2 of 2)</a:t>
            </a:r>
          </a:p>
        </p:txBody>
      </p:sp>
      <p:sp>
        <p:nvSpPr>
          <p:cNvPr id="72708" name="Rectangle 3"/>
          <p:cNvSpPr>
            <a:spLocks noGrp="1" noChangeArrowheads="1"/>
          </p:cNvSpPr>
          <p:nvPr>
            <p:ph idx="1"/>
          </p:nvPr>
        </p:nvSpPr>
        <p:spPr>
          <a:xfrm>
            <a:off x="925830" y="1490870"/>
            <a:ext cx="10287000" cy="4699047"/>
          </a:xfrm>
        </p:spPr>
        <p:txBody>
          <a:bodyPr/>
          <a:lstStyle/>
          <a:p>
            <a:r>
              <a:rPr lang="en-US" altLang="en-US" dirty="0"/>
              <a:t>What’s the matter with colors represented by 16 (or fewer) bits?</a:t>
            </a:r>
          </a:p>
          <a:p>
            <a:r>
              <a:rPr lang="en-US" altLang="en-US" dirty="0"/>
              <a:t>The human eye can distinguish approximately 10 million different colors, while 16-bit colors can display only 216 = 65,536 different values. Thus, it sometimes becomes necessary for monitors to display an approximate version of a specified 16-bit color:</a:t>
            </a:r>
          </a:p>
          <a:p>
            <a:pPr lvl="1"/>
            <a:r>
              <a:rPr lang="en-US" altLang="en-US" dirty="0"/>
              <a:t>Use the nearest available color,</a:t>
            </a:r>
            <a:r>
              <a:rPr lang="en-US" altLang="en-US" u="sng" dirty="0"/>
              <a:t> or</a:t>
            </a:r>
          </a:p>
          <a:p>
            <a:pPr lvl="1"/>
            <a:r>
              <a:rPr lang="en-US" altLang="en-US" dirty="0"/>
              <a:t>Use </a:t>
            </a:r>
            <a:r>
              <a:rPr lang="en-US" altLang="en-US" i="1" dirty="0"/>
              <a:t>dithering</a:t>
            </a:r>
            <a:r>
              <a:rPr lang="en-US" altLang="en-US" dirty="0"/>
              <a:t>. Display a mixture of available colors that, when put in close proximity, blend to form the desired color:</a:t>
            </a:r>
          </a:p>
        </p:txBody>
      </p:sp>
      <p:sp>
        <p:nvSpPr>
          <p:cNvPr id="72709" name="Text Box 10" descr="note number"/>
          <p:cNvSpPr txBox="1">
            <a:spLocks noChangeArrowheads="1"/>
          </p:cNvSpPr>
          <p:nvPr/>
        </p:nvSpPr>
        <p:spPr bwMode="auto">
          <a:xfrm>
            <a:off x="381000" y="2209800"/>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a:t>1</a:t>
            </a:r>
          </a:p>
        </p:txBody>
      </p:sp>
      <p:sp>
        <p:nvSpPr>
          <p:cNvPr id="72710" name="Text Box 12" descr="note number"/>
          <p:cNvSpPr txBox="1">
            <a:spLocks noChangeArrowheads="1"/>
          </p:cNvSpPr>
          <p:nvPr/>
        </p:nvSpPr>
        <p:spPr bwMode="auto">
          <a:xfrm>
            <a:off x="381000" y="3952876"/>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2</a:t>
            </a:r>
          </a:p>
        </p:txBody>
      </p:sp>
      <p:sp>
        <p:nvSpPr>
          <p:cNvPr id="72711" name="Text Box 13" descr="note number"/>
          <p:cNvSpPr txBox="1">
            <a:spLocks noChangeArrowheads="1"/>
          </p:cNvSpPr>
          <p:nvPr/>
        </p:nvSpPr>
        <p:spPr bwMode="auto">
          <a:xfrm>
            <a:off x="381000" y="4333876"/>
            <a:ext cx="266700" cy="3143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400" dirty="0"/>
              <a:t>3</a:t>
            </a:r>
          </a:p>
        </p:txBody>
      </p:sp>
      <p:pic>
        <p:nvPicPr>
          <p:cNvPr id="72712"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9400" y="4876800"/>
            <a:ext cx="6010275"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6262681"/>
      </p:ext>
    </p:extLst>
  </p:cSld>
  <p:clrMapOvr>
    <a:masterClrMapping/>
  </p:clrMapOvr>
  <p:transition spd="slow"/>
</p:sld>
</file>

<file path=ppt/theme/theme1.xml><?xml version="1.0" encoding="utf-8"?>
<a:theme xmlns:a="http://schemas.openxmlformats.org/drawingml/2006/main" name="Dean 2e Theme">
  <a:themeElements>
    <a:clrScheme name="JBLPSG PPT 1">
      <a:dk1>
        <a:srgbClr val="3C4743"/>
      </a:dk1>
      <a:lt1>
        <a:srgbClr val="E1E1E1"/>
      </a:lt1>
      <a:dk2>
        <a:srgbClr val="000000"/>
      </a:dk2>
      <a:lt2>
        <a:srgbClr val="FFFFFF"/>
      </a:lt2>
      <a:accent1>
        <a:srgbClr val="FFC324"/>
      </a:accent1>
      <a:accent2>
        <a:srgbClr val="F05123"/>
      </a:accent2>
      <a:accent3>
        <a:srgbClr val="418AC9"/>
      </a:accent3>
      <a:accent4>
        <a:srgbClr val="B7B7B7"/>
      </a:accent4>
      <a:accent5>
        <a:srgbClr val="00B18A"/>
      </a:accent5>
      <a:accent6>
        <a:srgbClr val="7BABBF"/>
      </a:accent6>
      <a:hlink>
        <a:srgbClr val="004B91"/>
      </a:hlink>
      <a:folHlink>
        <a:srgbClr val="5C284B"/>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an 2e Theme" id="{C0FC47F3-2625-48C1-A512-2A67081F1626}" vid="{B9D90C57-1E69-430C-99B3-357125D891C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Dean 2e Theme</Template>
  <TotalTime>113163</TotalTime>
  <Words>14344</Words>
  <Application>Microsoft Macintosh PowerPoint</Application>
  <PresentationFormat>Widescreen</PresentationFormat>
  <Paragraphs>1470</Paragraphs>
  <Slides>71</Slides>
  <Notes>70</Notes>
  <HiddenSlides>6</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71</vt:i4>
      </vt:variant>
    </vt:vector>
  </HeadingPairs>
  <TitlesOfParts>
    <vt:vector size="78" baseType="lpstr">
      <vt:lpstr>Arial</vt:lpstr>
      <vt:lpstr>Calibri</vt:lpstr>
      <vt:lpstr>Courier New</vt:lpstr>
      <vt:lpstr>Tahoma</vt:lpstr>
      <vt:lpstr>Times New Roman</vt:lpstr>
      <vt:lpstr>Wingdings</vt:lpstr>
      <vt:lpstr>Dean 2e Theme</vt:lpstr>
      <vt:lpstr>Cascading Style Sheets (CSS)</vt:lpstr>
      <vt:lpstr>Chapter Objectives (1 of 3)</vt:lpstr>
      <vt:lpstr>Chapter Objectives (2 of 3)</vt:lpstr>
      <vt:lpstr>Chapter Objectives (3 of 3)</vt:lpstr>
      <vt:lpstr>CSS Overview (1 of 2)</vt:lpstr>
      <vt:lpstr>CSS Overview (2 of 2)</vt:lpstr>
      <vt:lpstr>CSS Rules (1 of 2)</vt:lpstr>
      <vt:lpstr>CSS Rules (2 of 2)</vt:lpstr>
      <vt:lpstr>Example with Type Selectors and the Universal Selector</vt:lpstr>
      <vt:lpstr>CSS Syntax</vt:lpstr>
      <vt:lpstr>Class Selectors (1 of 2)</vt:lpstr>
      <vt:lpstr>Class Selectors (2 of 2)</vt:lpstr>
      <vt:lpstr>Class Selectors (hidden)</vt:lpstr>
      <vt:lpstr>Class Selectors with Element Type Prefixes (1 of 2)</vt:lpstr>
      <vt:lpstr>Class Selectors with Element Type Prefixes (2 of 2)</vt:lpstr>
      <vt:lpstr>id Selectors</vt:lpstr>
      <vt:lpstr>span and div Elements (1 of 2)</vt:lpstr>
      <vt:lpstr>span and div Elements (2 of 2)</vt:lpstr>
      <vt:lpstr>Cascading (1 of 2)</vt:lpstr>
      <vt:lpstr>Cascading (2 of 2)</vt:lpstr>
      <vt:lpstr>style Attribute</vt:lpstr>
      <vt:lpstr>style Container</vt:lpstr>
      <vt:lpstr>External CSS Files (1 of 3)</vt:lpstr>
      <vt:lpstr>External CSS Files (2 of 3)</vt:lpstr>
      <vt:lpstr>External CSS Files (3 of 3)</vt:lpstr>
      <vt:lpstr>CSS Properties (1 of 2)</vt:lpstr>
      <vt:lpstr>CSS Properties (2 of 2)</vt:lpstr>
      <vt:lpstr>Color Properties</vt:lpstr>
      <vt:lpstr>Color Names</vt:lpstr>
      <vt:lpstr>RGB Values with Percentages</vt:lpstr>
      <vt:lpstr>RGB Values with Integers</vt:lpstr>
      <vt:lpstr>RGB Values with Hexadecimal</vt:lpstr>
      <vt:lpstr>RGBA Values for Color (1 of 2)</vt:lpstr>
      <vt:lpstr>RGBA Values for Color (2 of 2)</vt:lpstr>
      <vt:lpstr>RGBA Example</vt:lpstr>
      <vt:lpstr>HSL Values for Color</vt:lpstr>
      <vt:lpstr>HSLA Values for Color (1 of 2)</vt:lpstr>
      <vt:lpstr>HSLA Values for Color (2 of 2)</vt:lpstr>
      <vt:lpstr>Font Properties</vt:lpstr>
      <vt:lpstr>font-style Property</vt:lpstr>
      <vt:lpstr>font-variant Property</vt:lpstr>
      <vt:lpstr>font-weight Property</vt:lpstr>
      <vt:lpstr>font-size Property (1 of 2)</vt:lpstr>
      <vt:lpstr>font-size Property (2 of 2)</vt:lpstr>
      <vt:lpstr>font-size Property (hidden)</vt:lpstr>
      <vt:lpstr>font-family Property (1 of 4)</vt:lpstr>
      <vt:lpstr>font-family Property (2 of 4)</vt:lpstr>
      <vt:lpstr>font-family Property (3 of 4)</vt:lpstr>
      <vt:lpstr>font-family Property (4 of 4)</vt:lpstr>
      <vt:lpstr>font Shorthand Property (1 of 2)</vt:lpstr>
      <vt:lpstr>font Shorthand Property (2 of 2)</vt:lpstr>
      <vt:lpstr>font Shorthand Property (hidden) (1 of 2)</vt:lpstr>
      <vt:lpstr>font Shorthand Property (hidden) (2 of 2)</vt:lpstr>
      <vt:lpstr>line-height Property (1 of 2)</vt:lpstr>
      <vt:lpstr>line-height Property (2 of 2)</vt:lpstr>
      <vt:lpstr>Text Properties (1 of 3)</vt:lpstr>
      <vt:lpstr>Text Properties (2 of 3)</vt:lpstr>
      <vt:lpstr>Text Properties (3 of 3)</vt:lpstr>
      <vt:lpstr>Border Properties (1 of 2)</vt:lpstr>
      <vt:lpstr>Border Properties (2 of 2)</vt:lpstr>
      <vt:lpstr>Ideal Pixels Vs. Actual Pixels (1 of 2)</vt:lpstr>
      <vt:lpstr>Ideal Pixels Vs. Actual Pixels (2 of 2)</vt:lpstr>
      <vt:lpstr>Border Properties (1 of 3)</vt:lpstr>
      <vt:lpstr>Border Properties (2 of 3)</vt:lpstr>
      <vt:lpstr>Border Properties (3 of 3)</vt:lpstr>
      <vt:lpstr>Element Box</vt:lpstr>
      <vt:lpstr>padding and margin Properties</vt:lpstr>
      <vt:lpstr>Using % for a Web Page's Margin</vt:lpstr>
      <vt:lpstr>Chapter 3 Quiz Questions </vt:lpstr>
      <vt:lpstr>Colors (hidden) (1 of 2)</vt:lpstr>
      <vt:lpstr>Colors (hidden) (2 of 2)</vt:lpstr>
    </vt:vector>
  </TitlesOfParts>
  <Company>IISC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History of Java</dc:title>
  <dc:creator>John Dean</dc:creator>
  <cp:lastModifiedBy>Erin Bosco</cp:lastModifiedBy>
  <cp:revision>1622</cp:revision>
  <cp:lastPrinted>2020-09-07T22:31:05Z</cp:lastPrinted>
  <dcterms:created xsi:type="dcterms:W3CDTF">2000-08-25T22:43:27Z</dcterms:created>
  <dcterms:modified xsi:type="dcterms:W3CDTF">2025-03-31T17:27:12Z</dcterms:modified>
</cp:coreProperties>
</file>